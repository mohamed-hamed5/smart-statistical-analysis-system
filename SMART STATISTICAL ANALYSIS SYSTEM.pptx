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embeddedFontLst>
    <p:embeddedFont>
      <p:font typeface="Inter"/>
      <p:regular r:id="rId201314"/>
      <p:bold r:id="rId3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Relationship Id="rId201314" Target="fonts/201314.fntdata" Type="http://schemas.openxmlformats.org/officeDocument/2006/relationships/font"/><Relationship Id="rId301314" Target="fonts/30131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image" Target="../media/image-5-25.png"/><Relationship Id="rId26" Type="http://schemas.openxmlformats.org/officeDocument/2006/relationships/image" Target="../media/image-5-26.png"/><Relationship Id="rId27" Type="http://schemas.openxmlformats.org/officeDocument/2006/relationships/image" Target="../media/image-5-27.png"/><Relationship Id="rId28" Type="http://schemas.openxmlformats.org/officeDocument/2006/relationships/image" Target="../media/image-5-28.png"/><Relationship Id="rId29" Type="http://schemas.openxmlformats.org/officeDocument/2006/relationships/image" Target="../media/image-5-29.png"/><Relationship Id="rId30" Type="http://schemas.openxmlformats.org/officeDocument/2006/relationships/image" Target="../media/image-5-30.pn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image" Target="../media/image-7-23.png"/><Relationship Id="rId24" Type="http://schemas.openxmlformats.org/officeDocument/2006/relationships/image" Target="../media/image-7-24.png"/><Relationship Id="rId25" Type="http://schemas.openxmlformats.org/officeDocument/2006/relationships/image" Target="../media/image-7-25.png"/><Relationship Id="rId26" Type="http://schemas.openxmlformats.org/officeDocument/2006/relationships/image" Target="../media/image-7-26.png"/><Relationship Id="rId27" Type="http://schemas.openxmlformats.org/officeDocument/2006/relationships/image" Target="../media/image-7-27.png"/><Relationship Id="rId28" Type="http://schemas.openxmlformats.org/officeDocument/2006/relationships/image" Target="../media/image-7-28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image" Target="../media/image-8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pn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png"/><Relationship Id="rId21" Type="http://schemas.openxmlformats.org/officeDocument/2006/relationships/image" Target="../media/image-12-21.png"/><Relationship Id="rId22" Type="http://schemas.openxmlformats.org/officeDocument/2006/relationships/image" Target="../media/image-12-22.png"/><Relationship Id="rId23" Type="http://schemas.openxmlformats.org/officeDocument/2006/relationships/image" Target="../media/image-12-23.png"/><Relationship Id="rId24" Type="http://schemas.openxmlformats.org/officeDocument/2006/relationships/image" Target="../media/image-12-24.png"/><Relationship Id="rId25" Type="http://schemas.openxmlformats.org/officeDocument/2006/relationships/image" Target="../media/image-12-25.png"/><Relationship Id="rId26" Type="http://schemas.openxmlformats.org/officeDocument/2006/relationships/image" Target="../media/image-12-26.png"/><Relationship Id="rId27" Type="http://schemas.openxmlformats.org/officeDocument/2006/relationships/image" Target="../media/image-12-27.png"/><Relationship Id="rId28" Type="http://schemas.openxmlformats.org/officeDocument/2006/relationships/image" Target="../media/image-12-28.png"/><Relationship Id="rId29" Type="http://schemas.openxmlformats.org/officeDocument/2006/relationships/image" Target="../media/image-12-29.png"/><Relationship Id="rId30" Type="http://schemas.openxmlformats.org/officeDocument/2006/relationships/image" Target="../media/image-12-30.pn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png"/><Relationship Id="rId19" Type="http://schemas.openxmlformats.org/officeDocument/2006/relationships/image" Target="../media/image-13-19.png"/><Relationship Id="rId20" Type="http://schemas.openxmlformats.org/officeDocument/2006/relationships/image" Target="../media/image-13-20.png"/><Relationship Id="rId21" Type="http://schemas.openxmlformats.org/officeDocument/2006/relationships/image" Target="../media/image-13-21.png"/><Relationship Id="rId22" Type="http://schemas.openxmlformats.org/officeDocument/2006/relationships/image" Target="../media/image-13-22.png"/><Relationship Id="rId23" Type="http://schemas.openxmlformats.org/officeDocument/2006/relationships/image" Target="../media/image-13-23.png"/><Relationship Id="rId24" Type="http://schemas.openxmlformats.org/officeDocument/2006/relationships/image" Target="../media/image-13-24.png"/><Relationship Id="rId25" Type="http://schemas.openxmlformats.org/officeDocument/2006/relationships/image" Target="../media/image-13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image" Target="../media/image-14-17.png"/><Relationship Id="rId18" Type="http://schemas.openxmlformats.org/officeDocument/2006/relationships/image" Target="../media/image-14-18.png"/><Relationship Id="rId19" Type="http://schemas.openxmlformats.org/officeDocument/2006/relationships/image" Target="../media/image-14-19.png"/><Relationship Id="rId20" Type="http://schemas.openxmlformats.org/officeDocument/2006/relationships/image" Target="../media/image-14-20.png"/><Relationship Id="rId21" Type="http://schemas.openxmlformats.org/officeDocument/2006/relationships/image" Target="../media/image-14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png"/><Relationship Id="rId15" Type="http://schemas.openxmlformats.org/officeDocument/2006/relationships/image" Target="../media/image-15-15.png"/><Relationship Id="rId16" Type="http://schemas.openxmlformats.org/officeDocument/2006/relationships/image" Target="../media/image-15-16.png"/><Relationship Id="rId17" Type="http://schemas.openxmlformats.org/officeDocument/2006/relationships/image" Target="../media/image-15-17.png"/><Relationship Id="rId18" Type="http://schemas.openxmlformats.org/officeDocument/2006/relationships/image" Target="../media/image-15-18.png"/><Relationship Id="rId19" Type="http://schemas.openxmlformats.org/officeDocument/2006/relationships/image" Target="../media/image-15-19.png"/><Relationship Id="rId20" Type="http://schemas.openxmlformats.org/officeDocument/2006/relationships/image" Target="../media/image-15-20.png"/><Relationship Id="rId21" Type="http://schemas.openxmlformats.org/officeDocument/2006/relationships/image" Target="../media/image-15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png"/><Relationship Id="rId15" Type="http://schemas.openxmlformats.org/officeDocument/2006/relationships/image" Target="../media/image-16-15.png"/><Relationship Id="rId16" Type="http://schemas.openxmlformats.org/officeDocument/2006/relationships/image" Target="../media/image-16-16.png"/><Relationship Id="rId17" Type="http://schemas.openxmlformats.org/officeDocument/2006/relationships/image" Target="../media/image-16-17.png"/><Relationship Id="rId18" Type="http://schemas.openxmlformats.org/officeDocument/2006/relationships/image" Target="../media/image-16-18.png"/><Relationship Id="rId19" Type="http://schemas.openxmlformats.org/officeDocument/2006/relationships/image" Target="../media/image-16-19.png"/><Relationship Id="rId20" Type="http://schemas.openxmlformats.org/officeDocument/2006/relationships/image" Target="../media/image-16-20.png"/><Relationship Id="rId21" Type="http://schemas.openxmlformats.org/officeDocument/2006/relationships/image" Target="../media/image-16-21.png"/><Relationship Id="rId22" Type="http://schemas.openxmlformats.org/officeDocument/2006/relationships/image" Target="../media/image-16-22.png"/><Relationship Id="rId23" Type="http://schemas.openxmlformats.org/officeDocument/2006/relationships/image" Target="../media/image-16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png"/><Relationship Id="rId15" Type="http://schemas.openxmlformats.org/officeDocument/2006/relationships/image" Target="../media/image-17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image" Target="../media/image-18-13.png"/><Relationship Id="rId14" Type="http://schemas.openxmlformats.org/officeDocument/2006/relationships/image" Target="../media/image-18-14.png"/><Relationship Id="rId15" Type="http://schemas.openxmlformats.org/officeDocument/2006/relationships/image" Target="../media/image-18-15.png"/><Relationship Id="rId16" Type="http://schemas.openxmlformats.org/officeDocument/2006/relationships/image" Target="../media/image-18-16.png"/><Relationship Id="rId17" Type="http://schemas.openxmlformats.org/officeDocument/2006/relationships/image" Target="../media/image-18-17.png"/><Relationship Id="rId18" Type="http://schemas.openxmlformats.org/officeDocument/2006/relationships/image" Target="../media/image-18-18.png"/><Relationship Id="rId19" Type="http://schemas.openxmlformats.org/officeDocument/2006/relationships/image" Target="../media/image-18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png"/><Relationship Id="rId13" Type="http://schemas.openxmlformats.org/officeDocument/2006/relationships/image" Target="../media/image-19-13.png"/><Relationship Id="rId14" Type="http://schemas.openxmlformats.org/officeDocument/2006/relationships/image" Target="../media/image-19-14.png"/><Relationship Id="rId15" Type="http://schemas.openxmlformats.org/officeDocument/2006/relationships/image" Target="../media/image-19-15.png"/><Relationship Id="rId16" Type="http://schemas.openxmlformats.org/officeDocument/2006/relationships/image" Target="../media/image-19-16.png"/><Relationship Id="rId17" Type="http://schemas.openxmlformats.org/officeDocument/2006/relationships/image" Target="../media/image-19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image" Target="../media/image-21-9.png"/><Relationship Id="rId10" Type="http://schemas.openxmlformats.org/officeDocument/2006/relationships/image" Target="../media/image-21-10.png"/><Relationship Id="rId11" Type="http://schemas.openxmlformats.org/officeDocument/2006/relationships/image" Target="../media/image-21-11.png"/><Relationship Id="rId12" Type="http://schemas.openxmlformats.org/officeDocument/2006/relationships/image" Target="../media/image-21-12.png"/><Relationship Id="rId13" Type="http://schemas.openxmlformats.org/officeDocument/2006/relationships/image" Target="../media/image-21-13.png"/><Relationship Id="rId14" Type="http://schemas.openxmlformats.org/officeDocument/2006/relationships/image" Target="../media/image-21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image" Target="../media/image-22-9.png"/><Relationship Id="rId10" Type="http://schemas.openxmlformats.org/officeDocument/2006/relationships/image" Target="../media/image-22-10.png"/><Relationship Id="rId11" Type="http://schemas.openxmlformats.org/officeDocument/2006/relationships/image" Target="../media/image-22-11.png"/><Relationship Id="rId12" Type="http://schemas.openxmlformats.org/officeDocument/2006/relationships/image" Target="../media/image-22-12.png"/><Relationship Id="rId13" Type="http://schemas.openxmlformats.org/officeDocument/2006/relationships/image" Target="../media/image-22-13.png"/><Relationship Id="rId14" Type="http://schemas.openxmlformats.org/officeDocument/2006/relationships/image" Target="../media/image-22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image" Target="../media/image-23-10.png"/><Relationship Id="rId11" Type="http://schemas.openxmlformats.org/officeDocument/2006/relationships/image" Target="../media/image-23-11.png"/><Relationship Id="rId12" Type="http://schemas.openxmlformats.org/officeDocument/2006/relationships/image" Target="../media/image-23-12.png"/><Relationship Id="rId13" Type="http://schemas.openxmlformats.org/officeDocument/2006/relationships/image" Target="../media/image-23-13.png"/><Relationship Id="rId14" Type="http://schemas.openxmlformats.org/officeDocument/2006/relationships/image" Target="../media/image-23-14.png"/><Relationship Id="rId15" Type="http://schemas.openxmlformats.org/officeDocument/2006/relationships/image" Target="../media/image-23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24-8.png"/><Relationship Id="rId9" Type="http://schemas.openxmlformats.org/officeDocument/2006/relationships/image" Target="../media/image-24-9.png"/><Relationship Id="rId10" Type="http://schemas.openxmlformats.org/officeDocument/2006/relationships/image" Target="../media/image-24-10.png"/><Relationship Id="rId11" Type="http://schemas.openxmlformats.org/officeDocument/2006/relationships/image" Target="../media/image-24-11.png"/><Relationship Id="rId12" Type="http://schemas.openxmlformats.org/officeDocument/2006/relationships/image" Target="../media/image-24-12.png"/><Relationship Id="rId13" Type="http://schemas.openxmlformats.org/officeDocument/2006/relationships/image" Target="../media/image-24-13.png"/><Relationship Id="rId14" Type="http://schemas.openxmlformats.org/officeDocument/2006/relationships/image" Target="../media/image-24-14.png"/><Relationship Id="rId15" Type="http://schemas.openxmlformats.org/officeDocument/2006/relationships/image" Target="../media/image-24-15.png"/><Relationship Id="rId16" Type="http://schemas.openxmlformats.org/officeDocument/2006/relationships/image" Target="../media/image-24-16.png"/><Relationship Id="rId17" Type="http://schemas.openxmlformats.org/officeDocument/2006/relationships/image" Target="../media/image-24-17.png"/><Relationship Id="rId18" Type="http://schemas.openxmlformats.org/officeDocument/2006/relationships/image" Target="../media/image-24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image" Target="../media/image-25-9.png"/><Relationship Id="rId10" Type="http://schemas.openxmlformats.org/officeDocument/2006/relationships/image" Target="../media/image-25-10.png"/><Relationship Id="rId11" Type="http://schemas.openxmlformats.org/officeDocument/2006/relationships/image" Target="../media/image-25-11.png"/><Relationship Id="rId12" Type="http://schemas.openxmlformats.org/officeDocument/2006/relationships/image" Target="../media/image-25-12.png"/><Relationship Id="rId13" Type="http://schemas.openxmlformats.org/officeDocument/2006/relationships/image" Target="../media/image-25-13.png"/><Relationship Id="rId14" Type="http://schemas.openxmlformats.org/officeDocument/2006/relationships/image" Target="../media/image-25-14.png"/><Relationship Id="rId15" Type="http://schemas.openxmlformats.org/officeDocument/2006/relationships/image" Target="../media/image-25-15.png"/><Relationship Id="rId16" Type="http://schemas.openxmlformats.org/officeDocument/2006/relationships/image" Target="../media/image-25-16.png"/><Relationship Id="rId17" Type="http://schemas.openxmlformats.org/officeDocument/2006/relationships/image" Target="../media/image-25-17.png"/><Relationship Id="rId18" Type="http://schemas.openxmlformats.org/officeDocument/2006/relationships/image" Target="../media/image-25-18.png"/><Relationship Id="rId19" Type="http://schemas.openxmlformats.org/officeDocument/2006/relationships/image" Target="../media/image-25-19.png"/><Relationship Id="rId20" Type="http://schemas.openxmlformats.org/officeDocument/2006/relationships/image" Target="../media/image-25-20.png"/><Relationship Id="rId21" Type="http://schemas.openxmlformats.org/officeDocument/2006/relationships/image" Target="../media/image-25-21.png"/><Relationship Id="rId22" Type="http://schemas.openxmlformats.org/officeDocument/2006/relationships/image" Target="../media/image-25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image" Target="../media/image-26-9.png"/><Relationship Id="rId10" Type="http://schemas.openxmlformats.org/officeDocument/2006/relationships/image" Target="../media/image-26-10.png"/><Relationship Id="rId11" Type="http://schemas.openxmlformats.org/officeDocument/2006/relationships/image" Target="../media/image-26-11.png"/><Relationship Id="rId12" Type="http://schemas.openxmlformats.org/officeDocument/2006/relationships/image" Target="../media/image-26-12.png"/><Relationship Id="rId13" Type="http://schemas.openxmlformats.org/officeDocument/2006/relationships/image" Target="../media/image-26-13.png"/><Relationship Id="rId14" Type="http://schemas.openxmlformats.org/officeDocument/2006/relationships/image" Target="../media/image-26-14.png"/><Relationship Id="rId15" Type="http://schemas.openxmlformats.org/officeDocument/2006/relationships/image" Target="../media/image-26-15.png"/><Relationship Id="rId16" Type="http://schemas.openxmlformats.org/officeDocument/2006/relationships/image" Target="../media/image-26-16.png"/><Relationship Id="rId17" Type="http://schemas.openxmlformats.org/officeDocument/2006/relationships/image" Target="../media/image-26-17.png"/><Relationship Id="rId18" Type="http://schemas.openxmlformats.org/officeDocument/2006/relationships/image" Target="../media/image-26-18.png"/><Relationship Id="rId19" Type="http://schemas.openxmlformats.org/officeDocument/2006/relationships/image" Target="../media/image-26-19.png"/><Relationship Id="rId20" Type="http://schemas.openxmlformats.org/officeDocument/2006/relationships/image" Target="../media/image-26-20.png"/><Relationship Id="rId21" Type="http://schemas.openxmlformats.org/officeDocument/2006/relationships/image" Target="../media/image-26-21.png"/><Relationship Id="rId22" Type="http://schemas.openxmlformats.org/officeDocument/2006/relationships/image" Target="../media/image-26-22.png"/><Relationship Id="rId23" Type="http://schemas.openxmlformats.org/officeDocument/2006/relationships/image" Target="../media/image-26-23.png"/><Relationship Id="rId24" Type="http://schemas.openxmlformats.org/officeDocument/2006/relationships/image" Target="../media/image-26-24.png"/><Relationship Id="rId25" Type="http://schemas.openxmlformats.org/officeDocument/2006/relationships/image" Target="../media/image-26-25.png"/><Relationship Id="rId26" Type="http://schemas.openxmlformats.org/officeDocument/2006/relationships/image" Target="../media/image-26-26.png"/><Relationship Id="rId27" Type="http://schemas.openxmlformats.org/officeDocument/2006/relationships/image" Target="../media/image-26-27.png"/><Relationship Id="rId28" Type="http://schemas.openxmlformats.org/officeDocument/2006/relationships/image" Target="../media/image-26-28.png"/><Relationship Id="rId29" Type="http://schemas.openxmlformats.org/officeDocument/2006/relationships/image" Target="../media/image-26-29.png"/><Relationship Id="rId30" Type="http://schemas.openxmlformats.org/officeDocument/2006/relationships/image" Target="../media/image-26-30.png"/><Relationship Id="rId31" Type="http://schemas.openxmlformats.org/officeDocument/2006/relationships/image" Target="../media/image-26-31.png"/><Relationship Id="rId32" Type="http://schemas.openxmlformats.org/officeDocument/2006/relationships/slideLayout" Target="../slideLayouts/slideLayout1.xml"/><Relationship Id="rId3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image" Target="../media/image-27-10.png"/><Relationship Id="rId11" Type="http://schemas.openxmlformats.org/officeDocument/2006/relationships/image" Target="../media/image-27-11.png"/><Relationship Id="rId12" Type="http://schemas.openxmlformats.org/officeDocument/2006/relationships/image" Target="../media/image-27-12.png"/><Relationship Id="rId13" Type="http://schemas.openxmlformats.org/officeDocument/2006/relationships/image" Target="../media/image-27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image" Target="../media/image-28-9.png"/><Relationship Id="rId10" Type="http://schemas.openxmlformats.org/officeDocument/2006/relationships/image" Target="../media/image-28-10.png"/><Relationship Id="rId11" Type="http://schemas.openxmlformats.org/officeDocument/2006/relationships/image" Target="../media/image-28-11.png"/><Relationship Id="rId12" Type="http://schemas.openxmlformats.org/officeDocument/2006/relationships/image" Target="../media/image-28-12.png"/><Relationship Id="rId13" Type="http://schemas.openxmlformats.org/officeDocument/2006/relationships/image" Target="../media/image-28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image" Target="../media/image-29-7.png"/><Relationship Id="rId8" Type="http://schemas.openxmlformats.org/officeDocument/2006/relationships/image" Target="../media/image-29-8.png"/><Relationship Id="rId9" Type="http://schemas.openxmlformats.org/officeDocument/2006/relationships/image" Target="../media/image-29-9.png"/><Relationship Id="rId10" Type="http://schemas.openxmlformats.org/officeDocument/2006/relationships/image" Target="../media/image-29-10.png"/><Relationship Id="rId11" Type="http://schemas.openxmlformats.org/officeDocument/2006/relationships/image" Target="../media/image-29-11.png"/><Relationship Id="rId12" Type="http://schemas.openxmlformats.org/officeDocument/2006/relationships/image" Target="../media/image-29-12.png"/><Relationship Id="rId13" Type="http://schemas.openxmlformats.org/officeDocument/2006/relationships/image" Target="../media/image-29-13.png"/><Relationship Id="rId14" Type="http://schemas.openxmlformats.org/officeDocument/2006/relationships/image" Target="../media/image-29-14.png"/><Relationship Id="rId15" Type="http://schemas.openxmlformats.org/officeDocument/2006/relationships/image" Target="../media/image-29-15.png"/><Relationship Id="rId16" Type="http://schemas.openxmlformats.org/officeDocument/2006/relationships/image" Target="../media/image-29-16.png"/><Relationship Id="rId17" Type="http://schemas.openxmlformats.org/officeDocument/2006/relationships/image" Target="../media/image-29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7.png"/><Relationship Id="rId8" Type="http://schemas.openxmlformats.org/officeDocument/2006/relationships/image" Target="../media/image-30-8.png"/><Relationship Id="rId9" Type="http://schemas.openxmlformats.org/officeDocument/2006/relationships/image" Target="../media/image-30-9.png"/><Relationship Id="rId10" Type="http://schemas.openxmlformats.org/officeDocument/2006/relationships/image" Target="../media/image-30-10.png"/><Relationship Id="rId11" Type="http://schemas.openxmlformats.org/officeDocument/2006/relationships/image" Target="../media/image-30-11.png"/><Relationship Id="rId12" Type="http://schemas.openxmlformats.org/officeDocument/2006/relationships/image" Target="../media/image-30-12.png"/><Relationship Id="rId13" Type="http://schemas.openxmlformats.org/officeDocument/2006/relationships/image" Target="../media/image-30-13.png"/><Relationship Id="rId14" Type="http://schemas.openxmlformats.org/officeDocument/2006/relationships/image" Target="../media/image-30-14.png"/><Relationship Id="rId15" Type="http://schemas.openxmlformats.org/officeDocument/2006/relationships/image" Target="../media/image-30-15.png"/><Relationship Id="rId16" Type="http://schemas.openxmlformats.org/officeDocument/2006/relationships/image" Target="../media/image-30-16.png"/><Relationship Id="rId17" Type="http://schemas.openxmlformats.org/officeDocument/2006/relationships/image" Target="../media/image-30-17.png"/><Relationship Id="rId18" Type="http://schemas.openxmlformats.org/officeDocument/2006/relationships/image" Target="../media/image-30-18.png"/><Relationship Id="rId19" Type="http://schemas.openxmlformats.org/officeDocument/2006/relationships/image" Target="../media/image-30-19.png"/><Relationship Id="rId20" Type="http://schemas.openxmlformats.org/officeDocument/2006/relationships/image" Target="../media/image-30-20.png"/><Relationship Id="rId21" Type="http://schemas.openxmlformats.org/officeDocument/2006/relationships/image" Target="../media/image-30-21.png"/><Relationship Id="rId22" Type="http://schemas.openxmlformats.org/officeDocument/2006/relationships/image" Target="../media/image-30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image" Target="../media/image-31-7.png"/><Relationship Id="rId8" Type="http://schemas.openxmlformats.org/officeDocument/2006/relationships/image" Target="../media/image-31-8.png"/><Relationship Id="rId9" Type="http://schemas.openxmlformats.org/officeDocument/2006/relationships/image" Target="../media/image-31-9.png"/><Relationship Id="rId10" Type="http://schemas.openxmlformats.org/officeDocument/2006/relationships/image" Target="../media/image-31-10.png"/><Relationship Id="rId11" Type="http://schemas.openxmlformats.org/officeDocument/2006/relationships/image" Target="../media/image-31-11.png"/><Relationship Id="rId12" Type="http://schemas.openxmlformats.org/officeDocument/2006/relationships/image" Target="../media/image-31-12.png"/><Relationship Id="rId13" Type="http://schemas.openxmlformats.org/officeDocument/2006/relationships/image" Target="../media/image-31-13.png"/><Relationship Id="rId14" Type="http://schemas.openxmlformats.org/officeDocument/2006/relationships/image" Target="../media/image-31-14.png"/><Relationship Id="rId15" Type="http://schemas.openxmlformats.org/officeDocument/2006/relationships/image" Target="../media/image-31-15.png"/><Relationship Id="rId16" Type="http://schemas.openxmlformats.org/officeDocument/2006/relationships/image" Target="../media/image-31-16.png"/><Relationship Id="rId17" Type="http://schemas.openxmlformats.org/officeDocument/2006/relationships/image" Target="../media/image-31-17.png"/><Relationship Id="rId18" Type="http://schemas.openxmlformats.org/officeDocument/2006/relationships/image" Target="../media/image-31-18.png"/><Relationship Id="rId19" Type="http://schemas.openxmlformats.org/officeDocument/2006/relationships/image" Target="../media/image-31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image" Target="../media/image-32-7.png"/><Relationship Id="rId8" Type="http://schemas.openxmlformats.org/officeDocument/2006/relationships/image" Target="../media/image-32-8.png"/><Relationship Id="rId9" Type="http://schemas.openxmlformats.org/officeDocument/2006/relationships/image" Target="../media/image-32-9.png"/><Relationship Id="rId10" Type="http://schemas.openxmlformats.org/officeDocument/2006/relationships/image" Target="../media/image-32-10.png"/><Relationship Id="rId11" Type="http://schemas.openxmlformats.org/officeDocument/2006/relationships/image" Target="../media/image-32-11.png"/><Relationship Id="rId12" Type="http://schemas.openxmlformats.org/officeDocument/2006/relationships/image" Target="../media/image-32-12.png"/><Relationship Id="rId13" Type="http://schemas.openxmlformats.org/officeDocument/2006/relationships/image" Target="../media/image-32-13.png"/><Relationship Id="rId14" Type="http://schemas.openxmlformats.org/officeDocument/2006/relationships/image" Target="../media/image-32-14.png"/><Relationship Id="rId15" Type="http://schemas.openxmlformats.org/officeDocument/2006/relationships/image" Target="../media/image-32-15.png"/><Relationship Id="rId16" Type="http://schemas.openxmlformats.org/officeDocument/2006/relationships/image" Target="../media/image-32-16.png"/><Relationship Id="rId17" Type="http://schemas.openxmlformats.org/officeDocument/2006/relationships/image" Target="../media/image-32-17.png"/><Relationship Id="rId18" Type="http://schemas.openxmlformats.org/officeDocument/2006/relationships/image" Target="../media/image-32-18.png"/><Relationship Id="rId19" Type="http://schemas.openxmlformats.org/officeDocument/2006/relationships/image" Target="../media/image-32-19.png"/><Relationship Id="rId20" Type="http://schemas.openxmlformats.org/officeDocument/2006/relationships/image" Target="../media/image-32-20.png"/><Relationship Id="rId21" Type="http://schemas.openxmlformats.org/officeDocument/2006/relationships/image" Target="../media/image-32-21.png"/><Relationship Id="rId22" Type="http://schemas.openxmlformats.org/officeDocument/2006/relationships/image" Target="../media/image-32-22.png"/><Relationship Id="rId23" Type="http://schemas.openxmlformats.org/officeDocument/2006/relationships/image" Target="../media/image-32-23.png"/><Relationship Id="rId24" Type="http://schemas.openxmlformats.org/officeDocument/2006/relationships/image" Target="../media/image-32-24.png"/><Relationship Id="rId25" Type="http://schemas.openxmlformats.org/officeDocument/2006/relationships/image" Target="../media/image-32-25.png"/><Relationship Id="rId26" Type="http://schemas.openxmlformats.org/officeDocument/2006/relationships/image" Target="../media/image-32-26.png"/><Relationship Id="rId27" Type="http://schemas.openxmlformats.org/officeDocument/2006/relationships/image" Target="../media/image-32-27.png"/><Relationship Id="rId28" Type="http://schemas.openxmlformats.org/officeDocument/2006/relationships/image" Target="../media/image-32-28.png"/><Relationship Id="rId29" Type="http://schemas.openxmlformats.org/officeDocument/2006/relationships/image" Target="../media/image-32-29.png"/><Relationship Id="rId30" Type="http://schemas.openxmlformats.org/officeDocument/2006/relationships/image" Target="../media/image-32-30.png"/><Relationship Id="rId31" Type="http://schemas.openxmlformats.org/officeDocument/2006/relationships/image" Target="../media/image-32-31.png"/><Relationship Id="rId32" Type="http://schemas.openxmlformats.org/officeDocument/2006/relationships/image" Target="../media/image-32-32.png"/><Relationship Id="rId33" Type="http://schemas.openxmlformats.org/officeDocument/2006/relationships/image" Target="../media/image-32-33.png"/><Relationship Id="rId34" Type="http://schemas.openxmlformats.org/officeDocument/2006/relationships/image" Target="../media/image-32-34.png"/><Relationship Id="rId35" Type="http://schemas.openxmlformats.org/officeDocument/2006/relationships/image" Target="../media/image-32-35.png"/><Relationship Id="rId36" Type="http://schemas.openxmlformats.org/officeDocument/2006/relationships/slideLayout" Target="../slideLayouts/slideLayout1.xml"/><Relationship Id="rId37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image" Target="../media/image-33-7.png"/><Relationship Id="rId8" Type="http://schemas.openxmlformats.org/officeDocument/2006/relationships/image" Target="../media/image-33-8.png"/><Relationship Id="rId9" Type="http://schemas.openxmlformats.org/officeDocument/2006/relationships/image" Target="../media/image-33-9.png"/><Relationship Id="rId10" Type="http://schemas.openxmlformats.org/officeDocument/2006/relationships/image" Target="../media/image-33-10.png"/><Relationship Id="rId11" Type="http://schemas.openxmlformats.org/officeDocument/2006/relationships/image" Target="../media/image-33-11.png"/><Relationship Id="rId12" Type="http://schemas.openxmlformats.org/officeDocument/2006/relationships/image" Target="../media/image-33-12.png"/><Relationship Id="rId13" Type="http://schemas.openxmlformats.org/officeDocument/2006/relationships/image" Target="../media/image-33-13.png"/><Relationship Id="rId14" Type="http://schemas.openxmlformats.org/officeDocument/2006/relationships/image" Target="../media/image-33-14.png"/><Relationship Id="rId15" Type="http://schemas.openxmlformats.org/officeDocument/2006/relationships/image" Target="../media/image-33-15.png"/><Relationship Id="rId16" Type="http://schemas.openxmlformats.org/officeDocument/2006/relationships/image" Target="../media/image-33-16.png"/><Relationship Id="rId17" Type="http://schemas.openxmlformats.org/officeDocument/2006/relationships/image" Target="../media/image-33-17.png"/><Relationship Id="rId18" Type="http://schemas.openxmlformats.org/officeDocument/2006/relationships/image" Target="../media/image-33-18.png"/><Relationship Id="rId19" Type="http://schemas.openxmlformats.org/officeDocument/2006/relationships/image" Target="../media/image-33-19.png"/><Relationship Id="rId20" Type="http://schemas.openxmlformats.org/officeDocument/2006/relationships/image" Target="../media/image-33-20.png"/><Relationship Id="rId21" Type="http://schemas.openxmlformats.org/officeDocument/2006/relationships/image" Target="../media/image-33-21.png"/><Relationship Id="rId22" Type="http://schemas.openxmlformats.org/officeDocument/2006/relationships/image" Target="../media/image-33-22.png"/><Relationship Id="rId23" Type="http://schemas.openxmlformats.org/officeDocument/2006/relationships/image" Target="../media/image-33-23.png"/><Relationship Id="rId24" Type="http://schemas.openxmlformats.org/officeDocument/2006/relationships/image" Target="../media/image-33-24.png"/><Relationship Id="rId25" Type="http://schemas.openxmlformats.org/officeDocument/2006/relationships/image" Target="../media/image-33-25.png"/><Relationship Id="rId26" Type="http://schemas.openxmlformats.org/officeDocument/2006/relationships/image" Target="../media/image-33-26.png"/><Relationship Id="rId27" Type="http://schemas.openxmlformats.org/officeDocument/2006/relationships/image" Target="../media/image-33-27.png"/><Relationship Id="rId28" Type="http://schemas.openxmlformats.org/officeDocument/2006/relationships/slideLayout" Target="../slideLayouts/slideLayout1.xml"/><Relationship Id="rId29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image" Target="../media/image-34-6.png"/><Relationship Id="rId7" Type="http://schemas.openxmlformats.org/officeDocument/2006/relationships/image" Target="../media/image-34-7.png"/><Relationship Id="rId8" Type="http://schemas.openxmlformats.org/officeDocument/2006/relationships/image" Target="../media/image-34-8.png"/><Relationship Id="rId9" Type="http://schemas.openxmlformats.org/officeDocument/2006/relationships/image" Target="../media/image-34-9.png"/><Relationship Id="rId10" Type="http://schemas.openxmlformats.org/officeDocument/2006/relationships/image" Target="../media/image-34-10.png"/><Relationship Id="rId11" Type="http://schemas.openxmlformats.org/officeDocument/2006/relationships/image" Target="../media/image-3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agents-download.skywork.ai/image/ppt/7451626585792356353/5e1f315e3ca33afa52830b2cd0ab8b8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3267075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5038725"/>
            <a:ext cx="9525000" cy="9144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419725"/>
            <a:ext cx="4533900" cy="5334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333500" y="904875"/>
            <a:ext cx="952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spc="360" kern="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SCIENTIFIC COMPUTATION PROJECT</a:t>
            </a:r>
            <a:endParaRPr lang="en-US" sz="1500" dirty="0"/>
          </a:p>
        </p:txBody>
      </p:sp>
      <p:sp>
        <p:nvSpPr>
          <p:cNvPr id="8" name="Text 1"/>
          <p:cNvSpPr/>
          <p:nvPr/>
        </p:nvSpPr>
        <p:spPr>
          <a:xfrm>
            <a:off x="1333500" y="1323975"/>
            <a:ext cx="9525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6750"/>
              </a:lnSpc>
              <a:buNone/>
            </a:pPr>
            <a:r>
              <a:rPr lang="en-US" sz="5400" b="1" spc="-108" kern="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STATISTICAL</a:t>
            </a:r>
            <a:pPr algn="ctr" indent="0" marL="0">
              <a:lnSpc>
                <a:spcPts val="6750"/>
              </a:lnSpc>
              <a:buNone/>
            </a:pPr>
            <a:r>
              <a:rPr lang="en-US" sz="5400" b="1" spc="-108" kern="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ctr" indent="0" marL="0">
              <a:lnSpc>
                <a:spcPts val="6750"/>
              </a:lnSpc>
              <a:buNone/>
            </a:pPr>
            <a:r>
              <a:rPr lang="en-US" sz="5400" b="1" spc="-108" kern="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SYSTEM</a:t>
            </a:r>
            <a:endParaRPr lang="en-US" sz="5400" dirty="0"/>
          </a:p>
        </p:txBody>
      </p:sp>
      <p:sp>
        <p:nvSpPr>
          <p:cNvPr id="9" name="Text 2"/>
          <p:cNvSpPr/>
          <p:nvPr/>
        </p:nvSpPr>
        <p:spPr>
          <a:xfrm>
            <a:off x="2895600" y="3533775"/>
            <a:ext cx="64008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925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Intelligent R-based Shiny Web Application for Automated Data Processing and Decision-Making</a:t>
            </a:r>
            <a:endParaRPr lang="en-US" sz="1800" dirty="0"/>
          </a:p>
        </p:txBody>
      </p:sp>
      <p:sp>
        <p:nvSpPr>
          <p:cNvPr id="10" name="Text 3"/>
          <p:cNvSpPr/>
          <p:nvPr/>
        </p:nvSpPr>
        <p:spPr>
          <a:xfrm>
            <a:off x="1333500" y="5419725"/>
            <a:ext cx="4076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050" b="1" spc="84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11" name="Text 4"/>
          <p:cNvSpPr/>
          <p:nvPr/>
        </p:nvSpPr>
        <p:spPr>
          <a:xfrm>
            <a:off x="3324225" y="5657850"/>
            <a:ext cx="20859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Black Knight</a:t>
            </a:r>
            <a:endParaRPr lang="en-US" sz="1800" dirty="0"/>
          </a:p>
        </p:txBody>
      </p:sp>
      <p:sp>
        <p:nvSpPr>
          <p:cNvPr id="12" name="Text 5"/>
          <p:cNvSpPr/>
          <p:nvPr/>
        </p:nvSpPr>
        <p:spPr>
          <a:xfrm>
            <a:off x="6477000" y="5419725"/>
            <a:ext cx="438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spc="84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SUPERVISED BY</a:t>
            </a:r>
            <a:endParaRPr lang="en-US" sz="1050" dirty="0"/>
          </a:p>
        </p:txBody>
      </p:sp>
      <p:sp>
        <p:nvSpPr>
          <p:cNvPr id="13" name="Text 6"/>
          <p:cNvSpPr/>
          <p:nvPr/>
        </p:nvSpPr>
        <p:spPr>
          <a:xfrm>
            <a:off x="6477000" y="5657850"/>
            <a:ext cx="4114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Dr. Gamal Mousa</a:t>
            </a:r>
            <a:endParaRPr lang="en-US" sz="1800" dirty="0"/>
          </a:p>
        </p:txBody>
      </p:sp>
      <p:sp>
        <p:nvSpPr>
          <p:cNvPr id="14" name="Text 7"/>
          <p:cNvSpPr/>
          <p:nvPr/>
        </p:nvSpPr>
        <p:spPr>
          <a:xfrm>
            <a:off x="0" y="6286500"/>
            <a:ext cx="1219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spc="84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UNIVERSITY PRESENTATION • APRIL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64" y="1782165"/>
            <a:ext cx="10984871" cy="178923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347" y="2173068"/>
            <a:ext cx="231524" cy="23812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64" y="3993899"/>
            <a:ext cx="5371723" cy="1720158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990" y="4235324"/>
            <a:ext cx="226337" cy="226336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990" y="4606068"/>
            <a:ext cx="173525" cy="16385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4990" y="4938029"/>
            <a:ext cx="173525" cy="163858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4990" y="5269989"/>
            <a:ext cx="173525" cy="163858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6713" y="3993899"/>
            <a:ext cx="5371723" cy="1720158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3564" y="6013010"/>
            <a:ext cx="10984871" cy="392317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603564" y="452673"/>
            <a:ext cx="10984871" cy="15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88"/>
              </a:lnSpc>
              <a:buNone/>
            </a:pPr>
            <a:r>
              <a:rPr lang="en-US" sz="1050" b="1" spc="265" kern="0" dirty="0">
                <a:solidFill>
                  <a:srgbClr val="D84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DISCLAIMER</a:t>
            </a:r>
            <a:endParaRPr lang="en-US" sz="1050" dirty="0"/>
          </a:p>
        </p:txBody>
      </p:sp>
      <p:sp>
        <p:nvSpPr>
          <p:cNvPr id="14" name="Text 1"/>
          <p:cNvSpPr/>
          <p:nvPr/>
        </p:nvSpPr>
        <p:spPr>
          <a:xfrm>
            <a:off x="603564" y="663921"/>
            <a:ext cx="10984871" cy="4571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IMPORTANT NOTE</a:t>
            </a:r>
            <a:endParaRPr lang="en-US" sz="3600" dirty="0"/>
          </a:p>
        </p:txBody>
      </p:sp>
      <p:sp>
        <p:nvSpPr>
          <p:cNvPr id="15" name="Text 2"/>
          <p:cNvSpPr/>
          <p:nvPr/>
        </p:nvSpPr>
        <p:spPr>
          <a:xfrm>
            <a:off x="1317939" y="2083947"/>
            <a:ext cx="9968714" cy="82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094"/>
              </a:lnSpc>
              <a:buNone/>
            </a:pPr>
            <a:r>
              <a:rPr lang="en-US" sz="22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utilizes a custom </a:t>
            </a:r>
            <a:pPr indent="0" marL="0">
              <a:lnSpc>
                <a:spcPts val="3094"/>
              </a:lnSpc>
              <a:buNone/>
            </a:pPr>
            <a:r>
              <a:rPr lang="en-US" sz="2250" b="1" dirty="0">
                <a:solidFill>
                  <a:srgbClr val="D84315"/>
                </a:solidFill>
              </a:rPr>
              <a:t>styles.css</a:t>
            </a:r>
            <a:pPr indent="0" marL="0">
              <a:lnSpc>
                <a:spcPts val="3094"/>
              </a:lnSpc>
              <a:buNone/>
            </a:pPr>
            <a:r>
              <a:rPr lang="en-US" sz="22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file to handle the application's visual interface and modern layout.</a:t>
            </a:r>
            <a:endParaRPr lang="en-US" sz="2250" dirty="0"/>
          </a:p>
        </p:txBody>
      </p:sp>
      <p:sp>
        <p:nvSpPr>
          <p:cNvPr id="16" name="Text 3"/>
          <p:cNvSpPr/>
          <p:nvPr/>
        </p:nvSpPr>
        <p:spPr>
          <a:xfrm>
            <a:off x="1317939" y="3028196"/>
            <a:ext cx="10874061" cy="24142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01"/>
              </a:lnSpc>
              <a:buNone/>
            </a:pPr>
            <a:r>
              <a:rPr lang="en-US" sz="18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However, the underlying CSS code will </a:t>
            </a:r>
            <a:pPr indent="0" marL="0">
              <a:lnSpc>
                <a:spcPts val="1901"/>
              </a:lnSpc>
              <a:buNone/>
            </a:pPr>
            <a:r>
              <a:rPr lang="en-US" sz="1800" b="1" i="1" u="sng" dirty="0">
                <a:solidFill>
                  <a:srgbClr val="D84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</a:t>
            </a:r>
            <a:pPr indent="0" marL="0">
              <a:lnSpc>
                <a:spcPts val="1901"/>
              </a:lnSpc>
              <a:buNone/>
            </a:pPr>
            <a:r>
              <a:rPr lang="en-US" sz="18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 explained or analyzed in this presentation.</a:t>
            </a:r>
            <a:endParaRPr lang="en-US" sz="1800" dirty="0"/>
          </a:p>
        </p:txBody>
      </p:sp>
      <p:sp>
        <p:nvSpPr>
          <p:cNvPr id="17" name="Text 4"/>
          <p:cNvSpPr/>
          <p:nvPr/>
        </p:nvSpPr>
        <p:spPr>
          <a:xfrm>
            <a:off x="1192040" y="4242869"/>
            <a:ext cx="5194935" cy="21124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63"/>
              </a:lnSpc>
              <a:buNone/>
            </a:pPr>
            <a:r>
              <a:rPr lang="en-US" sz="1500" b="1" spc="76" kern="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PRESENTATION FOCUS</a:t>
            </a:r>
            <a:endParaRPr lang="en-US" sz="1500" dirty="0"/>
          </a:p>
        </p:txBody>
      </p:sp>
      <p:sp>
        <p:nvSpPr>
          <p:cNvPr id="18" name="Text 5"/>
          <p:cNvSpPr/>
          <p:nvPr/>
        </p:nvSpPr>
        <p:spPr>
          <a:xfrm>
            <a:off x="1109050" y="4582374"/>
            <a:ext cx="7532656" cy="21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63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R Code &amp; Shiny Logic</a:t>
            </a:r>
            <a:endParaRPr lang="en-US" sz="1350" dirty="0"/>
          </a:p>
        </p:txBody>
      </p:sp>
      <p:sp>
        <p:nvSpPr>
          <p:cNvPr id="19" name="Text 6"/>
          <p:cNvSpPr/>
          <p:nvPr/>
        </p:nvSpPr>
        <p:spPr>
          <a:xfrm>
            <a:off x="1109050" y="4914334"/>
            <a:ext cx="7792402" cy="21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63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Statistical Methodologies</a:t>
            </a:r>
            <a:endParaRPr lang="en-US" sz="1350" dirty="0"/>
          </a:p>
        </p:txBody>
      </p:sp>
      <p:sp>
        <p:nvSpPr>
          <p:cNvPr id="20" name="Text 7"/>
          <p:cNvSpPr/>
          <p:nvPr/>
        </p:nvSpPr>
        <p:spPr>
          <a:xfrm>
            <a:off x="1109050" y="5246294"/>
            <a:ext cx="9091136" cy="21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63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Intelligence &amp; Functionality</a:t>
            </a:r>
            <a:endParaRPr lang="en-US" sz="1350" dirty="0"/>
          </a:p>
        </p:txBody>
      </p:sp>
      <p:sp>
        <p:nvSpPr>
          <p:cNvPr id="21" name="Text 8"/>
          <p:cNvSpPr/>
          <p:nvPr/>
        </p:nvSpPr>
        <p:spPr>
          <a:xfrm>
            <a:off x="6865544" y="4250413"/>
            <a:ext cx="5326456" cy="21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63"/>
              </a:lnSpc>
              <a:buNone/>
            </a:pPr>
            <a:r>
              <a:rPr lang="en-US" sz="1500" b="1" spc="76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EXCLUDED FROM SCOPE</a:t>
            </a:r>
            <a:endParaRPr lang="en-US" sz="1500" dirty="0"/>
          </a:p>
        </p:txBody>
      </p:sp>
      <p:sp>
        <p:nvSpPr>
          <p:cNvPr id="22" name="Text 9"/>
          <p:cNvSpPr/>
          <p:nvPr/>
        </p:nvSpPr>
        <p:spPr>
          <a:xfrm>
            <a:off x="6722198" y="4597463"/>
            <a:ext cx="5469802" cy="21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63"/>
              </a:lnSpc>
              <a:buNone/>
            </a:pPr>
            <a:r>
              <a:rPr lang="en-US" sz="1350" strike="sngStrike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CSS Styling &amp; Visual Design Code</a:t>
            </a:r>
            <a:endParaRPr lang="en-US" sz="1350" dirty="0"/>
          </a:p>
        </p:txBody>
      </p:sp>
      <p:sp>
        <p:nvSpPr>
          <p:cNvPr id="23" name="Text 10"/>
          <p:cNvSpPr/>
          <p:nvPr/>
        </p:nvSpPr>
        <p:spPr>
          <a:xfrm>
            <a:off x="6722198" y="4929424"/>
            <a:ext cx="5469802" cy="21124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63"/>
              </a:lnSpc>
              <a:buNone/>
            </a:pPr>
            <a:r>
              <a:rPr lang="en-US" sz="1350" strike="sngStrike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Front-end Layout Formatting</a:t>
            </a:r>
            <a:endParaRPr lang="en-US" sz="1350" dirty="0"/>
          </a:p>
        </p:txBody>
      </p:sp>
      <p:sp>
        <p:nvSpPr>
          <p:cNvPr id="24" name="Text 11"/>
          <p:cNvSpPr/>
          <p:nvPr/>
        </p:nvSpPr>
        <p:spPr>
          <a:xfrm>
            <a:off x="6722198" y="5261384"/>
            <a:ext cx="5469802" cy="21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63"/>
              </a:lnSpc>
              <a:buNone/>
            </a:pPr>
            <a:r>
              <a:rPr lang="en-US" sz="1350" strike="sngStrike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UI/UX Styling Implementation</a:t>
            </a:r>
            <a:endParaRPr lang="en-US" sz="1350" dirty="0"/>
          </a:p>
        </p:txBody>
      </p:sp>
      <p:sp>
        <p:nvSpPr>
          <p:cNvPr id="25" name="Text 12"/>
          <p:cNvSpPr/>
          <p:nvPr/>
        </p:nvSpPr>
        <p:spPr>
          <a:xfrm>
            <a:off x="603564" y="6254436"/>
            <a:ext cx="6666833" cy="15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88"/>
              </a:lnSpc>
              <a:buNone/>
            </a:pPr>
            <a:r>
              <a:rPr lang="en-US" sz="1050" spc="106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STATISTICAL ANALYSIS SYSTEM</a:t>
            </a:r>
            <a:endParaRPr lang="en-US" sz="1050" dirty="0"/>
          </a:p>
        </p:txBody>
      </p:sp>
      <p:sp>
        <p:nvSpPr>
          <p:cNvPr id="26" name="Text 13"/>
          <p:cNvSpPr/>
          <p:nvPr/>
        </p:nvSpPr>
        <p:spPr>
          <a:xfrm>
            <a:off x="8887485" y="6254436"/>
            <a:ext cx="3304515" cy="15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88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Black Knight | Scientific Computation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4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81" y="1219977"/>
            <a:ext cx="586781" cy="44009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81" y="1557376"/>
            <a:ext cx="3516329" cy="307085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493" y="1792088"/>
            <a:ext cx="410746" cy="410746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517" y="1878386"/>
            <a:ext cx="168699" cy="2381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7822" y="1557376"/>
            <a:ext cx="3516330" cy="3070857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535" y="1792088"/>
            <a:ext cx="410747" cy="410746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4219" y="1878844"/>
            <a:ext cx="227378" cy="237234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88864" y="1557376"/>
            <a:ext cx="3516329" cy="3070857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23576" y="1792088"/>
            <a:ext cx="410746" cy="410746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29930" y="1878615"/>
            <a:ext cx="198038" cy="237578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6781" y="4921623"/>
            <a:ext cx="11018412" cy="968188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1493" y="5391048"/>
            <a:ext cx="1364265" cy="264051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03114" y="5391048"/>
            <a:ext cx="1452282" cy="264051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72753" y="5391048"/>
            <a:ext cx="1320256" cy="264051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72021" y="5391048"/>
            <a:ext cx="1217570" cy="264051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06947" y="5391048"/>
            <a:ext cx="1598977" cy="264051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23281" y="5391048"/>
            <a:ext cx="1202901" cy="264051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86781" y="6124524"/>
            <a:ext cx="11018412" cy="29339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586781" y="440086"/>
            <a:ext cx="11018412" cy="1466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1050" b="1" spc="218" kern="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01. INTRODUCTION</a:t>
            </a:r>
            <a:endParaRPr lang="en-US" sz="1050" dirty="0"/>
          </a:p>
        </p:txBody>
      </p:sp>
      <p:sp>
        <p:nvSpPr>
          <p:cNvPr id="22" name="Text 1"/>
          <p:cNvSpPr/>
          <p:nvPr/>
        </p:nvSpPr>
        <p:spPr>
          <a:xfrm>
            <a:off x="586781" y="645459"/>
            <a:ext cx="11605219" cy="45716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Introduction</a:t>
            </a:r>
            <a:endParaRPr lang="en-US" sz="3600" dirty="0"/>
          </a:p>
        </p:txBody>
      </p:sp>
      <p:sp>
        <p:nvSpPr>
          <p:cNvPr id="23" name="Text 2"/>
          <p:cNvSpPr/>
          <p:nvPr/>
        </p:nvSpPr>
        <p:spPr>
          <a:xfrm>
            <a:off x="821493" y="2378869"/>
            <a:ext cx="4274825" cy="23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48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Idea</a:t>
            </a:r>
            <a:endParaRPr lang="en-US" sz="1800" dirty="0"/>
          </a:p>
        </p:txBody>
      </p:sp>
      <p:sp>
        <p:nvSpPr>
          <p:cNvPr id="24" name="Text 3"/>
          <p:cNvSpPr/>
          <p:nvPr/>
        </p:nvSpPr>
        <p:spPr>
          <a:xfrm>
            <a:off x="821493" y="2730937"/>
            <a:ext cx="3046905" cy="13930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interactive web application built with </a:t>
            </a:r>
            <a:pPr indent="0" marL="0">
              <a:lnSpc>
                <a:spcPts val="2194"/>
              </a:lnSpc>
              <a:buNone/>
            </a:pPr>
            <a:r>
              <a:rPr lang="en-US" sz="135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 Shiny</a:t>
            </a:r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It enables users to input data and receive instant, comprehensive statistical analysis — automatically and visually.</a:t>
            </a:r>
            <a:endParaRPr lang="en-US" sz="1350" dirty="0"/>
          </a:p>
        </p:txBody>
      </p:sp>
      <p:sp>
        <p:nvSpPr>
          <p:cNvPr id="25" name="Text 4"/>
          <p:cNvSpPr/>
          <p:nvPr/>
        </p:nvSpPr>
        <p:spPr>
          <a:xfrm>
            <a:off x="4572535" y="2378869"/>
            <a:ext cx="4274825" cy="23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48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Purpose</a:t>
            </a:r>
            <a:endParaRPr lang="en-US" sz="1800" dirty="0"/>
          </a:p>
        </p:txBody>
      </p:sp>
      <p:sp>
        <p:nvSpPr>
          <p:cNvPr id="26" name="Text 5"/>
          <p:cNvSpPr/>
          <p:nvPr/>
        </p:nvSpPr>
        <p:spPr>
          <a:xfrm>
            <a:off x="4572535" y="2730937"/>
            <a:ext cx="3046905" cy="13930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provide a </a:t>
            </a:r>
            <a:pPr indent="0" marL="0">
              <a:lnSpc>
                <a:spcPts val="2194"/>
              </a:lnSpc>
              <a:buNone/>
            </a:pPr>
            <a:r>
              <a:rPr lang="en-US" sz="135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user-friendly platform</a:t>
            </a:r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bridges the gap between raw data and insights without requiring expertise in programming or statistics.</a:t>
            </a:r>
            <a:endParaRPr lang="en-US" sz="1350" dirty="0"/>
          </a:p>
        </p:txBody>
      </p:sp>
      <p:sp>
        <p:nvSpPr>
          <p:cNvPr id="27" name="Text 6"/>
          <p:cNvSpPr/>
          <p:nvPr/>
        </p:nvSpPr>
        <p:spPr>
          <a:xfrm>
            <a:off x="8323576" y="2378869"/>
            <a:ext cx="3868424" cy="23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48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Problems Solved</a:t>
            </a:r>
            <a:endParaRPr lang="en-US" sz="1800" dirty="0"/>
          </a:p>
        </p:txBody>
      </p:sp>
      <p:sp>
        <p:nvSpPr>
          <p:cNvPr id="28" name="Text 7"/>
          <p:cNvSpPr/>
          <p:nvPr/>
        </p:nvSpPr>
        <p:spPr>
          <a:xfrm>
            <a:off x="8323576" y="2730937"/>
            <a:ext cx="3046905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Automates the manual identification of data types, selection of appropriate measures, and complex coding for visualizations.</a:t>
            </a:r>
            <a:endParaRPr lang="en-US" sz="1350" dirty="0"/>
          </a:p>
        </p:txBody>
      </p:sp>
      <p:sp>
        <p:nvSpPr>
          <p:cNvPr id="29" name="Text 8"/>
          <p:cNvSpPr/>
          <p:nvPr/>
        </p:nvSpPr>
        <p:spPr>
          <a:xfrm>
            <a:off x="821493" y="5156336"/>
            <a:ext cx="5098460" cy="11735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24"/>
              </a:lnSpc>
              <a:buNone/>
            </a:pPr>
            <a:r>
              <a:rPr lang="en-US" sz="900" b="1" spc="93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APPROACH</a:t>
            </a:r>
            <a:endParaRPr lang="en-US" sz="900" dirty="0"/>
          </a:p>
        </p:txBody>
      </p:sp>
      <p:sp>
        <p:nvSpPr>
          <p:cNvPr id="30" name="Text 9"/>
          <p:cNvSpPr/>
          <p:nvPr/>
        </p:nvSpPr>
        <p:spPr>
          <a:xfrm>
            <a:off x="938849" y="5391048"/>
            <a:ext cx="2582036" cy="26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105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Detection</a:t>
            </a:r>
            <a:endParaRPr lang="en-US" sz="1050" dirty="0"/>
          </a:p>
        </p:txBody>
      </p:sp>
      <p:sp>
        <p:nvSpPr>
          <p:cNvPr id="31" name="Text 10"/>
          <p:cNvSpPr/>
          <p:nvPr/>
        </p:nvSpPr>
        <p:spPr>
          <a:xfrm>
            <a:off x="2420470" y="5391048"/>
            <a:ext cx="2955438" cy="26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105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Expertise Required</a:t>
            </a:r>
            <a:endParaRPr lang="en-US" sz="1050" dirty="0"/>
          </a:p>
        </p:txBody>
      </p:sp>
      <p:sp>
        <p:nvSpPr>
          <p:cNvPr id="32" name="Text 11"/>
          <p:cNvSpPr/>
          <p:nvPr/>
        </p:nvSpPr>
        <p:spPr>
          <a:xfrm>
            <a:off x="3990109" y="5391048"/>
            <a:ext cx="2237616" cy="26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105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Consuming</a:t>
            </a:r>
            <a:endParaRPr lang="en-US" sz="1050" dirty="0"/>
          </a:p>
        </p:txBody>
      </p:sp>
      <p:sp>
        <p:nvSpPr>
          <p:cNvPr id="33" name="Text 12"/>
          <p:cNvSpPr/>
          <p:nvPr/>
        </p:nvSpPr>
        <p:spPr>
          <a:xfrm>
            <a:off x="6272021" y="5156336"/>
            <a:ext cx="5098460" cy="11735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24"/>
              </a:lnSpc>
              <a:buNone/>
            </a:pPr>
            <a:r>
              <a:rPr lang="en-US" sz="900" b="1" spc="93" kern="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ANALYSIS SYSTEM</a:t>
            </a:r>
            <a:endParaRPr lang="en-US" sz="900" dirty="0"/>
          </a:p>
        </p:txBody>
      </p:sp>
      <p:sp>
        <p:nvSpPr>
          <p:cNvPr id="34" name="Text 13"/>
          <p:cNvSpPr/>
          <p:nvPr/>
        </p:nvSpPr>
        <p:spPr>
          <a:xfrm>
            <a:off x="6389377" y="5391048"/>
            <a:ext cx="2180971" cy="26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105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Auto-Detection</a:t>
            </a:r>
            <a:endParaRPr lang="en-US" sz="1050" dirty="0"/>
          </a:p>
        </p:txBody>
      </p:sp>
      <p:sp>
        <p:nvSpPr>
          <p:cNvPr id="35" name="Text 14"/>
          <p:cNvSpPr/>
          <p:nvPr/>
        </p:nvSpPr>
        <p:spPr>
          <a:xfrm>
            <a:off x="7724304" y="5391048"/>
            <a:ext cx="3363845" cy="26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105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Decision Logic</a:t>
            </a:r>
            <a:endParaRPr lang="en-US" sz="1050" dirty="0"/>
          </a:p>
        </p:txBody>
      </p:sp>
      <p:sp>
        <p:nvSpPr>
          <p:cNvPr id="36" name="Text 15"/>
          <p:cNvSpPr/>
          <p:nvPr/>
        </p:nvSpPr>
        <p:spPr>
          <a:xfrm>
            <a:off x="9440637" y="5391048"/>
            <a:ext cx="2327239" cy="26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105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Reports</a:t>
            </a:r>
            <a:endParaRPr lang="en-US" sz="1050" dirty="0"/>
          </a:p>
        </p:txBody>
      </p:sp>
      <p:sp>
        <p:nvSpPr>
          <p:cNvPr id="37" name="Text 16"/>
          <p:cNvSpPr/>
          <p:nvPr/>
        </p:nvSpPr>
        <p:spPr>
          <a:xfrm>
            <a:off x="586781" y="6300558"/>
            <a:ext cx="5877865" cy="11735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24"/>
              </a:lnSpc>
              <a:buNone/>
            </a:pPr>
            <a:r>
              <a:rPr lang="en-US" sz="900" b="1" spc="93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STATISTICAL ANALYSIS SYSTEM</a:t>
            </a:r>
            <a:endParaRPr lang="en-US" sz="900" dirty="0"/>
          </a:p>
        </p:txBody>
      </p:sp>
      <p:sp>
        <p:nvSpPr>
          <p:cNvPr id="38" name="Text 17"/>
          <p:cNvSpPr/>
          <p:nvPr/>
        </p:nvSpPr>
        <p:spPr>
          <a:xfrm>
            <a:off x="9280075" y="6300558"/>
            <a:ext cx="2911925" cy="11735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24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Black Knight | Scientific Computation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81200"/>
            <a:ext cx="1885950" cy="3429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2076450"/>
            <a:ext cx="190500" cy="1524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9850" y="1981200"/>
            <a:ext cx="2019300" cy="3429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2250" y="2076450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1550" y="1981200"/>
            <a:ext cx="2343150" cy="3429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3950" y="2076450"/>
            <a:ext cx="171450" cy="152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2705100"/>
            <a:ext cx="3530650" cy="30480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11600" y="3009900"/>
            <a:ext cx="285750" cy="2857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6300" y="4038600"/>
            <a:ext cx="171450" cy="1524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6300" y="4648200"/>
            <a:ext cx="114300" cy="1524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30750" y="2705100"/>
            <a:ext cx="3530650" cy="30480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94649" y="3009900"/>
            <a:ext cx="361950" cy="2857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35550" y="40386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35550" y="4876800"/>
            <a:ext cx="114300" cy="1524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89999" y="2705100"/>
            <a:ext cx="3530650" cy="30480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94799" y="4038600"/>
            <a:ext cx="114300" cy="1524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94799" y="46482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6057900"/>
            <a:ext cx="11049000" cy="4191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571500" y="381000"/>
            <a:ext cx="1104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spc="210" kern="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22" name="Text 1"/>
          <p:cNvSpPr/>
          <p:nvPr/>
        </p:nvSpPr>
        <p:spPr>
          <a:xfrm>
            <a:off x="571500" y="609600"/>
            <a:ext cx="1104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OVERVIEW</a:t>
            </a:r>
            <a:endParaRPr lang="en-US" sz="2700" dirty="0"/>
          </a:p>
        </p:txBody>
      </p:sp>
      <p:sp>
        <p:nvSpPr>
          <p:cNvPr id="23" name="Text 2"/>
          <p:cNvSpPr/>
          <p:nvPr/>
        </p:nvSpPr>
        <p:spPr>
          <a:xfrm>
            <a:off x="571500" y="1143000"/>
            <a:ext cx="7315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complete statistical analysis platform that automates the transition from raw data to expert-level insights through an intelligent Input-Processing-Output pipeline.</a:t>
            </a:r>
            <a:endParaRPr lang="en-US" sz="1350" dirty="0"/>
          </a:p>
        </p:txBody>
      </p:sp>
      <p:sp>
        <p:nvSpPr>
          <p:cNvPr id="24" name="Text 3"/>
          <p:cNvSpPr/>
          <p:nvPr/>
        </p:nvSpPr>
        <p:spPr>
          <a:xfrm>
            <a:off x="990600" y="2057400"/>
            <a:ext cx="30403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 Data Detection</a:t>
            </a:r>
            <a:endParaRPr lang="en-US" sz="1050" dirty="0"/>
          </a:p>
        </p:txBody>
      </p:sp>
      <p:sp>
        <p:nvSpPr>
          <p:cNvPr id="25" name="Text 4"/>
          <p:cNvSpPr/>
          <p:nvPr/>
        </p:nvSpPr>
        <p:spPr>
          <a:xfrm>
            <a:off x="2990850" y="2057400"/>
            <a:ext cx="33604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Decision Engine</a:t>
            </a:r>
            <a:endParaRPr lang="en-US" sz="1050" dirty="0"/>
          </a:p>
        </p:txBody>
      </p:sp>
      <p:sp>
        <p:nvSpPr>
          <p:cNvPr id="26" name="Text 5"/>
          <p:cNvSpPr/>
          <p:nvPr/>
        </p:nvSpPr>
        <p:spPr>
          <a:xfrm>
            <a:off x="5181600" y="2057400"/>
            <a:ext cx="45872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Interactive Visualizations</a:t>
            </a:r>
            <a:endParaRPr lang="en-US" sz="1050" dirty="0"/>
          </a:p>
        </p:txBody>
      </p:sp>
      <p:sp>
        <p:nvSpPr>
          <p:cNvPr id="27" name="Text 6"/>
          <p:cNvSpPr/>
          <p:nvPr/>
        </p:nvSpPr>
        <p:spPr>
          <a:xfrm>
            <a:off x="957263" y="3009900"/>
            <a:ext cx="53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highlight>
                  <a:srgbClr val="2E7D32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50" dirty="0"/>
          </a:p>
        </p:txBody>
      </p:sp>
      <p:sp>
        <p:nvSpPr>
          <p:cNvPr id="28" name="Text 7"/>
          <p:cNvSpPr/>
          <p:nvPr/>
        </p:nvSpPr>
        <p:spPr>
          <a:xfrm>
            <a:off x="876300" y="3543300"/>
            <a:ext cx="2921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</a:t>
            </a:r>
            <a:endParaRPr lang="en-US" sz="1800" dirty="0"/>
          </a:p>
        </p:txBody>
      </p:sp>
      <p:sp>
        <p:nvSpPr>
          <p:cNvPr id="29" name="Text 8"/>
          <p:cNvSpPr/>
          <p:nvPr/>
        </p:nvSpPr>
        <p:spPr>
          <a:xfrm>
            <a:off x="1162050" y="40005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Entry</a:t>
            </a:r>
            <a:endParaRPr lang="en-US" sz="1200" dirty="0"/>
          </a:p>
        </p:txBody>
      </p:sp>
      <p:sp>
        <p:nvSpPr>
          <p:cNvPr id="30" name="Text 9"/>
          <p:cNvSpPr/>
          <p:nvPr/>
        </p:nvSpPr>
        <p:spPr>
          <a:xfrm>
            <a:off x="1162050" y="4267200"/>
            <a:ext cx="49606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Space or comma separated values</a:t>
            </a:r>
            <a:endParaRPr lang="en-US" sz="1050" dirty="0"/>
          </a:p>
        </p:txBody>
      </p:sp>
      <p:sp>
        <p:nvSpPr>
          <p:cNvPr id="31" name="Text 10"/>
          <p:cNvSpPr/>
          <p:nvPr/>
        </p:nvSpPr>
        <p:spPr>
          <a:xfrm>
            <a:off x="1104900" y="46101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Upload</a:t>
            </a:r>
            <a:endParaRPr lang="en-US" sz="1200" dirty="0"/>
          </a:p>
        </p:txBody>
      </p:sp>
      <p:sp>
        <p:nvSpPr>
          <p:cNvPr id="32" name="Text 11"/>
          <p:cNvSpPr/>
          <p:nvPr/>
        </p:nvSpPr>
        <p:spPr>
          <a:xfrm>
            <a:off x="1104900" y="4876800"/>
            <a:ext cx="48006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.csv, .xlsx, .xls, .sav (SPSS)</a:t>
            </a:r>
            <a:endParaRPr lang="en-US" sz="1050" dirty="0"/>
          </a:p>
        </p:txBody>
      </p:sp>
      <p:sp>
        <p:nvSpPr>
          <p:cNvPr id="33" name="Text 12"/>
          <p:cNvSpPr/>
          <p:nvPr/>
        </p:nvSpPr>
        <p:spPr>
          <a:xfrm>
            <a:off x="4702225" y="3009900"/>
            <a:ext cx="53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highlight>
                  <a:srgbClr val="2E7D32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50" dirty="0"/>
          </a:p>
        </p:txBody>
      </p:sp>
      <p:sp>
        <p:nvSpPr>
          <p:cNvPr id="34" name="Text 13"/>
          <p:cNvSpPr/>
          <p:nvPr/>
        </p:nvSpPr>
        <p:spPr>
          <a:xfrm>
            <a:off x="4635550" y="3543300"/>
            <a:ext cx="2921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PROCESSING</a:t>
            </a:r>
            <a:endParaRPr lang="en-US" sz="1800" dirty="0"/>
          </a:p>
        </p:txBody>
      </p:sp>
      <p:sp>
        <p:nvSpPr>
          <p:cNvPr id="35" name="Text 14"/>
          <p:cNvSpPr/>
          <p:nvPr/>
        </p:nvSpPr>
        <p:spPr>
          <a:xfrm>
            <a:off x="4902250" y="40005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Intelligent Logic</a:t>
            </a:r>
            <a:endParaRPr lang="en-US" sz="1200" dirty="0"/>
          </a:p>
        </p:txBody>
      </p:sp>
      <p:sp>
        <p:nvSpPr>
          <p:cNvPr id="36" name="Text 15"/>
          <p:cNvSpPr/>
          <p:nvPr/>
        </p:nvSpPr>
        <p:spPr>
          <a:xfrm>
            <a:off x="4902250" y="4267200"/>
            <a:ext cx="20859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Auto-detection of Quantitative vs Qualitative data</a:t>
            </a:r>
            <a:endParaRPr lang="en-US" sz="1050" dirty="0"/>
          </a:p>
        </p:txBody>
      </p:sp>
      <p:sp>
        <p:nvSpPr>
          <p:cNvPr id="37" name="Text 16"/>
          <p:cNvSpPr/>
          <p:nvPr/>
        </p:nvSpPr>
        <p:spPr>
          <a:xfrm>
            <a:off x="4864150" y="48387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Computation</a:t>
            </a:r>
            <a:endParaRPr lang="en-US" sz="1200" dirty="0"/>
          </a:p>
        </p:txBody>
      </p:sp>
      <p:sp>
        <p:nvSpPr>
          <p:cNvPr id="38" name="Text 17"/>
          <p:cNvSpPr/>
          <p:nvPr/>
        </p:nvSpPr>
        <p:spPr>
          <a:xfrm>
            <a:off x="4864150" y="5105400"/>
            <a:ext cx="58140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15+ measures &amp; Smart Decision logic</a:t>
            </a:r>
            <a:endParaRPr lang="en-US" sz="1050" dirty="0"/>
          </a:p>
        </p:txBody>
      </p:sp>
      <p:sp>
        <p:nvSpPr>
          <p:cNvPr id="39" name="Text 18"/>
          <p:cNvSpPr/>
          <p:nvPr/>
        </p:nvSpPr>
        <p:spPr>
          <a:xfrm>
            <a:off x="8461474" y="3009900"/>
            <a:ext cx="53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highlight>
                  <a:srgbClr val="2E7D32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50" dirty="0"/>
          </a:p>
        </p:txBody>
      </p:sp>
      <p:sp>
        <p:nvSpPr>
          <p:cNvPr id="40" name="Text 19"/>
          <p:cNvSpPr/>
          <p:nvPr/>
        </p:nvSpPr>
        <p:spPr>
          <a:xfrm>
            <a:off x="8394799" y="3543300"/>
            <a:ext cx="2921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</a:t>
            </a:r>
            <a:endParaRPr lang="en-US" sz="1800" dirty="0"/>
          </a:p>
        </p:txBody>
      </p:sp>
      <p:sp>
        <p:nvSpPr>
          <p:cNvPr id="41" name="Text 20"/>
          <p:cNvSpPr/>
          <p:nvPr/>
        </p:nvSpPr>
        <p:spPr>
          <a:xfrm>
            <a:off x="8623399" y="4000500"/>
            <a:ext cx="2619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Report</a:t>
            </a:r>
            <a:endParaRPr lang="en-US" sz="1200" dirty="0"/>
          </a:p>
        </p:txBody>
      </p:sp>
      <p:sp>
        <p:nvSpPr>
          <p:cNvPr id="42" name="Text 21"/>
          <p:cNvSpPr/>
          <p:nvPr/>
        </p:nvSpPr>
        <p:spPr>
          <a:xfrm>
            <a:off x="8623399" y="4267200"/>
            <a:ext cx="356860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Detailed recommendations &amp; explanations</a:t>
            </a:r>
            <a:endParaRPr lang="en-US" sz="1050" dirty="0"/>
          </a:p>
        </p:txBody>
      </p:sp>
      <p:sp>
        <p:nvSpPr>
          <p:cNvPr id="43" name="Text 22"/>
          <p:cNvSpPr/>
          <p:nvPr/>
        </p:nvSpPr>
        <p:spPr>
          <a:xfrm>
            <a:off x="8661499" y="46101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Analytics</a:t>
            </a:r>
            <a:endParaRPr lang="en-US" sz="1200" dirty="0"/>
          </a:p>
        </p:txBody>
      </p:sp>
      <p:sp>
        <p:nvSpPr>
          <p:cNvPr id="44" name="Text 23"/>
          <p:cNvSpPr/>
          <p:nvPr/>
        </p:nvSpPr>
        <p:spPr>
          <a:xfrm>
            <a:off x="8661499" y="4876800"/>
            <a:ext cx="20383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professional plots (PNG export available)</a:t>
            </a:r>
            <a:endParaRPr lang="en-US" sz="1050" dirty="0"/>
          </a:p>
        </p:txBody>
      </p:sp>
      <p:sp>
        <p:nvSpPr>
          <p:cNvPr id="45" name="Text 24"/>
          <p:cNvSpPr/>
          <p:nvPr/>
        </p:nvSpPr>
        <p:spPr>
          <a:xfrm>
            <a:off x="571500" y="6286500"/>
            <a:ext cx="52806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spc="84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STATISTICAL ANALYSIS SYSTEM</a:t>
            </a:r>
            <a:endParaRPr lang="en-US" sz="1050" dirty="0"/>
          </a:p>
        </p:txBody>
      </p:sp>
      <p:sp>
        <p:nvSpPr>
          <p:cNvPr id="46" name="Text 25"/>
          <p:cNvSpPr/>
          <p:nvPr/>
        </p:nvSpPr>
        <p:spPr>
          <a:xfrm>
            <a:off x="8924925" y="6286500"/>
            <a:ext cx="3267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Black Knight | Scientific Computation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1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07" y="443405"/>
            <a:ext cx="1667966" cy="17736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207" y="2171646"/>
            <a:ext cx="2619324" cy="170757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569" y="2349008"/>
            <a:ext cx="354724" cy="354724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690" y="2427874"/>
            <a:ext cx="236483" cy="196992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7893" y="2171646"/>
            <a:ext cx="2619324" cy="1707572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5255" y="2349008"/>
            <a:ext cx="354724" cy="354724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46546" y="2430299"/>
            <a:ext cx="192142" cy="192142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84579" y="2171646"/>
            <a:ext cx="2619323" cy="1707572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61941" y="2349008"/>
            <a:ext cx="354724" cy="354724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69097" y="2426027"/>
            <a:ext cx="140412" cy="200572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81265" y="2171646"/>
            <a:ext cx="2619439" cy="1707572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58626" y="2349008"/>
            <a:ext cx="354724" cy="354724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65783" y="2426027"/>
            <a:ext cx="140412" cy="200572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1207" y="4056580"/>
            <a:ext cx="2619324" cy="1707687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8569" y="4233942"/>
            <a:ext cx="354724" cy="354724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0945" y="4311307"/>
            <a:ext cx="169972" cy="199879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387893" y="4056580"/>
            <a:ext cx="2619324" cy="1707687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565255" y="4233942"/>
            <a:ext cx="354724" cy="354724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657631" y="4311307"/>
            <a:ext cx="169972" cy="199879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184579" y="4056580"/>
            <a:ext cx="2619323" cy="1707687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61941" y="4233942"/>
            <a:ext cx="354724" cy="354724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43232" y="4315233"/>
            <a:ext cx="192142" cy="192142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981265" y="4056580"/>
            <a:ext cx="2619439" cy="1707687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158626" y="4233942"/>
            <a:ext cx="354724" cy="354724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228833" y="4313847"/>
            <a:ext cx="214313" cy="194798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91207" y="6059871"/>
            <a:ext cx="11009497" cy="354724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960105" y="6237233"/>
            <a:ext cx="458185" cy="177362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536531" y="6237233"/>
            <a:ext cx="1064172" cy="177362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679888" y="443405"/>
            <a:ext cx="2898555" cy="17736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31"/>
              </a:lnSpc>
              <a:buNone/>
            </a:pPr>
            <a:r>
              <a:rPr lang="en-US" sz="900" b="1" spc="46" kern="0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32" name="Text 1"/>
          <p:cNvSpPr/>
          <p:nvPr/>
        </p:nvSpPr>
        <p:spPr>
          <a:xfrm>
            <a:off x="591207" y="679888"/>
            <a:ext cx="11600793" cy="4571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Packages Overview</a:t>
            </a:r>
            <a:endParaRPr lang="en-US" sz="3600" dirty="0"/>
          </a:p>
        </p:txBody>
      </p:sp>
      <p:sp>
        <p:nvSpPr>
          <p:cNvPr id="33" name="Text 2"/>
          <p:cNvSpPr/>
          <p:nvPr/>
        </p:nvSpPr>
        <p:spPr>
          <a:xfrm>
            <a:off x="591207" y="1255275"/>
            <a:ext cx="5675586" cy="62076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29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integrates eight specialized R packages to handle the complete workflow from data ingestion to advanced visualization.</a:t>
            </a:r>
            <a:endParaRPr lang="en-US" sz="1500" dirty="0"/>
          </a:p>
        </p:txBody>
      </p:sp>
      <p:sp>
        <p:nvSpPr>
          <p:cNvPr id="34" name="Text 3"/>
          <p:cNvSpPr/>
          <p:nvPr/>
        </p:nvSpPr>
        <p:spPr>
          <a:xfrm>
            <a:off x="768569" y="2821974"/>
            <a:ext cx="2264600" cy="2069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29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shiny</a:t>
            </a:r>
            <a:endParaRPr lang="en-US" sz="1500" dirty="0"/>
          </a:p>
        </p:txBody>
      </p:sp>
      <p:sp>
        <p:nvSpPr>
          <p:cNvPr id="35" name="Text 4"/>
          <p:cNvSpPr/>
          <p:nvPr/>
        </p:nvSpPr>
        <p:spPr>
          <a:xfrm>
            <a:off x="768569" y="3058457"/>
            <a:ext cx="2264600" cy="43324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framework for the interactive web application.</a:t>
            </a:r>
            <a:endParaRPr lang="en-US" sz="1050" dirty="0"/>
          </a:p>
        </p:txBody>
      </p:sp>
      <p:sp>
        <p:nvSpPr>
          <p:cNvPr id="36" name="Text 5"/>
          <p:cNvSpPr/>
          <p:nvPr/>
        </p:nvSpPr>
        <p:spPr>
          <a:xfrm>
            <a:off x="3565255" y="2821974"/>
            <a:ext cx="2264600" cy="2069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29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ggplot2</a:t>
            </a:r>
            <a:endParaRPr lang="en-US" sz="1500" dirty="0"/>
          </a:p>
        </p:txBody>
      </p:sp>
      <p:sp>
        <p:nvSpPr>
          <p:cNvPr id="37" name="Text 6"/>
          <p:cNvSpPr/>
          <p:nvPr/>
        </p:nvSpPr>
        <p:spPr>
          <a:xfrm>
            <a:off x="3565255" y="3058457"/>
            <a:ext cx="2264600" cy="43324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all 9 types of professional statistical plots.</a:t>
            </a:r>
            <a:endParaRPr lang="en-US" sz="1050" dirty="0"/>
          </a:p>
        </p:txBody>
      </p:sp>
      <p:sp>
        <p:nvSpPr>
          <p:cNvPr id="38" name="Text 7"/>
          <p:cNvSpPr/>
          <p:nvPr/>
        </p:nvSpPr>
        <p:spPr>
          <a:xfrm>
            <a:off x="6361941" y="2821974"/>
            <a:ext cx="2264600" cy="2069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29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readr</a:t>
            </a:r>
            <a:endParaRPr lang="en-US" sz="1500" dirty="0"/>
          </a:p>
        </p:txBody>
      </p:sp>
      <p:sp>
        <p:nvSpPr>
          <p:cNvPr id="39" name="Text 8"/>
          <p:cNvSpPr/>
          <p:nvPr/>
        </p:nvSpPr>
        <p:spPr>
          <a:xfrm>
            <a:off x="6361941" y="3058457"/>
            <a:ext cx="2264600" cy="43324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and reliable CSV import with auto-detection.</a:t>
            </a:r>
            <a:endParaRPr lang="en-US" sz="1050" dirty="0"/>
          </a:p>
        </p:txBody>
      </p:sp>
      <p:sp>
        <p:nvSpPr>
          <p:cNvPr id="40" name="Text 9"/>
          <p:cNvSpPr/>
          <p:nvPr/>
        </p:nvSpPr>
        <p:spPr>
          <a:xfrm>
            <a:off x="9158626" y="2821974"/>
            <a:ext cx="2264715" cy="2069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29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readxl</a:t>
            </a:r>
            <a:endParaRPr lang="en-US" sz="1500" dirty="0"/>
          </a:p>
        </p:txBody>
      </p:sp>
      <p:sp>
        <p:nvSpPr>
          <p:cNvPr id="41" name="Text 10"/>
          <p:cNvSpPr/>
          <p:nvPr/>
        </p:nvSpPr>
        <p:spPr>
          <a:xfrm>
            <a:off x="9158626" y="3058457"/>
            <a:ext cx="2264715" cy="43324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data import from Excel (.xlsx and .xls) formats.</a:t>
            </a:r>
            <a:endParaRPr lang="en-US" sz="1050" dirty="0"/>
          </a:p>
        </p:txBody>
      </p:sp>
      <p:sp>
        <p:nvSpPr>
          <p:cNvPr id="42" name="Text 11"/>
          <p:cNvSpPr/>
          <p:nvPr/>
        </p:nvSpPr>
        <p:spPr>
          <a:xfrm>
            <a:off x="768569" y="4706908"/>
            <a:ext cx="2264600" cy="2069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29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haven</a:t>
            </a:r>
            <a:endParaRPr lang="en-US" sz="1500" dirty="0"/>
          </a:p>
        </p:txBody>
      </p:sp>
      <p:sp>
        <p:nvSpPr>
          <p:cNvPr id="43" name="Text 12"/>
          <p:cNvSpPr/>
          <p:nvPr/>
        </p:nvSpPr>
        <p:spPr>
          <a:xfrm>
            <a:off x="768569" y="4943391"/>
            <a:ext cx="2264600" cy="43324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Seamlessly imports SPSS datasets (.sav files).</a:t>
            </a:r>
            <a:endParaRPr lang="en-US" sz="1050" dirty="0"/>
          </a:p>
        </p:txBody>
      </p:sp>
      <p:sp>
        <p:nvSpPr>
          <p:cNvPr id="44" name="Text 13"/>
          <p:cNvSpPr/>
          <p:nvPr/>
        </p:nvSpPr>
        <p:spPr>
          <a:xfrm>
            <a:off x="3565255" y="4706908"/>
            <a:ext cx="2264600" cy="2069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29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shinyjs</a:t>
            </a:r>
            <a:endParaRPr lang="en-US" sz="1500" dirty="0"/>
          </a:p>
        </p:txBody>
      </p:sp>
      <p:sp>
        <p:nvSpPr>
          <p:cNvPr id="45" name="Text 14"/>
          <p:cNvSpPr/>
          <p:nvPr/>
        </p:nvSpPr>
        <p:spPr>
          <a:xfrm>
            <a:off x="3565255" y="4943391"/>
            <a:ext cx="2264600" cy="43324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Enables dynamic JavaScript-powered UI control.</a:t>
            </a:r>
            <a:endParaRPr lang="en-US" sz="1050" dirty="0"/>
          </a:p>
        </p:txBody>
      </p:sp>
      <p:sp>
        <p:nvSpPr>
          <p:cNvPr id="46" name="Text 15"/>
          <p:cNvSpPr/>
          <p:nvPr/>
        </p:nvSpPr>
        <p:spPr>
          <a:xfrm>
            <a:off x="6361941" y="4706908"/>
            <a:ext cx="2357122" cy="2069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29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thematic</a:t>
            </a:r>
            <a:endParaRPr lang="en-US" sz="1500" dirty="0"/>
          </a:p>
        </p:txBody>
      </p:sp>
      <p:sp>
        <p:nvSpPr>
          <p:cNvPr id="47" name="Text 16"/>
          <p:cNvSpPr/>
          <p:nvPr/>
        </p:nvSpPr>
        <p:spPr>
          <a:xfrm>
            <a:off x="6361941" y="4943391"/>
            <a:ext cx="2264600" cy="43324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Synchronizes plot styles with the app's CSS theme.</a:t>
            </a:r>
            <a:endParaRPr lang="en-US" sz="1050" dirty="0"/>
          </a:p>
        </p:txBody>
      </p:sp>
      <p:sp>
        <p:nvSpPr>
          <p:cNvPr id="48" name="Text 17"/>
          <p:cNvSpPr/>
          <p:nvPr/>
        </p:nvSpPr>
        <p:spPr>
          <a:xfrm>
            <a:off x="9158626" y="4706908"/>
            <a:ext cx="2264715" cy="2069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29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e1071</a:t>
            </a:r>
            <a:endParaRPr lang="en-US" sz="1500" dirty="0"/>
          </a:p>
        </p:txBody>
      </p:sp>
      <p:sp>
        <p:nvSpPr>
          <p:cNvPr id="49" name="Text 18"/>
          <p:cNvSpPr/>
          <p:nvPr/>
        </p:nvSpPr>
        <p:spPr>
          <a:xfrm>
            <a:off x="9158626" y="4943391"/>
            <a:ext cx="2264715" cy="43324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Computes skewness and kurtosis for shape analysis.</a:t>
            </a:r>
            <a:endParaRPr lang="en-US" sz="1050" dirty="0"/>
          </a:p>
        </p:txBody>
      </p:sp>
      <p:sp>
        <p:nvSpPr>
          <p:cNvPr id="50" name="Text 19"/>
          <p:cNvSpPr/>
          <p:nvPr/>
        </p:nvSpPr>
        <p:spPr>
          <a:xfrm>
            <a:off x="591207" y="6252013"/>
            <a:ext cx="6806167" cy="1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64"/>
              </a:lnSpc>
              <a:buNone/>
            </a:pPr>
            <a:r>
              <a:rPr lang="en-US" sz="1050" b="1" spc="54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STATISTICAL ANALYSIS SYSTEM</a:t>
            </a:r>
            <a:endParaRPr lang="en-US" sz="1050" dirty="0"/>
          </a:p>
        </p:txBody>
      </p:sp>
      <p:sp>
        <p:nvSpPr>
          <p:cNvPr id="51" name="Text 20"/>
          <p:cNvSpPr/>
          <p:nvPr/>
        </p:nvSpPr>
        <p:spPr>
          <a:xfrm>
            <a:off x="10019226" y="6237233"/>
            <a:ext cx="865208" cy="17736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31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 4.2+</a:t>
            </a:r>
            <a:endParaRPr lang="en-US" sz="900" dirty="0"/>
          </a:p>
        </p:txBody>
      </p:sp>
      <p:sp>
        <p:nvSpPr>
          <p:cNvPr id="52" name="Text 21"/>
          <p:cNvSpPr/>
          <p:nvPr/>
        </p:nvSpPr>
        <p:spPr>
          <a:xfrm>
            <a:off x="10595652" y="6237233"/>
            <a:ext cx="1596348" cy="17736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31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Shiny Framework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8281" y="1028700"/>
            <a:ext cx="2397919" cy="31432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0681" y="1135112"/>
            <a:ext cx="133350" cy="1333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638300"/>
            <a:ext cx="419100" cy="4191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1762125"/>
            <a:ext cx="171450" cy="1714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048000"/>
            <a:ext cx="3158133" cy="143827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250" y="3209925"/>
            <a:ext cx="133350" cy="1714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4712345"/>
            <a:ext cx="161925" cy="141684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4943475"/>
            <a:ext cx="3158133" cy="442913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24933" y="1639937"/>
            <a:ext cx="180975" cy="1333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24933" y="1943100"/>
            <a:ext cx="3564434" cy="1206401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41766" y="1943100"/>
            <a:ext cx="3564434" cy="1206401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24933" y="3301901"/>
            <a:ext cx="3564434" cy="12065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41766" y="3301901"/>
            <a:ext cx="3564434" cy="12065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24933" y="4660850"/>
            <a:ext cx="3564434" cy="120655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41766" y="4660850"/>
            <a:ext cx="3564434" cy="120655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5800" y="6096000"/>
            <a:ext cx="10820400" cy="3429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685800" y="495300"/>
            <a:ext cx="36271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spc="210" kern="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 PACKAGE — 01 OF 08</a:t>
            </a:r>
            <a:endParaRPr lang="en-US" sz="1050" dirty="0"/>
          </a:p>
        </p:txBody>
      </p:sp>
      <p:sp>
        <p:nvSpPr>
          <p:cNvPr id="21" name="Text 1"/>
          <p:cNvSpPr/>
          <p:nvPr/>
        </p:nvSpPr>
        <p:spPr>
          <a:xfrm>
            <a:off x="685800" y="723900"/>
            <a:ext cx="76809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Package: </a:t>
            </a:r>
            <a:pPr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shiny</a:t>
            </a:r>
            <a:endParaRPr lang="en-US" sz="3600" dirty="0"/>
          </a:p>
        </p:txBody>
      </p:sp>
      <p:sp>
        <p:nvSpPr>
          <p:cNvPr id="22" name="Text 2"/>
          <p:cNvSpPr/>
          <p:nvPr/>
        </p:nvSpPr>
        <p:spPr>
          <a:xfrm>
            <a:off x="9470231" y="1028700"/>
            <a:ext cx="173116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050" b="1" spc="21" kern="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Web Framework</a:t>
            </a:r>
            <a:endParaRPr lang="en-US" sz="1050" dirty="0"/>
          </a:p>
        </p:txBody>
      </p:sp>
      <p:sp>
        <p:nvSpPr>
          <p:cNvPr id="23" name="Text 3"/>
          <p:cNvSpPr/>
          <p:nvPr/>
        </p:nvSpPr>
        <p:spPr>
          <a:xfrm>
            <a:off x="1257300" y="1600200"/>
            <a:ext cx="25866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spc="48" kern="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</a:t>
            </a:r>
            <a:endParaRPr lang="en-US" sz="1200" dirty="0"/>
          </a:p>
        </p:txBody>
      </p:sp>
      <p:sp>
        <p:nvSpPr>
          <p:cNvPr id="24" name="Text 4"/>
          <p:cNvSpPr/>
          <p:nvPr/>
        </p:nvSpPr>
        <p:spPr>
          <a:xfrm>
            <a:off x="1257300" y="1866900"/>
            <a:ext cx="2586633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interactive, browser-based web applications entirely in R — no HTML, CSS, or JavaScript knowledge required.</a:t>
            </a:r>
            <a:endParaRPr lang="en-US" sz="1200" dirty="0"/>
          </a:p>
        </p:txBody>
      </p:sp>
      <p:sp>
        <p:nvSpPr>
          <p:cNvPr id="25" name="Text 5"/>
          <p:cNvSpPr/>
          <p:nvPr/>
        </p:nvSpPr>
        <p:spPr>
          <a:xfrm>
            <a:off x="1104900" y="318135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spc="48" kern="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REACTIVE PROGRAMMING</a:t>
            </a:r>
            <a:endParaRPr lang="en-US" sz="1200" dirty="0"/>
          </a:p>
        </p:txBody>
      </p:sp>
      <p:sp>
        <p:nvSpPr>
          <p:cNvPr id="26" name="Text 6"/>
          <p:cNvSpPr/>
          <p:nvPr/>
        </p:nvSpPr>
        <p:spPr>
          <a:xfrm>
            <a:off x="857250" y="3486150"/>
            <a:ext cx="2815233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Outputs </a:t>
            </a:r>
            <a:pPr indent="0" marL="0">
              <a:lnSpc>
                <a:spcPts val="1706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automatically update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whenever inputs change — no manual refresh needed. Creates the entire UI and server logic for the Smart Statistical Analysis System.</a:t>
            </a:r>
            <a:endParaRPr lang="en-US" sz="1050" dirty="0"/>
          </a:p>
        </p:txBody>
      </p:sp>
      <p:sp>
        <p:nvSpPr>
          <p:cNvPr id="27" name="Text 7"/>
          <p:cNvSpPr/>
          <p:nvPr/>
        </p:nvSpPr>
        <p:spPr>
          <a:xfrm>
            <a:off x="923925" y="4676775"/>
            <a:ext cx="31581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spc="42" kern="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INSTALLATION</a:t>
            </a:r>
            <a:endParaRPr lang="en-US" sz="1050" dirty="0"/>
          </a:p>
        </p:txBody>
      </p:sp>
      <p:sp>
        <p:nvSpPr>
          <p:cNvPr id="28" name="Text 8"/>
          <p:cNvSpPr/>
          <p:nvPr/>
        </p:nvSpPr>
        <p:spPr>
          <a:xfrm>
            <a:off x="876300" y="4943475"/>
            <a:ext cx="376915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spc="18" kern="0" dirty="0">
                <a:solidFill>
                  <a:srgbClr val="A6E3A1"/>
                </a:solidFill>
              </a:rPr>
              <a:t>install.packages</a:t>
            </a:r>
            <a:pPr indent="0" marL="0">
              <a:lnSpc>
                <a:spcPts val="1688"/>
              </a:lnSpc>
              <a:buNone/>
            </a:pPr>
            <a:r>
              <a:rPr lang="en-US" sz="1125" spc="18" kern="0" dirty="0">
                <a:solidFill>
                  <a:srgbClr val="FFFFFF"/>
                </a:solidFill>
              </a:rPr>
              <a:t>(</a:t>
            </a:r>
            <a:pPr indent="0" marL="0">
              <a:lnSpc>
                <a:spcPts val="1688"/>
              </a:lnSpc>
              <a:buNone/>
            </a:pPr>
            <a:r>
              <a:rPr lang="en-US" sz="1125" spc="18" kern="0" dirty="0">
                <a:solidFill>
                  <a:srgbClr val="F9E2AF"/>
                </a:solidFill>
              </a:rPr>
              <a:t>"shiny"</a:t>
            </a:r>
            <a:pPr indent="0" marL="0">
              <a:lnSpc>
                <a:spcPts val="1688"/>
              </a:lnSpc>
              <a:buNone/>
            </a:pPr>
            <a:r>
              <a:rPr lang="en-US" sz="1125" spc="18" kern="0" dirty="0">
                <a:solidFill>
                  <a:srgbClr val="FFFFFF"/>
                </a:solidFill>
              </a:rPr>
              <a:t>)</a:t>
            </a:r>
            <a:endParaRPr lang="en-US" sz="1125" dirty="0"/>
          </a:p>
        </p:txBody>
      </p:sp>
      <p:sp>
        <p:nvSpPr>
          <p:cNvPr id="29" name="Text 9"/>
          <p:cNvSpPr/>
          <p:nvPr/>
        </p:nvSpPr>
        <p:spPr>
          <a:xfrm>
            <a:off x="4482108" y="1600200"/>
            <a:ext cx="72812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spc="84" kern="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FUNCTIONS</a:t>
            </a:r>
            <a:endParaRPr lang="en-US" sz="1050" dirty="0"/>
          </a:p>
        </p:txBody>
      </p:sp>
      <p:sp>
        <p:nvSpPr>
          <p:cNvPr id="30" name="Text 10"/>
          <p:cNvSpPr/>
          <p:nvPr/>
        </p:nvSpPr>
        <p:spPr>
          <a:xfrm>
            <a:off x="4415433" y="2095500"/>
            <a:ext cx="3183434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E7D32"/>
                </a:solidFill>
              </a:rPr>
              <a:t>fluidPage()</a:t>
            </a:r>
            <a:endParaRPr lang="en-US" sz="1125" dirty="0"/>
          </a:p>
        </p:txBody>
      </p:sp>
      <p:sp>
        <p:nvSpPr>
          <p:cNvPr id="31" name="Text 11"/>
          <p:cNvSpPr/>
          <p:nvPr/>
        </p:nvSpPr>
        <p:spPr>
          <a:xfrm>
            <a:off x="4415433" y="2347913"/>
            <a:ext cx="3183434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Creates a responsive, fluid-width page layout for the application UI</a:t>
            </a:r>
            <a:endParaRPr lang="en-US" sz="975" dirty="0"/>
          </a:p>
        </p:txBody>
      </p:sp>
      <p:sp>
        <p:nvSpPr>
          <p:cNvPr id="32" name="Text 12"/>
          <p:cNvSpPr/>
          <p:nvPr/>
        </p:nvSpPr>
        <p:spPr>
          <a:xfrm>
            <a:off x="8132266" y="2095500"/>
            <a:ext cx="3183434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E7D32"/>
                </a:solidFill>
              </a:rPr>
              <a:t>tabsetPanel()</a:t>
            </a:r>
            <a:endParaRPr lang="en-US" sz="1125" dirty="0"/>
          </a:p>
        </p:txBody>
      </p:sp>
      <p:sp>
        <p:nvSpPr>
          <p:cNvPr id="33" name="Text 13"/>
          <p:cNvSpPr/>
          <p:nvPr/>
        </p:nvSpPr>
        <p:spPr>
          <a:xfrm>
            <a:off x="8132266" y="2347913"/>
            <a:ext cx="3183434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Manages tabbed navigation to organize multiple analysis views</a:t>
            </a:r>
            <a:endParaRPr lang="en-US" sz="975" dirty="0"/>
          </a:p>
        </p:txBody>
      </p:sp>
      <p:sp>
        <p:nvSpPr>
          <p:cNvPr id="34" name="Text 14"/>
          <p:cNvSpPr/>
          <p:nvPr/>
        </p:nvSpPr>
        <p:spPr>
          <a:xfrm>
            <a:off x="4415433" y="3454301"/>
            <a:ext cx="3183434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E7D32"/>
                </a:solidFill>
              </a:rPr>
              <a:t>renderPlot()</a:t>
            </a:r>
            <a:endParaRPr lang="en-US" sz="1125" dirty="0"/>
          </a:p>
        </p:txBody>
      </p:sp>
      <p:sp>
        <p:nvSpPr>
          <p:cNvPr id="35" name="Text 15"/>
          <p:cNvSpPr/>
          <p:nvPr/>
        </p:nvSpPr>
        <p:spPr>
          <a:xfrm>
            <a:off x="4415433" y="3706713"/>
            <a:ext cx="3183434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Renders reactive ggplot2 visualizations that update with user input</a:t>
            </a:r>
            <a:endParaRPr lang="en-US" sz="975" dirty="0"/>
          </a:p>
        </p:txBody>
      </p:sp>
      <p:sp>
        <p:nvSpPr>
          <p:cNvPr id="36" name="Text 16"/>
          <p:cNvSpPr/>
          <p:nvPr/>
        </p:nvSpPr>
        <p:spPr>
          <a:xfrm>
            <a:off x="8132266" y="3454301"/>
            <a:ext cx="3183434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E7D32"/>
                </a:solidFill>
              </a:rPr>
              <a:t>renderUI()</a:t>
            </a:r>
            <a:endParaRPr lang="en-US" sz="1125" dirty="0"/>
          </a:p>
        </p:txBody>
      </p:sp>
      <p:sp>
        <p:nvSpPr>
          <p:cNvPr id="37" name="Text 17"/>
          <p:cNvSpPr/>
          <p:nvPr/>
        </p:nvSpPr>
        <p:spPr>
          <a:xfrm>
            <a:off x="8132266" y="3706713"/>
            <a:ext cx="3183434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Dynamically generates and updates UI components at runtime</a:t>
            </a:r>
            <a:endParaRPr lang="en-US" sz="975" dirty="0"/>
          </a:p>
        </p:txBody>
      </p:sp>
      <p:sp>
        <p:nvSpPr>
          <p:cNvPr id="38" name="Text 18"/>
          <p:cNvSpPr/>
          <p:nvPr/>
        </p:nvSpPr>
        <p:spPr>
          <a:xfrm>
            <a:off x="4415433" y="4813250"/>
            <a:ext cx="3183434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E7D32"/>
                </a:solidFill>
              </a:rPr>
              <a:t>reactive()</a:t>
            </a:r>
            <a:endParaRPr lang="en-US" sz="1125" dirty="0"/>
          </a:p>
        </p:txBody>
      </p:sp>
      <p:sp>
        <p:nvSpPr>
          <p:cNvPr id="39" name="Text 19"/>
          <p:cNvSpPr/>
          <p:nvPr/>
        </p:nvSpPr>
        <p:spPr>
          <a:xfrm>
            <a:off x="4415433" y="5065663"/>
            <a:ext cx="3183434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Creates reactive expressions that cache and re-execute on dependency change</a:t>
            </a:r>
            <a:endParaRPr lang="en-US" sz="975" dirty="0"/>
          </a:p>
        </p:txBody>
      </p:sp>
      <p:sp>
        <p:nvSpPr>
          <p:cNvPr id="40" name="Text 20"/>
          <p:cNvSpPr/>
          <p:nvPr/>
        </p:nvSpPr>
        <p:spPr>
          <a:xfrm>
            <a:off x="8132266" y="4813250"/>
            <a:ext cx="3183434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E7D32"/>
                </a:solidFill>
              </a:rPr>
              <a:t>observeEvent()</a:t>
            </a:r>
            <a:endParaRPr lang="en-US" sz="1125" dirty="0"/>
          </a:p>
        </p:txBody>
      </p:sp>
      <p:sp>
        <p:nvSpPr>
          <p:cNvPr id="41" name="Text 21"/>
          <p:cNvSpPr/>
          <p:nvPr/>
        </p:nvSpPr>
        <p:spPr>
          <a:xfrm>
            <a:off x="8132266" y="5065663"/>
            <a:ext cx="3183434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Triggers server-side actions in response to specific input events</a:t>
            </a:r>
            <a:endParaRPr lang="en-US" sz="975" dirty="0"/>
          </a:p>
        </p:txBody>
      </p:sp>
      <p:sp>
        <p:nvSpPr>
          <p:cNvPr id="42" name="Text 22"/>
          <p:cNvSpPr/>
          <p:nvPr/>
        </p:nvSpPr>
        <p:spPr>
          <a:xfrm>
            <a:off x="685800" y="6248400"/>
            <a:ext cx="52806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spc="84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STATISTICAL ANALYSIS SYSTEM</a:t>
            </a:r>
            <a:endParaRPr lang="en-US" sz="1050" dirty="0"/>
          </a:p>
        </p:txBody>
      </p:sp>
      <p:sp>
        <p:nvSpPr>
          <p:cNvPr id="43" name="Text 23"/>
          <p:cNvSpPr/>
          <p:nvPr/>
        </p:nvSpPr>
        <p:spPr>
          <a:xfrm>
            <a:off x="8810625" y="6248400"/>
            <a:ext cx="3381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Black Knight | Scientific Computation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57200"/>
            <a:ext cx="365760" cy="36576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80" y="525780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386965"/>
            <a:ext cx="4429720" cy="173736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480" y="2590800"/>
            <a:ext cx="190500" cy="1714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480" y="2905125"/>
            <a:ext cx="4063960" cy="103632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4307205"/>
            <a:ext cx="4429720" cy="16573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83161" y="2406015"/>
            <a:ext cx="175260" cy="17526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83161" y="2783205"/>
            <a:ext cx="2018347" cy="6096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6134" y="2905125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23428" y="2783205"/>
            <a:ext cx="2018467" cy="6096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56402" y="2905125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63814" y="2783205"/>
            <a:ext cx="2018347" cy="6096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96788" y="2905125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83161" y="3514725"/>
            <a:ext cx="2018347" cy="613886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97084" y="3636645"/>
            <a:ext cx="190500" cy="1524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23428" y="3514725"/>
            <a:ext cx="2018467" cy="613886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64021" y="3636645"/>
            <a:ext cx="137160" cy="156686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563814" y="3514725"/>
            <a:ext cx="2018347" cy="613886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553938" y="3636645"/>
            <a:ext cx="38100" cy="1524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283161" y="4250531"/>
            <a:ext cx="2018347" cy="6096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16134" y="4372451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23428" y="4250531"/>
            <a:ext cx="2018467" cy="6096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337352" y="4372451"/>
            <a:ext cx="190500" cy="1524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563814" y="4250531"/>
            <a:ext cx="2018347" cy="6096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496788" y="4372451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09600" y="6004560"/>
            <a:ext cx="10972800" cy="396240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1097280" y="563880"/>
            <a:ext cx="4400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spc="210" kern="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 VISUALIZATION ENGINE</a:t>
            </a:r>
            <a:endParaRPr lang="en-US" sz="1050" dirty="0"/>
          </a:p>
        </p:txBody>
      </p:sp>
      <p:sp>
        <p:nvSpPr>
          <p:cNvPr id="30" name="Text 1"/>
          <p:cNvSpPr/>
          <p:nvPr/>
        </p:nvSpPr>
        <p:spPr>
          <a:xfrm>
            <a:off x="609600" y="88392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Package: ggplot2</a:t>
            </a:r>
            <a:endParaRPr lang="en-US" sz="3600" dirty="0"/>
          </a:p>
        </p:txBody>
      </p:sp>
      <p:sp>
        <p:nvSpPr>
          <p:cNvPr id="31" name="Text 2"/>
          <p:cNvSpPr/>
          <p:nvPr/>
        </p:nvSpPr>
        <p:spPr>
          <a:xfrm>
            <a:off x="609600" y="1463040"/>
            <a:ext cx="682752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38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industry-standard library for creating elegant, multi-layered statistical graphics based on the Grammar of Graphics.</a:t>
            </a:r>
            <a:endParaRPr lang="en-US" sz="1500" dirty="0"/>
          </a:p>
        </p:txBody>
      </p:sp>
      <p:sp>
        <p:nvSpPr>
          <p:cNvPr id="32" name="Text 3"/>
          <p:cNvSpPr/>
          <p:nvPr/>
        </p:nvSpPr>
        <p:spPr>
          <a:xfrm>
            <a:off x="1043940" y="2569845"/>
            <a:ext cx="40639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Functions</a:t>
            </a:r>
            <a:endParaRPr lang="en-US" sz="1350" dirty="0"/>
          </a:p>
        </p:txBody>
      </p:sp>
      <p:sp>
        <p:nvSpPr>
          <p:cNvPr id="33" name="Text 4"/>
          <p:cNvSpPr/>
          <p:nvPr/>
        </p:nvSpPr>
        <p:spPr>
          <a:xfrm>
            <a:off x="914400" y="3027045"/>
            <a:ext cx="4600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ggplot(data, aes(x, y))</a:t>
            </a:r>
            <a:endParaRPr lang="en-US" sz="1050" dirty="0"/>
          </a:p>
        </p:txBody>
      </p:sp>
      <p:sp>
        <p:nvSpPr>
          <p:cNvPr id="34" name="Text 5"/>
          <p:cNvSpPr/>
          <p:nvPr/>
        </p:nvSpPr>
        <p:spPr>
          <a:xfrm>
            <a:off x="914400" y="3240405"/>
            <a:ext cx="6600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geom_histogram() / geom_boxplot()</a:t>
            </a:r>
            <a:endParaRPr lang="en-US" sz="1050" dirty="0"/>
          </a:p>
        </p:txBody>
      </p:sp>
      <p:sp>
        <p:nvSpPr>
          <p:cNvPr id="35" name="Text 6"/>
          <p:cNvSpPr/>
          <p:nvPr/>
        </p:nvSpPr>
        <p:spPr>
          <a:xfrm>
            <a:off x="914400" y="3453765"/>
            <a:ext cx="6000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geom_density() / geom_smooth()</a:t>
            </a:r>
            <a:endParaRPr lang="en-US" sz="1050" dirty="0"/>
          </a:p>
        </p:txBody>
      </p:sp>
      <p:sp>
        <p:nvSpPr>
          <p:cNvPr id="36" name="Text 7"/>
          <p:cNvSpPr/>
          <p:nvPr/>
        </p:nvSpPr>
        <p:spPr>
          <a:xfrm>
            <a:off x="914400" y="3667125"/>
            <a:ext cx="4600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stat_qq() / stat_ecdf()</a:t>
            </a:r>
            <a:endParaRPr lang="en-US" sz="1050" dirty="0"/>
          </a:p>
        </p:txBody>
      </p:sp>
      <p:sp>
        <p:nvSpPr>
          <p:cNvPr id="37" name="Text 8"/>
          <p:cNvSpPr/>
          <p:nvPr/>
        </p:nvSpPr>
        <p:spPr>
          <a:xfrm>
            <a:off x="792480" y="4490085"/>
            <a:ext cx="40639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Role</a:t>
            </a:r>
            <a:endParaRPr lang="en-US" sz="1350" dirty="0"/>
          </a:p>
        </p:txBody>
      </p:sp>
      <p:sp>
        <p:nvSpPr>
          <p:cNvPr id="38" name="Text 9"/>
          <p:cNvSpPr/>
          <p:nvPr/>
        </p:nvSpPr>
        <p:spPr>
          <a:xfrm>
            <a:off x="792480" y="4794885"/>
            <a:ext cx="406396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Responsible for generating high-quality, professional visualizations that adapt to data distribution and skewness.</a:t>
            </a:r>
            <a:endParaRPr lang="en-US" sz="1200" dirty="0"/>
          </a:p>
        </p:txBody>
      </p:sp>
      <p:sp>
        <p:nvSpPr>
          <p:cNvPr id="39" name="Text 10"/>
          <p:cNvSpPr/>
          <p:nvPr/>
        </p:nvSpPr>
        <p:spPr>
          <a:xfrm>
            <a:off x="792480" y="5659755"/>
            <a:ext cx="474345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60"/>
              </a:lnSpc>
              <a:buNone/>
            </a:pPr>
            <a:r>
              <a:rPr lang="en-US" sz="900" dirty="0">
                <a:solidFill>
                  <a:srgbClr val="9CA3AF"/>
                </a:solidFill>
              </a:rPr>
              <a:t>install.packages("ggplot2")</a:t>
            </a:r>
            <a:endParaRPr lang="en-US" sz="900" dirty="0"/>
          </a:p>
        </p:txBody>
      </p:sp>
      <p:sp>
        <p:nvSpPr>
          <p:cNvPr id="40" name="Text 11"/>
          <p:cNvSpPr/>
          <p:nvPr/>
        </p:nvSpPr>
        <p:spPr>
          <a:xfrm>
            <a:off x="5519381" y="2386965"/>
            <a:ext cx="6672619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9 Professional Plot Types</a:t>
            </a:r>
            <a:endParaRPr lang="en-US" sz="1350" dirty="0"/>
          </a:p>
        </p:txBody>
      </p:sp>
      <p:sp>
        <p:nvSpPr>
          <p:cNvPr id="41" name="Text 12"/>
          <p:cNvSpPr/>
          <p:nvPr/>
        </p:nvSpPr>
        <p:spPr>
          <a:xfrm>
            <a:off x="5953244" y="3118485"/>
            <a:ext cx="678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Histogram</a:t>
            </a:r>
            <a:endParaRPr lang="en-US" sz="1050" dirty="0"/>
          </a:p>
        </p:txBody>
      </p:sp>
      <p:sp>
        <p:nvSpPr>
          <p:cNvPr id="42" name="Text 13"/>
          <p:cNvSpPr/>
          <p:nvPr/>
        </p:nvSpPr>
        <p:spPr>
          <a:xfrm>
            <a:off x="8181142" y="3118485"/>
            <a:ext cx="5029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Boxplot</a:t>
            </a:r>
            <a:endParaRPr lang="en-US" sz="1050" dirty="0"/>
          </a:p>
        </p:txBody>
      </p:sp>
      <p:sp>
        <p:nvSpPr>
          <p:cNvPr id="43" name="Text 14"/>
          <p:cNvSpPr/>
          <p:nvPr/>
        </p:nvSpPr>
        <p:spPr>
          <a:xfrm>
            <a:off x="10184368" y="3118485"/>
            <a:ext cx="7772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Density Plot</a:t>
            </a:r>
            <a:endParaRPr lang="en-US" sz="1050" dirty="0"/>
          </a:p>
        </p:txBody>
      </p:sp>
      <p:sp>
        <p:nvSpPr>
          <p:cNvPr id="44" name="Text 15"/>
          <p:cNvSpPr/>
          <p:nvPr/>
        </p:nvSpPr>
        <p:spPr>
          <a:xfrm>
            <a:off x="6059924" y="3850005"/>
            <a:ext cx="4648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SD Plot</a:t>
            </a:r>
            <a:endParaRPr lang="en-US" sz="1050" dirty="0"/>
          </a:p>
        </p:txBody>
      </p:sp>
      <p:sp>
        <p:nvSpPr>
          <p:cNvPr id="45" name="Text 16"/>
          <p:cNvSpPr/>
          <p:nvPr/>
        </p:nvSpPr>
        <p:spPr>
          <a:xfrm>
            <a:off x="7986832" y="3854291"/>
            <a:ext cx="8915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 Curve</a:t>
            </a:r>
            <a:endParaRPr lang="en-US" sz="1050" dirty="0"/>
          </a:p>
        </p:txBody>
      </p:sp>
      <p:sp>
        <p:nvSpPr>
          <p:cNvPr id="46" name="Text 17"/>
          <p:cNvSpPr/>
          <p:nvPr/>
        </p:nvSpPr>
        <p:spPr>
          <a:xfrm>
            <a:off x="10294859" y="3850005"/>
            <a:ext cx="5562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Q-Q Plot</a:t>
            </a:r>
            <a:endParaRPr lang="en-US" sz="1050" dirty="0"/>
          </a:p>
        </p:txBody>
      </p:sp>
      <p:sp>
        <p:nvSpPr>
          <p:cNvPr id="47" name="Text 18"/>
          <p:cNvSpPr/>
          <p:nvPr/>
        </p:nvSpPr>
        <p:spPr>
          <a:xfrm>
            <a:off x="6113264" y="4585811"/>
            <a:ext cx="3581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ECDF</a:t>
            </a:r>
            <a:endParaRPr lang="en-US" sz="1050" dirty="0"/>
          </a:p>
        </p:txBody>
      </p:sp>
      <p:sp>
        <p:nvSpPr>
          <p:cNvPr id="48" name="Text 19"/>
          <p:cNvSpPr/>
          <p:nvPr/>
        </p:nvSpPr>
        <p:spPr>
          <a:xfrm>
            <a:off x="8066842" y="4585811"/>
            <a:ext cx="7315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Correlation</a:t>
            </a:r>
            <a:endParaRPr lang="en-US" sz="1050" dirty="0"/>
          </a:p>
        </p:txBody>
      </p:sp>
      <p:sp>
        <p:nvSpPr>
          <p:cNvPr id="49" name="Text 20"/>
          <p:cNvSpPr/>
          <p:nvPr/>
        </p:nvSpPr>
        <p:spPr>
          <a:xfrm>
            <a:off x="10207228" y="4585811"/>
            <a:ext cx="7315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Regression</a:t>
            </a:r>
            <a:endParaRPr lang="en-US" sz="1050" dirty="0"/>
          </a:p>
        </p:txBody>
      </p:sp>
      <p:sp>
        <p:nvSpPr>
          <p:cNvPr id="50" name="Text 21"/>
          <p:cNvSpPr/>
          <p:nvPr/>
        </p:nvSpPr>
        <p:spPr>
          <a:xfrm>
            <a:off x="609600" y="6248400"/>
            <a:ext cx="6600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spc="105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STATISTICAL ANALYSIS SYSTEM</a:t>
            </a:r>
            <a:endParaRPr lang="en-US" sz="1050" dirty="0"/>
          </a:p>
        </p:txBody>
      </p:sp>
      <p:sp>
        <p:nvSpPr>
          <p:cNvPr id="51" name="Text 22"/>
          <p:cNvSpPr/>
          <p:nvPr/>
        </p:nvSpPr>
        <p:spPr>
          <a:xfrm>
            <a:off x="8869680" y="6248400"/>
            <a:ext cx="33223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Scientific Computation | Team Black Knight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53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53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3683" y="505992"/>
            <a:ext cx="72285" cy="7228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3313" y="589995"/>
            <a:ext cx="1798079" cy="433708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0166" y="746000"/>
            <a:ext cx="117463" cy="146828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61" y="1432985"/>
            <a:ext cx="5475275" cy="941111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561" y="2590951"/>
            <a:ext cx="5475275" cy="51502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059" y="2764744"/>
            <a:ext cx="216854" cy="16744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61" y="3214405"/>
            <a:ext cx="5475275" cy="505992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059" y="3383681"/>
            <a:ext cx="216854" cy="167441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0561" y="3828824"/>
            <a:ext cx="5475275" cy="515028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7059" y="4002618"/>
            <a:ext cx="216854" cy="16744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0561" y="5340024"/>
            <a:ext cx="5475275" cy="650561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7415" y="5570431"/>
            <a:ext cx="189747" cy="189747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87259" y="1452610"/>
            <a:ext cx="153605" cy="115204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87259" y="1649839"/>
            <a:ext cx="5054133" cy="163445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87259" y="3484202"/>
            <a:ext cx="135534" cy="11605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87259" y="3681855"/>
            <a:ext cx="5054133" cy="1337265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740255" y="4260132"/>
            <a:ext cx="4548140" cy="180712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740255" y="4440843"/>
            <a:ext cx="4548140" cy="180711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87259" y="5218608"/>
            <a:ext cx="126498" cy="116757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87259" y="5416685"/>
            <a:ext cx="5054133" cy="445849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0561" y="6135155"/>
            <a:ext cx="10890831" cy="32528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650561" y="469850"/>
            <a:ext cx="3277362" cy="14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38"/>
              </a:lnSpc>
              <a:buNone/>
            </a:pPr>
            <a:r>
              <a:rPr lang="en-US" sz="900" b="1" spc="228" kern="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 PACKAGE · 03 OF 08</a:t>
            </a:r>
            <a:endParaRPr lang="en-US" sz="900" dirty="0"/>
          </a:p>
        </p:txBody>
      </p:sp>
      <p:sp>
        <p:nvSpPr>
          <p:cNvPr id="26" name="Text 1"/>
          <p:cNvSpPr/>
          <p:nvPr/>
        </p:nvSpPr>
        <p:spPr>
          <a:xfrm>
            <a:off x="2854394" y="469850"/>
            <a:ext cx="1590485" cy="14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38"/>
              </a:lnSpc>
              <a:buNone/>
            </a:pPr>
            <a:r>
              <a:rPr lang="en-US" sz="900" spc="76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IMPORT</a:t>
            </a:r>
            <a:endParaRPr lang="en-US" sz="900" dirty="0"/>
          </a:p>
        </p:txBody>
      </p:sp>
      <p:sp>
        <p:nvSpPr>
          <p:cNvPr id="27" name="Text 2"/>
          <p:cNvSpPr/>
          <p:nvPr/>
        </p:nvSpPr>
        <p:spPr>
          <a:xfrm>
            <a:off x="650561" y="686704"/>
            <a:ext cx="8097012" cy="45714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76" kern="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Package: </a:t>
            </a:r>
            <a:pPr indent="0" marL="0">
              <a:lnSpc>
                <a:spcPts val="3600"/>
              </a:lnSpc>
              <a:buNone/>
            </a:pPr>
            <a:r>
              <a:rPr lang="en-US" sz="3600" b="1" spc="-76" kern="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readr</a:t>
            </a:r>
            <a:endParaRPr lang="en-US" sz="3600" dirty="0"/>
          </a:p>
        </p:txBody>
      </p:sp>
      <p:sp>
        <p:nvSpPr>
          <p:cNvPr id="28" name="Text 3"/>
          <p:cNvSpPr/>
          <p:nvPr/>
        </p:nvSpPr>
        <p:spPr>
          <a:xfrm>
            <a:off x="10149914" y="589995"/>
            <a:ext cx="2042086" cy="43370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8"/>
              </a:lnSpc>
              <a:buNone/>
            </a:pPr>
            <a:r>
              <a:rPr lang="en-US" sz="120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CSV File Reader</a:t>
            </a:r>
            <a:endParaRPr lang="en-US" sz="1200" dirty="0"/>
          </a:p>
        </p:txBody>
      </p:sp>
      <p:sp>
        <p:nvSpPr>
          <p:cNvPr id="29" name="Text 4"/>
          <p:cNvSpPr/>
          <p:nvPr/>
        </p:nvSpPr>
        <p:spPr>
          <a:xfrm>
            <a:off x="867415" y="1577555"/>
            <a:ext cx="5041567" cy="14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38"/>
              </a:lnSpc>
              <a:buNone/>
            </a:pPr>
            <a:r>
              <a:rPr lang="en-US" sz="900" b="1" spc="76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</a:t>
            </a:r>
            <a:endParaRPr lang="en-US" sz="900" dirty="0"/>
          </a:p>
        </p:txBody>
      </p:sp>
      <p:sp>
        <p:nvSpPr>
          <p:cNvPr id="30" name="Text 5"/>
          <p:cNvSpPr/>
          <p:nvPr/>
        </p:nvSpPr>
        <p:spPr>
          <a:xfrm>
            <a:off x="867415" y="1758266"/>
            <a:ext cx="5041567" cy="47126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56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fast, reliable CSV file import with automatic column type detection — no manual type specification required.</a:t>
            </a:r>
            <a:endParaRPr lang="en-US" sz="1350" dirty="0"/>
          </a:p>
        </p:txBody>
      </p:sp>
      <p:sp>
        <p:nvSpPr>
          <p:cNvPr id="31" name="Text 6"/>
          <p:cNvSpPr/>
          <p:nvPr/>
        </p:nvSpPr>
        <p:spPr>
          <a:xfrm>
            <a:off x="1084269" y="2681306"/>
            <a:ext cx="3495496" cy="18071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23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Performance</a:t>
            </a:r>
            <a:endParaRPr lang="en-US" sz="1050" dirty="0"/>
          </a:p>
        </p:txBody>
      </p:sp>
      <p:sp>
        <p:nvSpPr>
          <p:cNvPr id="32" name="Text 7"/>
          <p:cNvSpPr/>
          <p:nvPr/>
        </p:nvSpPr>
        <p:spPr>
          <a:xfrm>
            <a:off x="1084269" y="2862018"/>
            <a:ext cx="9253728" cy="15360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38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Significantly faster than base R's </a:t>
            </a:r>
            <a:pPr indent="0" marL="0">
              <a:lnSpc>
                <a:spcPts val="1138"/>
              </a:lnSpc>
              <a:buNone/>
            </a:pPr>
            <a:r>
              <a:rPr lang="en-US" sz="900" dirty="0">
                <a:solidFill>
                  <a:srgbClr val="D84315"/>
                </a:solidFill>
              </a:rPr>
              <a:t>read.csv()</a:t>
            </a:r>
            <a:pPr indent="0" marL="0">
              <a:lnSpc>
                <a:spcPts val="1138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large datasets</a:t>
            </a:r>
            <a:endParaRPr lang="en-US" sz="900" dirty="0"/>
          </a:p>
        </p:txBody>
      </p:sp>
      <p:sp>
        <p:nvSpPr>
          <p:cNvPr id="33" name="Text 8"/>
          <p:cNvSpPr/>
          <p:nvPr/>
        </p:nvSpPr>
        <p:spPr>
          <a:xfrm>
            <a:off x="1084269" y="3304761"/>
            <a:ext cx="4385872" cy="18071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23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 Column Type Detection</a:t>
            </a:r>
            <a:endParaRPr lang="en-US" sz="1050" dirty="0"/>
          </a:p>
        </p:txBody>
      </p:sp>
      <p:sp>
        <p:nvSpPr>
          <p:cNvPr id="34" name="Text 9"/>
          <p:cNvSpPr/>
          <p:nvPr/>
        </p:nvSpPr>
        <p:spPr>
          <a:xfrm>
            <a:off x="1084269" y="3485472"/>
            <a:ext cx="9253728" cy="14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38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Automatically infers numeric, character, date, and logical types</a:t>
            </a:r>
            <a:endParaRPr lang="en-US" sz="900" dirty="0"/>
          </a:p>
        </p:txBody>
      </p:sp>
      <p:sp>
        <p:nvSpPr>
          <p:cNvPr id="35" name="Text 10"/>
          <p:cNvSpPr/>
          <p:nvPr/>
        </p:nvSpPr>
        <p:spPr>
          <a:xfrm>
            <a:off x="1084269" y="3919180"/>
            <a:ext cx="4055984" cy="18071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23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Silent Import Mode</a:t>
            </a:r>
            <a:endParaRPr lang="en-US" sz="1050" dirty="0"/>
          </a:p>
        </p:txBody>
      </p:sp>
      <p:sp>
        <p:nvSpPr>
          <p:cNvPr id="36" name="Text 11"/>
          <p:cNvSpPr/>
          <p:nvPr/>
        </p:nvSpPr>
        <p:spPr>
          <a:xfrm>
            <a:off x="1084269" y="4099891"/>
            <a:ext cx="9687496" cy="15360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38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Parameter </a:t>
            </a:r>
            <a:pPr indent="0" marL="0">
              <a:lnSpc>
                <a:spcPts val="1138"/>
              </a:lnSpc>
              <a:buNone/>
            </a:pPr>
            <a:r>
              <a:rPr lang="en-US" sz="900" dirty="0">
                <a:solidFill>
                  <a:srgbClr val="D84315"/>
                </a:solidFill>
              </a:rPr>
              <a:t>show_col_types = FALSE</a:t>
            </a:r>
            <a:pPr indent="0" marL="0">
              <a:lnSpc>
                <a:spcPts val="1138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suppresses console output in Shiny</a:t>
            </a:r>
            <a:endParaRPr lang="en-US" sz="900" dirty="0"/>
          </a:p>
        </p:txBody>
      </p:sp>
      <p:sp>
        <p:nvSpPr>
          <p:cNvPr id="37" name="Text 12"/>
          <p:cNvSpPr/>
          <p:nvPr/>
        </p:nvSpPr>
        <p:spPr>
          <a:xfrm>
            <a:off x="1201731" y="5484593"/>
            <a:ext cx="4707251" cy="3614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23"/>
              </a:lnSpc>
              <a:buNone/>
            </a:pPr>
            <a:r>
              <a:rPr lang="en-US" sz="1050" b="1" dirty="0">
                <a:solidFill>
                  <a:srgbClr val="D84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in System:</a:t>
            </a:r>
            <a:pPr indent="0" marL="0">
              <a:lnSpc>
                <a:spcPts val="1423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Handles the </a:t>
            </a:r>
            <a:pPr indent="0" marL="0">
              <a:lnSpc>
                <a:spcPts val="1423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.csv</a:t>
            </a:r>
            <a:pPr indent="0" marL="0">
              <a:lnSpc>
                <a:spcPts val="1423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branch in the file upload switch — one of three supported import formats.</a:t>
            </a:r>
            <a:endParaRPr lang="en-US" sz="1050" dirty="0"/>
          </a:p>
        </p:txBody>
      </p:sp>
      <p:sp>
        <p:nvSpPr>
          <p:cNvPr id="38" name="Text 13"/>
          <p:cNvSpPr/>
          <p:nvPr/>
        </p:nvSpPr>
        <p:spPr>
          <a:xfrm>
            <a:off x="6713148" y="1432985"/>
            <a:ext cx="5054133" cy="14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38"/>
              </a:lnSpc>
              <a:buNone/>
            </a:pPr>
            <a:r>
              <a:rPr lang="en-US" sz="900" b="1" spc="76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FUNCTION &amp; USAGE</a:t>
            </a:r>
            <a:endParaRPr lang="en-US" sz="900" dirty="0"/>
          </a:p>
        </p:txBody>
      </p:sp>
      <p:sp>
        <p:nvSpPr>
          <p:cNvPr id="39" name="Text 14"/>
          <p:cNvSpPr/>
          <p:nvPr/>
        </p:nvSpPr>
        <p:spPr>
          <a:xfrm>
            <a:off x="6740255" y="1893800"/>
            <a:ext cx="5451745" cy="1716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050" i="1" dirty="0">
                <a:solidFill>
                  <a:srgbClr val="6B7280"/>
                </a:solidFill>
              </a:rPr>
              <a:t># Read a CSV file in the Shiny server</a:t>
            </a:r>
            <a:endParaRPr lang="en-US" sz="1050" dirty="0"/>
          </a:p>
        </p:txBody>
      </p:sp>
      <p:sp>
        <p:nvSpPr>
          <p:cNvPr id="40" name="Text 15"/>
          <p:cNvSpPr/>
          <p:nvPr/>
        </p:nvSpPr>
        <p:spPr>
          <a:xfrm>
            <a:off x="6740255" y="2133948"/>
            <a:ext cx="337375" cy="1716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7DD3FC"/>
                </a:solidFill>
              </a:rPr>
              <a:t>df</a:t>
            </a:r>
            <a:endParaRPr lang="en-US" sz="1050" dirty="0"/>
          </a:p>
        </p:txBody>
      </p:sp>
      <p:sp>
        <p:nvSpPr>
          <p:cNvPr id="41" name="Text 16"/>
          <p:cNvSpPr/>
          <p:nvPr/>
        </p:nvSpPr>
        <p:spPr>
          <a:xfrm>
            <a:off x="6984216" y="2133948"/>
            <a:ext cx="337375" cy="1716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&lt;-</a:t>
            </a:r>
            <a:endParaRPr lang="en-US" sz="1050" dirty="0"/>
          </a:p>
        </p:txBody>
      </p:sp>
      <p:sp>
        <p:nvSpPr>
          <p:cNvPr id="42" name="Text 17"/>
          <p:cNvSpPr/>
          <p:nvPr/>
        </p:nvSpPr>
        <p:spPr>
          <a:xfrm>
            <a:off x="7228176" y="2133948"/>
            <a:ext cx="843437" cy="1716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86EFAC"/>
                </a:solidFill>
              </a:rPr>
              <a:t>readr</a:t>
            </a:r>
            <a:endParaRPr lang="en-US" sz="1050" dirty="0"/>
          </a:p>
        </p:txBody>
      </p:sp>
      <p:sp>
        <p:nvSpPr>
          <p:cNvPr id="43" name="Text 18"/>
          <p:cNvSpPr/>
          <p:nvPr/>
        </p:nvSpPr>
        <p:spPr>
          <a:xfrm>
            <a:off x="7634777" y="2133948"/>
            <a:ext cx="337375" cy="1716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::</a:t>
            </a:r>
            <a:endParaRPr lang="en-US" sz="1050" dirty="0"/>
          </a:p>
        </p:txBody>
      </p:sp>
      <p:sp>
        <p:nvSpPr>
          <p:cNvPr id="44" name="Text 19"/>
          <p:cNvSpPr/>
          <p:nvPr/>
        </p:nvSpPr>
        <p:spPr>
          <a:xfrm>
            <a:off x="7797418" y="2133948"/>
            <a:ext cx="1349499" cy="1716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86EFAC"/>
                </a:solidFill>
              </a:rPr>
              <a:t>read_csv</a:t>
            </a:r>
            <a:endParaRPr lang="en-US" sz="1050" dirty="0"/>
          </a:p>
        </p:txBody>
      </p:sp>
      <p:sp>
        <p:nvSpPr>
          <p:cNvPr id="45" name="Text 20"/>
          <p:cNvSpPr/>
          <p:nvPr/>
        </p:nvSpPr>
        <p:spPr>
          <a:xfrm>
            <a:off x="8447979" y="2133948"/>
            <a:ext cx="168687" cy="1716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(</a:t>
            </a:r>
            <a:endParaRPr lang="en-US" sz="1050" dirty="0"/>
          </a:p>
        </p:txBody>
      </p:sp>
      <p:sp>
        <p:nvSpPr>
          <p:cNvPr id="46" name="Text 21"/>
          <p:cNvSpPr/>
          <p:nvPr/>
        </p:nvSpPr>
        <p:spPr>
          <a:xfrm>
            <a:off x="6957109" y="2374097"/>
            <a:ext cx="674749" cy="1716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C4B5FD"/>
                </a:solidFill>
              </a:rPr>
              <a:t>path</a:t>
            </a:r>
            <a:endParaRPr lang="en-US" sz="1050" dirty="0"/>
          </a:p>
        </p:txBody>
      </p:sp>
      <p:sp>
        <p:nvSpPr>
          <p:cNvPr id="47" name="Text 22"/>
          <p:cNvSpPr/>
          <p:nvPr/>
        </p:nvSpPr>
        <p:spPr>
          <a:xfrm>
            <a:off x="7363710" y="2374097"/>
            <a:ext cx="168687" cy="1716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=</a:t>
            </a:r>
            <a:endParaRPr lang="en-US" sz="1050" dirty="0"/>
          </a:p>
        </p:txBody>
      </p:sp>
      <p:sp>
        <p:nvSpPr>
          <p:cNvPr id="48" name="Text 23"/>
          <p:cNvSpPr/>
          <p:nvPr/>
        </p:nvSpPr>
        <p:spPr>
          <a:xfrm>
            <a:off x="7526350" y="2374097"/>
            <a:ext cx="3205060" cy="1716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FDE68A"/>
                </a:solidFill>
              </a:rPr>
              <a:t>input$file$datapath</a:t>
            </a:r>
            <a:endParaRPr lang="en-US" sz="1050" dirty="0"/>
          </a:p>
        </p:txBody>
      </p:sp>
      <p:sp>
        <p:nvSpPr>
          <p:cNvPr id="49" name="Text 24"/>
          <p:cNvSpPr/>
          <p:nvPr/>
        </p:nvSpPr>
        <p:spPr>
          <a:xfrm>
            <a:off x="9071433" y="2374097"/>
            <a:ext cx="168687" cy="1716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,</a:t>
            </a:r>
            <a:endParaRPr lang="en-US" sz="1050" dirty="0"/>
          </a:p>
        </p:txBody>
      </p:sp>
      <p:sp>
        <p:nvSpPr>
          <p:cNvPr id="50" name="Text 25"/>
          <p:cNvSpPr/>
          <p:nvPr/>
        </p:nvSpPr>
        <p:spPr>
          <a:xfrm>
            <a:off x="6957109" y="2614246"/>
            <a:ext cx="2361623" cy="1716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C4B5FD"/>
                </a:solidFill>
              </a:rPr>
              <a:t>show_col_types</a:t>
            </a:r>
            <a:endParaRPr lang="en-US" sz="1050" dirty="0"/>
          </a:p>
        </p:txBody>
      </p:sp>
      <p:sp>
        <p:nvSpPr>
          <p:cNvPr id="51" name="Text 26"/>
          <p:cNvSpPr/>
          <p:nvPr/>
        </p:nvSpPr>
        <p:spPr>
          <a:xfrm>
            <a:off x="8176911" y="2614246"/>
            <a:ext cx="168687" cy="1716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=</a:t>
            </a:r>
            <a:endParaRPr lang="en-US" sz="1050" dirty="0"/>
          </a:p>
        </p:txBody>
      </p:sp>
      <p:sp>
        <p:nvSpPr>
          <p:cNvPr id="52" name="Text 27"/>
          <p:cNvSpPr/>
          <p:nvPr/>
        </p:nvSpPr>
        <p:spPr>
          <a:xfrm>
            <a:off x="8339552" y="2614246"/>
            <a:ext cx="843437" cy="1716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7DD3FC"/>
                </a:solidFill>
              </a:rPr>
              <a:t>FALSE</a:t>
            </a:r>
            <a:endParaRPr lang="en-US" sz="1050" dirty="0"/>
          </a:p>
        </p:txBody>
      </p:sp>
      <p:sp>
        <p:nvSpPr>
          <p:cNvPr id="53" name="Text 28"/>
          <p:cNvSpPr/>
          <p:nvPr/>
        </p:nvSpPr>
        <p:spPr>
          <a:xfrm>
            <a:off x="6740255" y="2854394"/>
            <a:ext cx="168687" cy="1716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)</a:t>
            </a:r>
            <a:endParaRPr lang="en-US" sz="1050" dirty="0"/>
          </a:p>
        </p:txBody>
      </p:sp>
      <p:sp>
        <p:nvSpPr>
          <p:cNvPr id="54" name="Text 29"/>
          <p:cNvSpPr/>
          <p:nvPr/>
        </p:nvSpPr>
        <p:spPr>
          <a:xfrm>
            <a:off x="6695077" y="3465001"/>
            <a:ext cx="5054133" cy="14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38"/>
              </a:lnSpc>
              <a:buNone/>
            </a:pPr>
            <a:r>
              <a:rPr lang="en-US" sz="900" b="1" spc="76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IN FILE UPLOAD LOGIC</a:t>
            </a:r>
            <a:endParaRPr lang="en-US" sz="900" dirty="0"/>
          </a:p>
        </p:txBody>
      </p:sp>
      <p:sp>
        <p:nvSpPr>
          <p:cNvPr id="55" name="Text 30"/>
          <p:cNvSpPr/>
          <p:nvPr/>
        </p:nvSpPr>
        <p:spPr>
          <a:xfrm>
            <a:off x="6740255" y="3898709"/>
            <a:ext cx="337375" cy="1716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23"/>
              </a:lnSpc>
              <a:buNone/>
            </a:pPr>
            <a:r>
              <a:rPr lang="en-US" sz="1050" dirty="0">
                <a:solidFill>
                  <a:srgbClr val="7DD3FC"/>
                </a:solidFill>
              </a:rPr>
              <a:t>df</a:t>
            </a:r>
            <a:endParaRPr lang="en-US" sz="1050" dirty="0"/>
          </a:p>
        </p:txBody>
      </p:sp>
      <p:sp>
        <p:nvSpPr>
          <p:cNvPr id="56" name="Text 31"/>
          <p:cNvSpPr/>
          <p:nvPr/>
        </p:nvSpPr>
        <p:spPr>
          <a:xfrm>
            <a:off x="6984216" y="3898709"/>
            <a:ext cx="506062" cy="1716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23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&lt;- </a:t>
            </a:r>
            <a:endParaRPr lang="en-US" sz="1050" dirty="0"/>
          </a:p>
        </p:txBody>
      </p:sp>
      <p:sp>
        <p:nvSpPr>
          <p:cNvPr id="57" name="Text 32"/>
          <p:cNvSpPr/>
          <p:nvPr/>
        </p:nvSpPr>
        <p:spPr>
          <a:xfrm>
            <a:off x="7228176" y="3898709"/>
            <a:ext cx="1012124" cy="1716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23"/>
              </a:lnSpc>
              <a:buNone/>
            </a:pPr>
            <a:r>
              <a:rPr lang="en-US" sz="1050" dirty="0">
                <a:solidFill>
                  <a:srgbClr val="86EFAC"/>
                </a:solidFill>
              </a:rPr>
              <a:t>switch</a:t>
            </a:r>
            <a:endParaRPr lang="en-US" sz="1050" dirty="0"/>
          </a:p>
        </p:txBody>
      </p:sp>
      <p:sp>
        <p:nvSpPr>
          <p:cNvPr id="58" name="Text 33"/>
          <p:cNvSpPr/>
          <p:nvPr/>
        </p:nvSpPr>
        <p:spPr>
          <a:xfrm>
            <a:off x="7716097" y="3898709"/>
            <a:ext cx="843437" cy="1716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23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(ext,</a:t>
            </a:r>
            <a:endParaRPr lang="en-US" sz="1050" dirty="0"/>
          </a:p>
        </p:txBody>
      </p:sp>
      <p:sp>
        <p:nvSpPr>
          <p:cNvPr id="59" name="Text 34"/>
          <p:cNvSpPr/>
          <p:nvPr/>
        </p:nvSpPr>
        <p:spPr>
          <a:xfrm>
            <a:off x="6957109" y="4079420"/>
            <a:ext cx="506062" cy="1716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23"/>
              </a:lnSpc>
              <a:buNone/>
            </a:pPr>
            <a:r>
              <a:rPr lang="en-US" sz="1050" dirty="0">
                <a:solidFill>
                  <a:srgbClr val="FDE68A"/>
                </a:solidFill>
              </a:rPr>
              <a:t>csv</a:t>
            </a:r>
            <a:endParaRPr lang="en-US" sz="1050" dirty="0"/>
          </a:p>
        </p:txBody>
      </p:sp>
      <p:sp>
        <p:nvSpPr>
          <p:cNvPr id="60" name="Text 35"/>
          <p:cNvSpPr/>
          <p:nvPr/>
        </p:nvSpPr>
        <p:spPr>
          <a:xfrm>
            <a:off x="7282390" y="4079420"/>
            <a:ext cx="337375" cy="1716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23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= </a:t>
            </a:r>
            <a:endParaRPr lang="en-US" sz="1050" dirty="0"/>
          </a:p>
        </p:txBody>
      </p:sp>
      <p:sp>
        <p:nvSpPr>
          <p:cNvPr id="61" name="Text 36"/>
          <p:cNvSpPr/>
          <p:nvPr/>
        </p:nvSpPr>
        <p:spPr>
          <a:xfrm>
            <a:off x="7445030" y="4079420"/>
            <a:ext cx="843437" cy="1716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23"/>
              </a:lnSpc>
              <a:buNone/>
            </a:pPr>
            <a:r>
              <a:rPr lang="en-US" sz="1050" dirty="0">
                <a:solidFill>
                  <a:srgbClr val="86EFAC"/>
                </a:solidFill>
              </a:rPr>
              <a:t>readr</a:t>
            </a:r>
            <a:endParaRPr lang="en-US" sz="1050" dirty="0"/>
          </a:p>
        </p:txBody>
      </p:sp>
      <p:sp>
        <p:nvSpPr>
          <p:cNvPr id="62" name="Text 37"/>
          <p:cNvSpPr/>
          <p:nvPr/>
        </p:nvSpPr>
        <p:spPr>
          <a:xfrm>
            <a:off x="7851631" y="4079420"/>
            <a:ext cx="337375" cy="1716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23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::</a:t>
            </a:r>
            <a:endParaRPr lang="en-US" sz="1050" dirty="0"/>
          </a:p>
        </p:txBody>
      </p:sp>
      <p:sp>
        <p:nvSpPr>
          <p:cNvPr id="63" name="Text 38"/>
          <p:cNvSpPr/>
          <p:nvPr/>
        </p:nvSpPr>
        <p:spPr>
          <a:xfrm>
            <a:off x="8014271" y="4079420"/>
            <a:ext cx="1349499" cy="1716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23"/>
              </a:lnSpc>
              <a:buNone/>
            </a:pPr>
            <a:r>
              <a:rPr lang="en-US" sz="1050" dirty="0">
                <a:solidFill>
                  <a:srgbClr val="86EFAC"/>
                </a:solidFill>
              </a:rPr>
              <a:t>read_csv</a:t>
            </a:r>
            <a:endParaRPr lang="en-US" sz="1050" dirty="0"/>
          </a:p>
        </p:txBody>
      </p:sp>
      <p:sp>
        <p:nvSpPr>
          <p:cNvPr id="64" name="Text 39"/>
          <p:cNvSpPr/>
          <p:nvPr/>
        </p:nvSpPr>
        <p:spPr>
          <a:xfrm>
            <a:off x="8664833" y="4079420"/>
            <a:ext cx="1180812" cy="1716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23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(path, </a:t>
            </a:r>
            <a:endParaRPr lang="en-US" sz="1050" dirty="0"/>
          </a:p>
        </p:txBody>
      </p:sp>
      <p:sp>
        <p:nvSpPr>
          <p:cNvPr id="65" name="Text 40"/>
          <p:cNvSpPr/>
          <p:nvPr/>
        </p:nvSpPr>
        <p:spPr>
          <a:xfrm>
            <a:off x="9234074" y="4079420"/>
            <a:ext cx="2361623" cy="1716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23"/>
              </a:lnSpc>
              <a:buNone/>
            </a:pPr>
            <a:r>
              <a:rPr lang="en-US" sz="1050" dirty="0">
                <a:solidFill>
                  <a:srgbClr val="C4B5FD"/>
                </a:solidFill>
              </a:rPr>
              <a:t>show_col_types</a:t>
            </a:r>
            <a:endParaRPr lang="en-US" sz="1050" dirty="0"/>
          </a:p>
        </p:txBody>
      </p:sp>
      <p:sp>
        <p:nvSpPr>
          <p:cNvPr id="66" name="Text 41"/>
          <p:cNvSpPr/>
          <p:nvPr/>
        </p:nvSpPr>
        <p:spPr>
          <a:xfrm>
            <a:off x="10372556" y="4079420"/>
            <a:ext cx="506062" cy="1716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23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 = </a:t>
            </a:r>
            <a:endParaRPr lang="en-US" sz="1050" dirty="0"/>
          </a:p>
        </p:txBody>
      </p:sp>
      <p:sp>
        <p:nvSpPr>
          <p:cNvPr id="67" name="Text 42"/>
          <p:cNvSpPr/>
          <p:nvPr/>
        </p:nvSpPr>
        <p:spPr>
          <a:xfrm>
            <a:off x="10616516" y="4079420"/>
            <a:ext cx="843437" cy="1716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23"/>
              </a:lnSpc>
              <a:buNone/>
            </a:pPr>
            <a:r>
              <a:rPr lang="en-US" sz="1050" dirty="0">
                <a:solidFill>
                  <a:srgbClr val="7DD3FC"/>
                </a:solidFill>
              </a:rPr>
              <a:t>FALSE</a:t>
            </a:r>
            <a:endParaRPr lang="en-US" sz="1050" dirty="0"/>
          </a:p>
        </p:txBody>
      </p:sp>
      <p:sp>
        <p:nvSpPr>
          <p:cNvPr id="68" name="Text 43"/>
          <p:cNvSpPr/>
          <p:nvPr/>
        </p:nvSpPr>
        <p:spPr>
          <a:xfrm>
            <a:off x="11023117" y="4079420"/>
            <a:ext cx="337375" cy="1716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23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),</a:t>
            </a:r>
            <a:endParaRPr lang="en-US" sz="1050" dirty="0"/>
          </a:p>
        </p:txBody>
      </p:sp>
      <p:sp>
        <p:nvSpPr>
          <p:cNvPr id="69" name="Text 44"/>
          <p:cNvSpPr/>
          <p:nvPr/>
        </p:nvSpPr>
        <p:spPr>
          <a:xfrm>
            <a:off x="6957109" y="4260132"/>
            <a:ext cx="674749" cy="1716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23"/>
              </a:lnSpc>
              <a:buNone/>
            </a:pPr>
            <a:r>
              <a:rPr lang="en-US" sz="1050" dirty="0">
                <a:solidFill>
                  <a:srgbClr val="FDE68A"/>
                </a:solidFill>
              </a:rPr>
              <a:t>xlsx</a:t>
            </a:r>
            <a:endParaRPr lang="en-US" sz="1050" dirty="0"/>
          </a:p>
        </p:txBody>
      </p:sp>
      <p:sp>
        <p:nvSpPr>
          <p:cNvPr id="70" name="Text 45"/>
          <p:cNvSpPr/>
          <p:nvPr/>
        </p:nvSpPr>
        <p:spPr>
          <a:xfrm>
            <a:off x="7363710" y="4260132"/>
            <a:ext cx="337375" cy="1716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23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= </a:t>
            </a:r>
            <a:endParaRPr lang="en-US" sz="1050" dirty="0"/>
          </a:p>
        </p:txBody>
      </p:sp>
      <p:sp>
        <p:nvSpPr>
          <p:cNvPr id="71" name="Text 46"/>
          <p:cNvSpPr/>
          <p:nvPr/>
        </p:nvSpPr>
        <p:spPr>
          <a:xfrm>
            <a:off x="7526350" y="4260132"/>
            <a:ext cx="4217184" cy="1716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23"/>
              </a:lnSpc>
              <a:buNone/>
            </a:pPr>
            <a:r>
              <a:rPr lang="en-US" sz="1050" i="1" dirty="0">
                <a:solidFill>
                  <a:srgbClr val="6B7280"/>
                </a:solidFill>
              </a:rPr>
              <a:t>readxl::read_excel(path),</a:t>
            </a:r>
            <a:endParaRPr lang="en-US" sz="1050" dirty="0"/>
          </a:p>
        </p:txBody>
      </p:sp>
      <p:sp>
        <p:nvSpPr>
          <p:cNvPr id="72" name="Text 47"/>
          <p:cNvSpPr/>
          <p:nvPr/>
        </p:nvSpPr>
        <p:spPr>
          <a:xfrm>
            <a:off x="6957109" y="4440843"/>
            <a:ext cx="506062" cy="1716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23"/>
              </a:lnSpc>
              <a:buNone/>
            </a:pPr>
            <a:r>
              <a:rPr lang="en-US" sz="1050" dirty="0">
                <a:solidFill>
                  <a:srgbClr val="FDE68A"/>
                </a:solidFill>
              </a:rPr>
              <a:t>sav</a:t>
            </a:r>
            <a:endParaRPr lang="en-US" sz="1050" dirty="0"/>
          </a:p>
        </p:txBody>
      </p:sp>
      <p:sp>
        <p:nvSpPr>
          <p:cNvPr id="73" name="Text 48"/>
          <p:cNvSpPr/>
          <p:nvPr/>
        </p:nvSpPr>
        <p:spPr>
          <a:xfrm>
            <a:off x="7282390" y="4440843"/>
            <a:ext cx="337375" cy="1716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23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= </a:t>
            </a:r>
            <a:endParaRPr lang="en-US" sz="1050" dirty="0"/>
          </a:p>
        </p:txBody>
      </p:sp>
      <p:sp>
        <p:nvSpPr>
          <p:cNvPr id="74" name="Text 49"/>
          <p:cNvSpPr/>
          <p:nvPr/>
        </p:nvSpPr>
        <p:spPr>
          <a:xfrm>
            <a:off x="7445030" y="4440843"/>
            <a:ext cx="3711122" cy="1716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23"/>
              </a:lnSpc>
              <a:buNone/>
            </a:pPr>
            <a:r>
              <a:rPr lang="en-US" sz="1050" i="1" dirty="0">
                <a:solidFill>
                  <a:srgbClr val="6B7280"/>
                </a:solidFill>
              </a:rPr>
              <a:t>haven::read_spss(path)</a:t>
            </a:r>
            <a:endParaRPr lang="en-US" sz="1050" dirty="0"/>
          </a:p>
        </p:txBody>
      </p:sp>
      <p:sp>
        <p:nvSpPr>
          <p:cNvPr id="75" name="Text 50"/>
          <p:cNvSpPr/>
          <p:nvPr/>
        </p:nvSpPr>
        <p:spPr>
          <a:xfrm>
            <a:off x="6740255" y="4621555"/>
            <a:ext cx="168687" cy="1716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23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)</a:t>
            </a:r>
            <a:endParaRPr lang="en-US" sz="1050" dirty="0"/>
          </a:p>
        </p:txBody>
      </p:sp>
      <p:sp>
        <p:nvSpPr>
          <p:cNvPr id="76" name="Text 51"/>
          <p:cNvSpPr/>
          <p:nvPr/>
        </p:nvSpPr>
        <p:spPr>
          <a:xfrm>
            <a:off x="6686042" y="5199831"/>
            <a:ext cx="5054133" cy="14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38"/>
              </a:lnSpc>
              <a:buNone/>
            </a:pPr>
            <a:r>
              <a:rPr lang="en-US" sz="900" b="1" spc="76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INSTALLATION</a:t>
            </a:r>
            <a:endParaRPr lang="en-US" sz="900" dirty="0"/>
          </a:p>
        </p:txBody>
      </p:sp>
      <p:sp>
        <p:nvSpPr>
          <p:cNvPr id="77" name="Text 52"/>
          <p:cNvSpPr/>
          <p:nvPr/>
        </p:nvSpPr>
        <p:spPr>
          <a:xfrm>
            <a:off x="6667971" y="5552219"/>
            <a:ext cx="2602602" cy="1716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19"/>
              </a:lnSpc>
              <a:buNone/>
            </a:pPr>
            <a:r>
              <a:rPr lang="en-US" sz="1012" dirty="0">
                <a:solidFill>
                  <a:srgbClr val="86EFAC"/>
                </a:solidFill>
              </a:rPr>
              <a:t>install.packages</a:t>
            </a:r>
            <a:endParaRPr lang="en-US" sz="1012" dirty="0"/>
          </a:p>
        </p:txBody>
      </p:sp>
      <p:sp>
        <p:nvSpPr>
          <p:cNvPr id="78" name="Text 53"/>
          <p:cNvSpPr/>
          <p:nvPr/>
        </p:nvSpPr>
        <p:spPr>
          <a:xfrm>
            <a:off x="7969093" y="5552219"/>
            <a:ext cx="162663" cy="1716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19"/>
              </a:lnSpc>
              <a:buNone/>
            </a:pPr>
            <a:r>
              <a:rPr lang="en-US" sz="1012" dirty="0">
                <a:solidFill>
                  <a:srgbClr val="FFFFFF"/>
                </a:solidFill>
              </a:rPr>
              <a:t>(</a:t>
            </a:r>
            <a:endParaRPr lang="en-US" sz="1012" dirty="0"/>
          </a:p>
        </p:txBody>
      </p:sp>
      <p:sp>
        <p:nvSpPr>
          <p:cNvPr id="79" name="Text 54"/>
          <p:cNvSpPr/>
          <p:nvPr/>
        </p:nvSpPr>
        <p:spPr>
          <a:xfrm>
            <a:off x="8050413" y="5552219"/>
            <a:ext cx="1138638" cy="1716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19"/>
              </a:lnSpc>
              <a:buNone/>
            </a:pPr>
            <a:r>
              <a:rPr lang="en-US" sz="1012" dirty="0">
                <a:solidFill>
                  <a:srgbClr val="FDE68A"/>
                </a:solidFill>
              </a:rPr>
              <a:t>"readr"</a:t>
            </a:r>
            <a:endParaRPr lang="en-US" sz="1012" dirty="0"/>
          </a:p>
        </p:txBody>
      </p:sp>
      <p:sp>
        <p:nvSpPr>
          <p:cNvPr id="80" name="Text 55"/>
          <p:cNvSpPr/>
          <p:nvPr/>
        </p:nvSpPr>
        <p:spPr>
          <a:xfrm>
            <a:off x="8619655" y="5552219"/>
            <a:ext cx="162663" cy="1716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19"/>
              </a:lnSpc>
              <a:buNone/>
            </a:pPr>
            <a:r>
              <a:rPr lang="en-US" sz="1012" dirty="0">
                <a:solidFill>
                  <a:srgbClr val="FFFFFF"/>
                </a:solidFill>
              </a:rPr>
              <a:t>)</a:t>
            </a:r>
            <a:endParaRPr lang="en-US" sz="1012" dirty="0"/>
          </a:p>
        </p:txBody>
      </p:sp>
      <p:sp>
        <p:nvSpPr>
          <p:cNvPr id="81" name="Text 56"/>
          <p:cNvSpPr/>
          <p:nvPr/>
        </p:nvSpPr>
        <p:spPr>
          <a:xfrm>
            <a:off x="650561" y="6315866"/>
            <a:ext cx="4771454" cy="14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38"/>
              </a:lnSpc>
              <a:buNone/>
            </a:pPr>
            <a:r>
              <a:rPr lang="en-US" sz="900" spc="76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STATISTICAL ANALYSIS SYSTEM</a:t>
            </a:r>
            <a:endParaRPr lang="en-US" sz="900" dirty="0"/>
          </a:p>
        </p:txBody>
      </p:sp>
      <p:sp>
        <p:nvSpPr>
          <p:cNvPr id="82" name="Text 57"/>
          <p:cNvSpPr/>
          <p:nvPr/>
        </p:nvSpPr>
        <p:spPr>
          <a:xfrm>
            <a:off x="9228285" y="6315866"/>
            <a:ext cx="2963715" cy="14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38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Black Knight | Scientific Computation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51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51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304" y="1206809"/>
            <a:ext cx="3217724" cy="2071001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660" y="1401165"/>
            <a:ext cx="333182" cy="333182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485" y="1452032"/>
            <a:ext cx="173532" cy="23134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304" y="3444401"/>
            <a:ext cx="3217724" cy="1823392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660" y="3638757"/>
            <a:ext cx="333182" cy="333182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367" y="3713051"/>
            <a:ext cx="145767" cy="18459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5304" y="5600974"/>
            <a:ext cx="3217724" cy="622764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50680" y="1206809"/>
            <a:ext cx="7585968" cy="1891069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45036" y="1401165"/>
            <a:ext cx="277652" cy="277652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76272" y="1451924"/>
            <a:ext cx="215180" cy="176027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45036" y="1817643"/>
            <a:ext cx="7197255" cy="527538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50680" y="3264470"/>
            <a:ext cx="7585968" cy="1911242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45036" y="3458826"/>
            <a:ext cx="277652" cy="277652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76272" y="3509584"/>
            <a:ext cx="215180" cy="176027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45036" y="4481582"/>
            <a:ext cx="2325008" cy="499774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81106" y="4481582"/>
            <a:ext cx="2325008" cy="499774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17174" y="4481582"/>
            <a:ext cx="2325009" cy="499774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55304" y="6334800"/>
            <a:ext cx="11081345" cy="277652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555304" y="360947"/>
            <a:ext cx="11081345" cy="13882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93"/>
              </a:lnSpc>
              <a:buNone/>
            </a:pPr>
            <a:r>
              <a:rPr lang="en-US" sz="1050" b="1" spc="323" kern="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 PACKAGE · DATA IMPORT</a:t>
            </a:r>
            <a:endParaRPr lang="en-US" sz="1050" dirty="0"/>
          </a:p>
        </p:txBody>
      </p:sp>
      <p:sp>
        <p:nvSpPr>
          <p:cNvPr id="23" name="Text 1"/>
          <p:cNvSpPr/>
          <p:nvPr/>
        </p:nvSpPr>
        <p:spPr>
          <a:xfrm>
            <a:off x="555304" y="527538"/>
            <a:ext cx="11081345" cy="4571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99" kern="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readxl</a:t>
            </a:r>
            <a:endParaRPr lang="en-US" sz="3600" dirty="0"/>
          </a:p>
        </p:txBody>
      </p:sp>
      <p:sp>
        <p:nvSpPr>
          <p:cNvPr id="24" name="Text 2"/>
          <p:cNvSpPr/>
          <p:nvPr/>
        </p:nvSpPr>
        <p:spPr>
          <a:xfrm>
            <a:off x="1193903" y="1470579"/>
            <a:ext cx="1976247" cy="19435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3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</a:t>
            </a:r>
            <a:endParaRPr lang="en-US" sz="1350" dirty="0"/>
          </a:p>
        </p:txBody>
      </p:sp>
      <p:sp>
        <p:nvSpPr>
          <p:cNvPr id="25" name="Text 3"/>
          <p:cNvSpPr/>
          <p:nvPr/>
        </p:nvSpPr>
        <p:spPr>
          <a:xfrm>
            <a:off x="749660" y="1845408"/>
            <a:ext cx="2829012" cy="123804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Enables direct import of Excel spreadsheets into R — supporting both modern </a:t>
            </a:r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.xlsx</a:t>
            </a:r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legacy </a:t>
            </a:r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.xls</a:t>
            </a:r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file formats without requiring Microsoft Excel to be installed.</a:t>
            </a:r>
            <a:endParaRPr lang="en-US" sz="1200" dirty="0"/>
          </a:p>
        </p:txBody>
      </p:sp>
      <p:sp>
        <p:nvSpPr>
          <p:cNvPr id="26" name="Text 4"/>
          <p:cNvSpPr/>
          <p:nvPr/>
        </p:nvSpPr>
        <p:spPr>
          <a:xfrm>
            <a:off x="1193903" y="3708170"/>
            <a:ext cx="3670173" cy="19435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3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Advantage</a:t>
            </a:r>
            <a:endParaRPr lang="en-US" sz="1350" dirty="0"/>
          </a:p>
        </p:txBody>
      </p:sp>
      <p:sp>
        <p:nvSpPr>
          <p:cNvPr id="27" name="Text 5"/>
          <p:cNvSpPr/>
          <p:nvPr/>
        </p:nvSpPr>
        <p:spPr>
          <a:xfrm>
            <a:off x="749660" y="4083000"/>
            <a:ext cx="2829012" cy="99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external dependencies. Works on any machine regardless of installed office software. Handles column types automatically upon import.</a:t>
            </a:r>
            <a:endParaRPr lang="en-US" sz="1200" dirty="0"/>
          </a:p>
        </p:txBody>
      </p:sp>
      <p:sp>
        <p:nvSpPr>
          <p:cNvPr id="28" name="Text 6"/>
          <p:cNvSpPr/>
          <p:nvPr/>
        </p:nvSpPr>
        <p:spPr>
          <a:xfrm>
            <a:off x="555304" y="5434383"/>
            <a:ext cx="3217724" cy="1110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874"/>
              </a:lnSpc>
              <a:buNone/>
            </a:pPr>
            <a:r>
              <a:rPr lang="en-US" sz="900" b="1" spc="99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INSTALLATION</a:t>
            </a:r>
            <a:endParaRPr lang="en-US" sz="900" dirty="0"/>
          </a:p>
        </p:txBody>
      </p:sp>
      <p:sp>
        <p:nvSpPr>
          <p:cNvPr id="29" name="Text 7"/>
          <p:cNvSpPr/>
          <p:nvPr/>
        </p:nvSpPr>
        <p:spPr>
          <a:xfrm>
            <a:off x="694130" y="5600974"/>
            <a:ext cx="2836724" cy="62276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spc="37" kern="0" dirty="0">
                <a:solidFill>
                  <a:srgbClr val="6C7086"/>
                </a:solidFill>
              </a:rPr>
              <a:t># Install the package</a:t>
            </a:r>
            <a:pPr indent="0" marL="0">
              <a:lnSpc>
                <a:spcPts val="1688"/>
              </a:lnSpc>
              <a:buNone/>
            </a:pPr>
            <a:r>
              <a:rPr lang="en-US" sz="1125" spc="37" kern="0" dirty="0">
                <a:solidFill>
                  <a:srgbClr val="A6E3A1"/>
                </a:solidFill>
              </a:rPr>
              <a:t>
</a:t>
            </a:r>
            <a:pPr indent="0" marL="0">
              <a:lnSpc>
                <a:spcPts val="1688"/>
              </a:lnSpc>
              <a:buNone/>
            </a:pPr>
            <a:r>
              <a:rPr lang="en-US" sz="1125" spc="37" kern="0" dirty="0">
                <a:solidFill>
                  <a:srgbClr val="A6E3A1"/>
                </a:solidFill>
              </a:rPr>
              <a:t>install.packages(</a:t>
            </a:r>
            <a:pPr indent="0" marL="0">
              <a:lnSpc>
                <a:spcPts val="1688"/>
              </a:lnSpc>
              <a:buNone/>
            </a:pPr>
            <a:r>
              <a:rPr lang="en-US" sz="1125" spc="37" kern="0" dirty="0">
                <a:solidFill>
                  <a:srgbClr val="F9E2AF"/>
                </a:solidFill>
              </a:rPr>
              <a:t>"readxl"</a:t>
            </a:r>
            <a:pPr indent="0" marL="0">
              <a:lnSpc>
                <a:spcPts val="1688"/>
              </a:lnSpc>
              <a:buNone/>
            </a:pPr>
            <a:r>
              <a:rPr lang="en-US" sz="1125" spc="37" kern="0" dirty="0">
                <a:solidFill>
                  <a:srgbClr val="A6E3A1"/>
                </a:solidFill>
              </a:rPr>
              <a:t>)</a:t>
            </a:r>
            <a:endParaRPr lang="en-US" sz="1125" dirty="0"/>
          </a:p>
        </p:txBody>
      </p:sp>
      <p:sp>
        <p:nvSpPr>
          <p:cNvPr id="30" name="Text 8"/>
          <p:cNvSpPr/>
          <p:nvPr/>
        </p:nvSpPr>
        <p:spPr>
          <a:xfrm>
            <a:off x="4605983" y="1442813"/>
            <a:ext cx="4517136" cy="19435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3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Function</a:t>
            </a:r>
            <a:endParaRPr lang="en-US" sz="1350" dirty="0"/>
          </a:p>
        </p:txBody>
      </p:sp>
      <p:sp>
        <p:nvSpPr>
          <p:cNvPr id="31" name="Text 9"/>
          <p:cNvSpPr/>
          <p:nvPr/>
        </p:nvSpPr>
        <p:spPr>
          <a:xfrm>
            <a:off x="4383862" y="1817643"/>
            <a:ext cx="6816255" cy="5275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12"/>
              </a:lnSpc>
              <a:buNone/>
            </a:pPr>
            <a:r>
              <a:rPr lang="en-US" sz="1200" spc="40" kern="0" dirty="0">
                <a:solidFill>
                  <a:srgbClr val="6C7086"/>
                </a:solidFill>
              </a:rPr>
              <a:t># Read any Excel file (.xlsx or .xls)</a:t>
            </a:r>
            <a:pPr indent="0" marL="0">
              <a:lnSpc>
                <a:spcPts val="1312"/>
              </a:lnSpc>
              <a:buNone/>
            </a:pPr>
            <a:r>
              <a:rPr lang="en-US" sz="1200" spc="40" kern="0" dirty="0">
                <a:solidFill>
                  <a:srgbClr val="A6E3A1"/>
                </a:solidFill>
              </a:rPr>
              <a:t>
</a:t>
            </a:r>
            <a:pPr indent="0" marL="0">
              <a:lnSpc>
                <a:spcPts val="1312"/>
              </a:lnSpc>
              <a:buNone/>
            </a:pPr>
            <a:r>
              <a:rPr lang="en-US" sz="1200" spc="40" kern="0" dirty="0">
                <a:solidFill>
                  <a:srgbClr val="A6E3A1"/>
                </a:solidFill>
              </a:rPr>
              <a:t>df &lt;- </a:t>
            </a:r>
            <a:pPr indent="0" marL="0">
              <a:lnSpc>
                <a:spcPts val="1312"/>
              </a:lnSpc>
              <a:buNone/>
            </a:pPr>
            <a:r>
              <a:rPr lang="en-US" sz="1200" spc="40" kern="0" dirty="0">
                <a:solidFill>
                  <a:srgbClr val="89B4FA"/>
                </a:solidFill>
              </a:rPr>
              <a:t>readxl</a:t>
            </a:r>
            <a:pPr indent="0" marL="0">
              <a:lnSpc>
                <a:spcPts val="1312"/>
              </a:lnSpc>
              <a:buNone/>
            </a:pPr>
            <a:r>
              <a:rPr lang="en-US" sz="1200" spc="40" kern="0" dirty="0">
                <a:solidFill>
                  <a:srgbClr val="A6E3A1"/>
                </a:solidFill>
              </a:rPr>
              <a:t>::</a:t>
            </a:r>
            <a:pPr indent="0" marL="0">
              <a:lnSpc>
                <a:spcPts val="1312"/>
              </a:lnSpc>
              <a:buNone/>
            </a:pPr>
            <a:r>
              <a:rPr lang="en-US" sz="1200" spc="40" kern="0" dirty="0">
                <a:solidFill>
                  <a:srgbClr val="89B4FA"/>
                </a:solidFill>
              </a:rPr>
              <a:t>read_excel</a:t>
            </a:r>
            <a:pPr indent="0" marL="0">
              <a:lnSpc>
                <a:spcPts val="1312"/>
              </a:lnSpc>
              <a:buNone/>
            </a:pPr>
            <a:r>
              <a:rPr lang="en-US" sz="1200" spc="40" kern="0" dirty="0">
                <a:solidFill>
                  <a:srgbClr val="A6E3A1"/>
                </a:solidFill>
              </a:rPr>
              <a:t>(</a:t>
            </a:r>
            <a:pPr indent="0" marL="0">
              <a:lnSpc>
                <a:spcPts val="1312"/>
              </a:lnSpc>
              <a:buNone/>
            </a:pPr>
            <a:r>
              <a:rPr lang="en-US" sz="1200" spc="40" kern="0" dirty="0">
                <a:solidFill>
                  <a:srgbClr val="F9E2AF"/>
                </a:solidFill>
              </a:rPr>
              <a:t>path</a:t>
            </a:r>
            <a:pPr indent="0" marL="0">
              <a:lnSpc>
                <a:spcPts val="1312"/>
              </a:lnSpc>
              <a:buNone/>
            </a:pPr>
            <a:r>
              <a:rPr lang="en-US" sz="1200" spc="40" kern="0" dirty="0">
                <a:solidFill>
                  <a:srgbClr val="A6E3A1"/>
                </a:solidFill>
              </a:rPr>
              <a:t>)</a:t>
            </a:r>
            <a:endParaRPr lang="en-US" sz="1200" dirty="0"/>
          </a:p>
        </p:txBody>
      </p:sp>
      <p:sp>
        <p:nvSpPr>
          <p:cNvPr id="32" name="Text 10"/>
          <p:cNvSpPr/>
          <p:nvPr/>
        </p:nvSpPr>
        <p:spPr>
          <a:xfrm>
            <a:off x="4245036" y="2456243"/>
            <a:ext cx="7197255" cy="44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unified function handles both Excel formats. The </a:t>
            </a:r>
            <a:pPr indent="0" marL="0">
              <a:lnSpc>
                <a:spcPts val="1706"/>
              </a:lnSpc>
              <a:buNone/>
            </a:pPr>
            <a:r>
              <a:rPr lang="en-US" sz="1050" b="1" dirty="0">
                <a:solidFill>
                  <a:srgbClr val="333333"/>
                </a:solidFill>
              </a:rPr>
              <a:t>path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argument accepts the file path provided by Shiny's file upload handler.</a:t>
            </a:r>
            <a:endParaRPr lang="en-US" sz="1050" dirty="0"/>
          </a:p>
        </p:txBody>
      </p:sp>
      <p:sp>
        <p:nvSpPr>
          <p:cNvPr id="33" name="Text 11"/>
          <p:cNvSpPr/>
          <p:nvPr/>
        </p:nvSpPr>
        <p:spPr>
          <a:xfrm>
            <a:off x="4605983" y="3500474"/>
            <a:ext cx="5081778" cy="19435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3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in the System</a:t>
            </a:r>
            <a:endParaRPr lang="en-US" sz="1350" dirty="0"/>
          </a:p>
        </p:txBody>
      </p:sp>
      <p:sp>
        <p:nvSpPr>
          <p:cNvPr id="34" name="Text 12"/>
          <p:cNvSpPr/>
          <p:nvPr/>
        </p:nvSpPr>
        <p:spPr>
          <a:xfrm>
            <a:off x="4245036" y="3847538"/>
            <a:ext cx="7197255" cy="49521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the Smart Statistical Analysis System, </a:t>
            </a:r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readxl</a:t>
            </a:r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invoked inside the </a:t>
            </a:r>
            <a:pPr indent="0" marL="0">
              <a:lnSpc>
                <a:spcPts val="1093"/>
              </a:lnSpc>
              <a:buNone/>
            </a:pPr>
            <a:r>
              <a:rPr lang="en-US" sz="1050" b="1" dirty="0">
                <a:solidFill>
                  <a:srgbClr val="2E7D32"/>
                </a:solidFill>
              </a:rPr>
              <a:t>raw_df()</a:t>
            </a:r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reactive function whenever the uploaded file has an Excel extension.</a:t>
            </a:r>
            <a:endParaRPr lang="en-US" sz="1200" dirty="0"/>
          </a:p>
        </p:txBody>
      </p:sp>
      <p:sp>
        <p:nvSpPr>
          <p:cNvPr id="35" name="Text 13"/>
          <p:cNvSpPr/>
          <p:nvPr/>
        </p:nvSpPr>
        <p:spPr>
          <a:xfrm>
            <a:off x="4245036" y="4481582"/>
            <a:ext cx="2325008" cy="49977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30"/>
              </a:lnSpc>
              <a:buNone/>
            </a:pPr>
            <a:r>
              <a:rPr lang="en-US" sz="1350" b="1" dirty="0">
                <a:solidFill>
                  <a:srgbClr val="2E7D32"/>
                </a:solidFill>
              </a:rPr>
              <a:t>.xlsx</a:t>
            </a:r>
            <a:pPr algn="ctr" indent="0" marL="0">
              <a:lnSpc>
                <a:spcPts val="874"/>
              </a:lnSpc>
              <a:buNone/>
            </a:pPr>
            <a:r>
              <a:rPr lang="en-US" sz="900" b="1" dirty="0">
                <a:solidFill>
                  <a:srgbClr val="6B7280"/>
                </a:solidFill>
              </a:rPr>
              <a:t>Excel 2007+</a:t>
            </a:r>
            <a:endParaRPr lang="en-US" sz="1350" dirty="0"/>
          </a:p>
        </p:txBody>
      </p:sp>
      <p:sp>
        <p:nvSpPr>
          <p:cNvPr id="36" name="Text 14"/>
          <p:cNvSpPr/>
          <p:nvPr/>
        </p:nvSpPr>
        <p:spPr>
          <a:xfrm>
            <a:off x="6681106" y="4481582"/>
            <a:ext cx="2325008" cy="49977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30"/>
              </a:lnSpc>
              <a:buNone/>
            </a:pPr>
            <a:r>
              <a:rPr lang="en-US" sz="1350" b="1" dirty="0">
                <a:solidFill>
                  <a:srgbClr val="E65100"/>
                </a:solidFill>
              </a:rPr>
              <a:t>.xls</a:t>
            </a:r>
            <a:pPr algn="ctr" indent="0" marL="0">
              <a:lnSpc>
                <a:spcPts val="874"/>
              </a:lnSpc>
              <a:buNone/>
            </a:pPr>
            <a:r>
              <a:rPr lang="en-US" sz="900" b="1" dirty="0">
                <a:solidFill>
                  <a:srgbClr val="6B7280"/>
                </a:solidFill>
              </a:rPr>
              <a:t>Excel 97–2003</a:t>
            </a:r>
            <a:endParaRPr lang="en-US" sz="1350" dirty="0"/>
          </a:p>
        </p:txBody>
      </p:sp>
      <p:sp>
        <p:nvSpPr>
          <p:cNvPr id="37" name="Text 15"/>
          <p:cNvSpPr/>
          <p:nvPr/>
        </p:nvSpPr>
        <p:spPr>
          <a:xfrm>
            <a:off x="9117174" y="4564878"/>
            <a:ext cx="2325009" cy="13882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093"/>
              </a:lnSpc>
              <a:buNone/>
            </a:pPr>
            <a:r>
              <a:rPr lang="en-US" sz="10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Excel</a:t>
            </a:r>
            <a:endParaRPr lang="en-US" sz="1050" dirty="0"/>
          </a:p>
        </p:txBody>
      </p:sp>
      <p:sp>
        <p:nvSpPr>
          <p:cNvPr id="38" name="Text 16"/>
          <p:cNvSpPr/>
          <p:nvPr/>
        </p:nvSpPr>
        <p:spPr>
          <a:xfrm>
            <a:off x="9117174" y="4731469"/>
            <a:ext cx="2325009" cy="1110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874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Required to Install</a:t>
            </a:r>
            <a:endParaRPr lang="en-US" sz="900" dirty="0"/>
          </a:p>
        </p:txBody>
      </p:sp>
      <p:sp>
        <p:nvSpPr>
          <p:cNvPr id="39" name="Text 17"/>
          <p:cNvSpPr/>
          <p:nvPr/>
        </p:nvSpPr>
        <p:spPr>
          <a:xfrm>
            <a:off x="555304" y="6473626"/>
            <a:ext cx="7246235" cy="13882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93"/>
              </a:lnSpc>
              <a:buNone/>
            </a:pPr>
            <a:r>
              <a:rPr lang="en-US" sz="1050" spc="115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STATISTICAL ANALYSIS SYSTEM</a:t>
            </a:r>
            <a:endParaRPr lang="en-US" sz="1050" dirty="0"/>
          </a:p>
        </p:txBody>
      </p:sp>
      <p:sp>
        <p:nvSpPr>
          <p:cNvPr id="40" name="Text 18"/>
          <p:cNvSpPr/>
          <p:nvPr/>
        </p:nvSpPr>
        <p:spPr>
          <a:xfrm>
            <a:off x="8929543" y="6473626"/>
            <a:ext cx="3262457" cy="13882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93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Black Knight | Scientific Computation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752600"/>
            <a:ext cx="609600" cy="6096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1914525"/>
            <a:ext cx="285750" cy="2857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057525"/>
            <a:ext cx="609600" cy="6096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514850"/>
            <a:ext cx="6032450" cy="952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5075" y="4890641"/>
            <a:ext cx="142875" cy="2286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4300" y="4890641"/>
            <a:ext cx="142875" cy="2286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51650" y="2057400"/>
            <a:ext cx="4178201" cy="7239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51650" y="3467100"/>
            <a:ext cx="4178201" cy="7239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51650" y="4572000"/>
            <a:ext cx="4178201" cy="1107281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80250" y="4849862"/>
            <a:ext cx="133350" cy="1333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" y="5791200"/>
            <a:ext cx="10668000" cy="4953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762000" y="571500"/>
            <a:ext cx="1066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spc="210" kern="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PACKAGE DOCUMENTATION</a:t>
            </a:r>
            <a:endParaRPr lang="en-US" sz="1050" dirty="0"/>
          </a:p>
        </p:txBody>
      </p:sp>
      <p:sp>
        <p:nvSpPr>
          <p:cNvPr id="15" name="Text 1"/>
          <p:cNvSpPr/>
          <p:nvPr/>
        </p:nvSpPr>
        <p:spPr>
          <a:xfrm>
            <a:off x="762000" y="838200"/>
            <a:ext cx="1066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Package:</a:t>
            </a:r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haven</a:t>
            </a:r>
            <a:endParaRPr lang="en-US" sz="3600" dirty="0"/>
          </a:p>
        </p:txBody>
      </p:sp>
      <p:sp>
        <p:nvSpPr>
          <p:cNvPr id="16" name="Text 2"/>
          <p:cNvSpPr/>
          <p:nvPr/>
        </p:nvSpPr>
        <p:spPr>
          <a:xfrm>
            <a:off x="1600200" y="1752600"/>
            <a:ext cx="5194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Purpose</a:t>
            </a:r>
            <a:endParaRPr lang="en-US" sz="1800" dirty="0"/>
          </a:p>
        </p:txBody>
      </p:sp>
      <p:sp>
        <p:nvSpPr>
          <p:cNvPr id="17" name="Text 3"/>
          <p:cNvSpPr/>
          <p:nvPr/>
        </p:nvSpPr>
        <p:spPr>
          <a:xfrm>
            <a:off x="1600200" y="2133600"/>
            <a:ext cx="5194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38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Specifically designed to facilitate the import of datasets from </a:t>
            </a:r>
            <a:pPr indent="0" marL="0">
              <a:lnSpc>
                <a:spcPts val="2438"/>
              </a:lnSpc>
              <a:buNone/>
            </a:pPr>
            <a:r>
              <a:rPr lang="en-US" sz="15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SPSS statistical software</a:t>
            </a:r>
            <a:pPr indent="0" marL="0">
              <a:lnSpc>
                <a:spcPts val="2438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into the R environment.</a:t>
            </a:r>
            <a:endParaRPr lang="en-US" sz="1500" dirty="0"/>
          </a:p>
        </p:txBody>
      </p:sp>
      <p:sp>
        <p:nvSpPr>
          <p:cNvPr id="18" name="Text 4"/>
          <p:cNvSpPr/>
          <p:nvPr/>
        </p:nvSpPr>
        <p:spPr>
          <a:xfrm>
            <a:off x="1600200" y="3057525"/>
            <a:ext cx="5194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Role</a:t>
            </a:r>
            <a:endParaRPr lang="en-US" sz="1800" dirty="0"/>
          </a:p>
        </p:txBody>
      </p:sp>
      <p:sp>
        <p:nvSpPr>
          <p:cNvPr id="19" name="Text 5"/>
          <p:cNvSpPr/>
          <p:nvPr/>
        </p:nvSpPr>
        <p:spPr>
          <a:xfrm>
            <a:off x="1600200" y="3438525"/>
            <a:ext cx="5194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38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the </a:t>
            </a:r>
            <a:pPr indent="0" marL="0">
              <a:lnSpc>
                <a:spcPts val="2438"/>
              </a:lnSpc>
              <a:buNone/>
            </a:pPr>
            <a:r>
              <a:rPr lang="en-US" sz="15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.sav</a:t>
            </a:r>
            <a:pPr indent="0" marL="0">
              <a:lnSpc>
                <a:spcPts val="2438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file format, which is widely utilized in social science research and academic datasets.</a:t>
            </a:r>
            <a:endParaRPr lang="en-US" sz="1500" dirty="0"/>
          </a:p>
        </p:txBody>
      </p:sp>
      <p:sp>
        <p:nvSpPr>
          <p:cNvPr id="20" name="Text 6"/>
          <p:cNvSpPr/>
          <p:nvPr/>
        </p:nvSpPr>
        <p:spPr>
          <a:xfrm>
            <a:off x="1143000" y="4743450"/>
            <a:ext cx="981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FORMAT</a:t>
            </a:r>
            <a:endParaRPr lang="en-US" sz="900" dirty="0"/>
          </a:p>
        </p:txBody>
      </p:sp>
      <p:sp>
        <p:nvSpPr>
          <p:cNvPr id="21" name="Text 7"/>
          <p:cNvSpPr/>
          <p:nvPr/>
        </p:nvSpPr>
        <p:spPr>
          <a:xfrm>
            <a:off x="1143000" y="4972050"/>
            <a:ext cx="981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SPSS (.sav)</a:t>
            </a:r>
            <a:endParaRPr lang="en-US" sz="1350" dirty="0"/>
          </a:p>
        </p:txBody>
      </p:sp>
      <p:sp>
        <p:nvSpPr>
          <p:cNvPr id="22" name="Text 8"/>
          <p:cNvSpPr/>
          <p:nvPr/>
        </p:nvSpPr>
        <p:spPr>
          <a:xfrm>
            <a:off x="3028950" y="4743450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</a:t>
            </a:r>
            <a:endParaRPr lang="en-US" sz="900" dirty="0"/>
          </a:p>
        </p:txBody>
      </p:sp>
      <p:sp>
        <p:nvSpPr>
          <p:cNvPr id="23" name="Text 9"/>
          <p:cNvSpPr/>
          <p:nvPr/>
        </p:nvSpPr>
        <p:spPr>
          <a:xfrm>
            <a:off x="3028950" y="4972050"/>
            <a:ext cx="514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haven</a:t>
            </a:r>
            <a:endParaRPr lang="en-US" sz="1350" dirty="0"/>
          </a:p>
        </p:txBody>
      </p:sp>
      <p:sp>
        <p:nvSpPr>
          <p:cNvPr id="24" name="Text 10"/>
          <p:cNvSpPr/>
          <p:nvPr/>
        </p:nvSpPr>
        <p:spPr>
          <a:xfrm>
            <a:off x="4448175" y="4743450"/>
            <a:ext cx="942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 OBJECT</a:t>
            </a:r>
            <a:endParaRPr lang="en-US" sz="900" dirty="0"/>
          </a:p>
        </p:txBody>
      </p:sp>
      <p:sp>
        <p:nvSpPr>
          <p:cNvPr id="25" name="Text 11"/>
          <p:cNvSpPr/>
          <p:nvPr/>
        </p:nvSpPr>
        <p:spPr>
          <a:xfrm>
            <a:off x="4448175" y="4972050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Frame</a:t>
            </a:r>
            <a:endParaRPr lang="en-US" sz="1350" dirty="0"/>
          </a:p>
        </p:txBody>
      </p:sp>
      <p:sp>
        <p:nvSpPr>
          <p:cNvPr id="26" name="Text 12"/>
          <p:cNvSpPr/>
          <p:nvPr/>
        </p:nvSpPr>
        <p:spPr>
          <a:xfrm>
            <a:off x="7251650" y="1752600"/>
            <a:ext cx="41782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spc="84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FUNCTION</a:t>
            </a:r>
            <a:endParaRPr lang="en-US" sz="1050" dirty="0"/>
          </a:p>
        </p:txBody>
      </p:sp>
      <p:sp>
        <p:nvSpPr>
          <p:cNvPr id="27" name="Text 13"/>
          <p:cNvSpPr/>
          <p:nvPr/>
        </p:nvSpPr>
        <p:spPr>
          <a:xfrm>
            <a:off x="7480250" y="2057400"/>
            <a:ext cx="4030991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563EB"/>
                </a:solidFill>
              </a:rPr>
              <a:t>haven::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5803D"/>
                </a:solidFill>
              </a:rPr>
              <a:t>read_spss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</a:rPr>
              <a:t>(path)</a:t>
            </a:r>
            <a:endParaRPr lang="en-US" sz="1350" dirty="0"/>
          </a:p>
        </p:txBody>
      </p:sp>
      <p:sp>
        <p:nvSpPr>
          <p:cNvPr id="28" name="Text 14"/>
          <p:cNvSpPr/>
          <p:nvPr/>
        </p:nvSpPr>
        <p:spPr>
          <a:xfrm>
            <a:off x="7251650" y="3162300"/>
            <a:ext cx="41782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spc="84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INSTALLATION</a:t>
            </a:r>
            <a:endParaRPr lang="en-US" sz="1050" dirty="0"/>
          </a:p>
        </p:txBody>
      </p:sp>
      <p:sp>
        <p:nvSpPr>
          <p:cNvPr id="29" name="Text 15"/>
          <p:cNvSpPr/>
          <p:nvPr/>
        </p:nvSpPr>
        <p:spPr>
          <a:xfrm>
            <a:off x="7480250" y="3467100"/>
            <a:ext cx="4580672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6B7280"/>
                </a:solidFill>
              </a:rPr>
              <a:t>install.packages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</a:rPr>
              <a:t>(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A580C"/>
                </a:solidFill>
              </a:rPr>
              <a:t>"haven"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</a:rPr>
              <a:t>)</a:t>
            </a:r>
            <a:endParaRPr lang="en-US" sz="1350" dirty="0"/>
          </a:p>
        </p:txBody>
      </p:sp>
      <p:sp>
        <p:nvSpPr>
          <p:cNvPr id="30" name="Text 16"/>
          <p:cNvSpPr/>
          <p:nvPr/>
        </p:nvSpPr>
        <p:spPr>
          <a:xfrm>
            <a:off x="7689800" y="4800600"/>
            <a:ext cx="3721001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i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system uses this package to ensure compatibility with legacy datasets from SPSS without requiring the original software installed.</a:t>
            </a:r>
            <a:endParaRPr lang="en-US" sz="1050" dirty="0"/>
          </a:p>
        </p:txBody>
      </p:sp>
      <p:sp>
        <p:nvSpPr>
          <p:cNvPr id="31" name="Text 17"/>
          <p:cNvSpPr/>
          <p:nvPr/>
        </p:nvSpPr>
        <p:spPr>
          <a:xfrm>
            <a:off x="762000" y="6096000"/>
            <a:ext cx="52806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spc="84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STATISTICAL ANALYSIS SYSTEM</a:t>
            </a:r>
            <a:endParaRPr lang="en-US" sz="1050" dirty="0"/>
          </a:p>
        </p:txBody>
      </p:sp>
      <p:sp>
        <p:nvSpPr>
          <p:cNvPr id="32" name="Text 18"/>
          <p:cNvSpPr/>
          <p:nvPr/>
        </p:nvSpPr>
        <p:spPr>
          <a:xfrm>
            <a:off x="8734425" y="6096000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Black Knight | Scientific Computation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524000"/>
            <a:ext cx="5657850" cy="1445419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1704975"/>
            <a:ext cx="171450" cy="1714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3159919"/>
            <a:ext cx="5657850" cy="144541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" y="3340894"/>
            <a:ext cx="171450" cy="1714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4833938"/>
            <a:ext cx="2752725" cy="7429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" y="5005388"/>
            <a:ext cx="190500" cy="1905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67125" y="4833938"/>
            <a:ext cx="2752725" cy="7429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57625" y="5005388"/>
            <a:ext cx="171450" cy="1905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00850" y="1752600"/>
            <a:ext cx="4629150" cy="82867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00850" y="3000375"/>
            <a:ext cx="4629150" cy="42862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00850" y="3886200"/>
            <a:ext cx="1466850" cy="11430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62838" y="4038600"/>
            <a:ext cx="142875" cy="1905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82000" y="3886200"/>
            <a:ext cx="1466850" cy="11430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20175" y="4038600"/>
            <a:ext cx="190500" cy="1905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963150" y="3886200"/>
            <a:ext cx="1466850" cy="11430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601325" y="4038600"/>
            <a:ext cx="190500" cy="1905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2000" y="6210300"/>
            <a:ext cx="10668000" cy="3048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762000" y="457200"/>
            <a:ext cx="10668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spc="216" kern="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 PACKAGE · 07 OF 08</a:t>
            </a:r>
            <a:endParaRPr lang="en-US" sz="900" dirty="0"/>
          </a:p>
        </p:txBody>
      </p:sp>
      <p:sp>
        <p:nvSpPr>
          <p:cNvPr id="22" name="Text 1"/>
          <p:cNvSpPr/>
          <p:nvPr/>
        </p:nvSpPr>
        <p:spPr>
          <a:xfrm>
            <a:off x="762000" y="647700"/>
            <a:ext cx="43891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thematic</a:t>
            </a:r>
            <a:endParaRPr lang="en-US" sz="3600" dirty="0"/>
          </a:p>
        </p:txBody>
      </p:sp>
      <p:sp>
        <p:nvSpPr>
          <p:cNvPr id="23" name="Text 2"/>
          <p:cNvSpPr/>
          <p:nvPr/>
        </p:nvSpPr>
        <p:spPr>
          <a:xfrm>
            <a:off x="2971800" y="876300"/>
            <a:ext cx="60350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Plot Theming</a:t>
            </a:r>
            <a:endParaRPr lang="en-US" sz="1800" dirty="0"/>
          </a:p>
        </p:txBody>
      </p:sp>
      <p:sp>
        <p:nvSpPr>
          <p:cNvPr id="24" name="Text 3"/>
          <p:cNvSpPr/>
          <p:nvPr/>
        </p:nvSpPr>
        <p:spPr>
          <a:xfrm>
            <a:off x="1276350" y="16764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spc="48" kern="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</a:t>
            </a:r>
            <a:endParaRPr lang="en-US" sz="1200" dirty="0"/>
          </a:p>
        </p:txBody>
      </p:sp>
      <p:sp>
        <p:nvSpPr>
          <p:cNvPr id="25" name="Text 4"/>
          <p:cNvSpPr/>
          <p:nvPr/>
        </p:nvSpPr>
        <p:spPr>
          <a:xfrm>
            <a:off x="990600" y="1981200"/>
            <a:ext cx="520065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plot styling that ensures </a:t>
            </a:r>
            <a:pPr indent="0" marL="0">
              <a:lnSpc>
                <a:spcPts val="2194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ggplot2</a:t>
            </a:r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visualizations seamlessly inherit the Shiny app's color scheme and font settings.</a:t>
            </a:r>
            <a:endParaRPr lang="en-US" sz="1350" dirty="0"/>
          </a:p>
        </p:txBody>
      </p:sp>
      <p:sp>
        <p:nvSpPr>
          <p:cNvPr id="26" name="Text 5"/>
          <p:cNvSpPr/>
          <p:nvPr/>
        </p:nvSpPr>
        <p:spPr>
          <a:xfrm>
            <a:off x="1276350" y="3312319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spc="48" kern="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IN THE SYSTEM</a:t>
            </a:r>
            <a:endParaRPr lang="en-US" sz="1200" dirty="0"/>
          </a:p>
        </p:txBody>
      </p:sp>
      <p:sp>
        <p:nvSpPr>
          <p:cNvPr id="27" name="Text 6"/>
          <p:cNvSpPr/>
          <p:nvPr/>
        </p:nvSpPr>
        <p:spPr>
          <a:xfrm>
            <a:off x="990600" y="3617119"/>
            <a:ext cx="520065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Keeps all 9 generated plots visually consistent with the application's custom CSS theme — no manual plot theming required.</a:t>
            </a:r>
            <a:endParaRPr lang="en-US" sz="1350" dirty="0"/>
          </a:p>
        </p:txBody>
      </p:sp>
      <p:sp>
        <p:nvSpPr>
          <p:cNvPr id="28" name="Text 7"/>
          <p:cNvSpPr/>
          <p:nvPr/>
        </p:nvSpPr>
        <p:spPr>
          <a:xfrm>
            <a:off x="1257300" y="498633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 Inheritance</a:t>
            </a:r>
            <a:endParaRPr lang="en-US" sz="1200" dirty="0"/>
          </a:p>
        </p:txBody>
      </p:sp>
      <p:sp>
        <p:nvSpPr>
          <p:cNvPr id="29" name="Text 8"/>
          <p:cNvSpPr/>
          <p:nvPr/>
        </p:nvSpPr>
        <p:spPr>
          <a:xfrm>
            <a:off x="1257300" y="5233988"/>
            <a:ext cx="36804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Colors &amp; fonts from CSS</a:t>
            </a:r>
            <a:endParaRPr lang="en-US" sz="1050" dirty="0"/>
          </a:p>
        </p:txBody>
      </p:sp>
      <p:sp>
        <p:nvSpPr>
          <p:cNvPr id="30" name="Text 9"/>
          <p:cNvSpPr/>
          <p:nvPr/>
        </p:nvSpPr>
        <p:spPr>
          <a:xfrm>
            <a:off x="4143375" y="498633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 Auto-detect</a:t>
            </a:r>
            <a:endParaRPr lang="en-US" sz="1200" dirty="0"/>
          </a:p>
        </p:txBody>
      </p:sp>
      <p:sp>
        <p:nvSpPr>
          <p:cNvPr id="31" name="Text 10"/>
          <p:cNvSpPr/>
          <p:nvPr/>
        </p:nvSpPr>
        <p:spPr>
          <a:xfrm>
            <a:off x="4143375" y="5233988"/>
            <a:ext cx="36804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 = "auto" parameter</a:t>
            </a:r>
            <a:endParaRPr lang="en-US" sz="1050" dirty="0"/>
          </a:p>
        </p:txBody>
      </p:sp>
      <p:sp>
        <p:nvSpPr>
          <p:cNvPr id="32" name="Text 11"/>
          <p:cNvSpPr/>
          <p:nvPr/>
        </p:nvSpPr>
        <p:spPr>
          <a:xfrm>
            <a:off x="6800850" y="1524000"/>
            <a:ext cx="4629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spc="72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FUNCTION</a:t>
            </a:r>
            <a:endParaRPr lang="en-US" sz="900" dirty="0"/>
          </a:p>
        </p:txBody>
      </p:sp>
      <p:sp>
        <p:nvSpPr>
          <p:cNvPr id="33" name="Text 12"/>
          <p:cNvSpPr/>
          <p:nvPr/>
        </p:nvSpPr>
        <p:spPr>
          <a:xfrm>
            <a:off x="7029450" y="1752600"/>
            <a:ext cx="417195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125" spc="18" kern="0" dirty="0">
                <a:solidFill>
                  <a:srgbClr val="6C7086"/>
                </a:solidFill>
              </a:rPr>
              <a:t># Enable automatic theme sync</a:t>
            </a:r>
            <a:pPr indent="0" marL="0">
              <a:lnSpc>
                <a:spcPts val="1913"/>
              </a:lnSpc>
              <a:buNone/>
            </a:pPr>
            <a:r>
              <a:rPr lang="en-US" sz="1125" spc="18" kern="0" dirty="0">
                <a:solidFill>
                  <a:srgbClr val="A6E3A1"/>
                </a:solidFill>
              </a:rPr>
              <a:t>
</a:t>
            </a:r>
            <a:pPr indent="0" marL="0">
              <a:lnSpc>
                <a:spcPts val="1913"/>
              </a:lnSpc>
              <a:buNone/>
            </a:pPr>
            <a:r>
              <a:rPr lang="en-US" sz="1125" spc="18" kern="0" dirty="0">
                <a:solidFill>
                  <a:srgbClr val="89DCEB"/>
                </a:solidFill>
              </a:rPr>
              <a:t>thematic_shiny</a:t>
            </a:r>
            <a:pPr indent="0" marL="0">
              <a:lnSpc>
                <a:spcPts val="1913"/>
              </a:lnSpc>
              <a:buNone/>
            </a:pPr>
            <a:r>
              <a:rPr lang="en-US" sz="1125" spc="18" kern="0" dirty="0">
                <a:solidFill>
                  <a:srgbClr val="A6E3A1"/>
                </a:solidFill>
              </a:rPr>
              <a:t>(</a:t>
            </a:r>
            <a:pPr indent="0" marL="0">
              <a:lnSpc>
                <a:spcPts val="1913"/>
              </a:lnSpc>
              <a:buNone/>
            </a:pPr>
            <a:r>
              <a:rPr lang="en-US" sz="1125" spc="18" kern="0" dirty="0">
                <a:solidFill>
                  <a:srgbClr val="F9E2AF"/>
                </a:solidFill>
              </a:rPr>
              <a:t>font</a:t>
            </a:r>
            <a:pPr indent="0" marL="0">
              <a:lnSpc>
                <a:spcPts val="1913"/>
              </a:lnSpc>
              <a:buNone/>
            </a:pPr>
            <a:r>
              <a:rPr lang="en-US" sz="1125" spc="18" kern="0" dirty="0">
                <a:solidFill>
                  <a:srgbClr val="A6E3A1"/>
                </a:solidFill>
              </a:rPr>
              <a:t> = </a:t>
            </a:r>
            <a:pPr indent="0" marL="0">
              <a:lnSpc>
                <a:spcPts val="1913"/>
              </a:lnSpc>
              <a:buNone/>
            </a:pPr>
            <a:r>
              <a:rPr lang="en-US" sz="1125" spc="18" kern="0" dirty="0">
                <a:solidFill>
                  <a:srgbClr val="CBA6F7"/>
                </a:solidFill>
              </a:rPr>
              <a:t>"auto"</a:t>
            </a:r>
            <a:pPr indent="0" marL="0">
              <a:lnSpc>
                <a:spcPts val="1913"/>
              </a:lnSpc>
              <a:buNone/>
            </a:pPr>
            <a:r>
              <a:rPr lang="en-US" sz="1125" spc="18" kern="0" dirty="0">
                <a:solidFill>
                  <a:srgbClr val="A6E3A1"/>
                </a:solidFill>
              </a:rPr>
              <a:t>)</a:t>
            </a:r>
            <a:endParaRPr lang="en-US" sz="1125" dirty="0"/>
          </a:p>
        </p:txBody>
      </p:sp>
      <p:sp>
        <p:nvSpPr>
          <p:cNvPr id="34" name="Text 13"/>
          <p:cNvSpPr/>
          <p:nvPr/>
        </p:nvSpPr>
        <p:spPr>
          <a:xfrm>
            <a:off x="6800850" y="2771775"/>
            <a:ext cx="4629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spc="72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INSTALLATION</a:t>
            </a:r>
            <a:endParaRPr lang="en-US" sz="900" dirty="0"/>
          </a:p>
        </p:txBody>
      </p:sp>
      <p:sp>
        <p:nvSpPr>
          <p:cNvPr id="35" name="Text 14"/>
          <p:cNvSpPr/>
          <p:nvPr/>
        </p:nvSpPr>
        <p:spPr>
          <a:xfrm>
            <a:off x="6991350" y="3000375"/>
            <a:ext cx="42481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E7D32"/>
                </a:solidFill>
              </a:rPr>
              <a:t>install.packages(</a:t>
            </a:r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E7D32"/>
                </a:solidFill>
              </a:rPr>
              <a:t>"thematic"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E7D32"/>
                </a:solidFill>
              </a:rPr>
              <a:t>)</a:t>
            </a:r>
            <a:endParaRPr lang="en-US" sz="1050" dirty="0"/>
          </a:p>
        </p:txBody>
      </p:sp>
      <p:sp>
        <p:nvSpPr>
          <p:cNvPr id="36" name="Text 15"/>
          <p:cNvSpPr/>
          <p:nvPr/>
        </p:nvSpPr>
        <p:spPr>
          <a:xfrm>
            <a:off x="6800850" y="3619500"/>
            <a:ext cx="4629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spc="72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THEME INHERITANCE FLOW</a:t>
            </a:r>
            <a:endParaRPr lang="en-US" sz="900" dirty="0"/>
          </a:p>
        </p:txBody>
      </p:sp>
      <p:sp>
        <p:nvSpPr>
          <p:cNvPr id="37" name="Text 16"/>
          <p:cNvSpPr/>
          <p:nvPr/>
        </p:nvSpPr>
        <p:spPr>
          <a:xfrm>
            <a:off x="6953250" y="4305300"/>
            <a:ext cx="1162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spc="18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</a:t>
            </a:r>
            <a:endParaRPr lang="en-US" sz="900" dirty="0"/>
          </a:p>
        </p:txBody>
      </p:sp>
      <p:sp>
        <p:nvSpPr>
          <p:cNvPr id="38" name="Text 17"/>
          <p:cNvSpPr/>
          <p:nvPr/>
        </p:nvSpPr>
        <p:spPr>
          <a:xfrm>
            <a:off x="6953250" y="4495800"/>
            <a:ext cx="1162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Shiny CSS</a:t>
            </a:r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Theme</a:t>
            </a:r>
            <a:endParaRPr lang="en-US" sz="1050" dirty="0"/>
          </a:p>
        </p:txBody>
      </p:sp>
      <p:sp>
        <p:nvSpPr>
          <p:cNvPr id="39" name="Text 18"/>
          <p:cNvSpPr/>
          <p:nvPr/>
        </p:nvSpPr>
        <p:spPr>
          <a:xfrm>
            <a:off x="8534400" y="4305300"/>
            <a:ext cx="1162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spc="18" kern="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BRIDGE</a:t>
            </a:r>
            <a:endParaRPr lang="en-US" sz="900" dirty="0"/>
          </a:p>
        </p:txBody>
      </p:sp>
      <p:sp>
        <p:nvSpPr>
          <p:cNvPr id="40" name="Text 19"/>
          <p:cNvSpPr/>
          <p:nvPr/>
        </p:nvSpPr>
        <p:spPr>
          <a:xfrm>
            <a:off x="8534400" y="4495800"/>
            <a:ext cx="1162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thematic</a:t>
            </a:r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Package</a:t>
            </a:r>
            <a:endParaRPr lang="en-US" sz="1050" dirty="0"/>
          </a:p>
        </p:txBody>
      </p:sp>
      <p:sp>
        <p:nvSpPr>
          <p:cNvPr id="41" name="Text 20"/>
          <p:cNvSpPr/>
          <p:nvPr/>
        </p:nvSpPr>
        <p:spPr>
          <a:xfrm>
            <a:off x="10115550" y="4305300"/>
            <a:ext cx="1162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spc="18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</a:t>
            </a:r>
            <a:endParaRPr lang="en-US" sz="900" dirty="0"/>
          </a:p>
        </p:txBody>
      </p:sp>
      <p:sp>
        <p:nvSpPr>
          <p:cNvPr id="42" name="Text 21"/>
          <p:cNvSpPr/>
          <p:nvPr/>
        </p:nvSpPr>
        <p:spPr>
          <a:xfrm>
            <a:off x="10115550" y="4495800"/>
            <a:ext cx="1162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ggplot2</a:t>
            </a:r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Plots</a:t>
            </a:r>
            <a:endParaRPr lang="en-US" sz="1050" dirty="0"/>
          </a:p>
        </p:txBody>
      </p:sp>
      <p:sp>
        <p:nvSpPr>
          <p:cNvPr id="43" name="Text 22"/>
          <p:cNvSpPr/>
          <p:nvPr/>
        </p:nvSpPr>
        <p:spPr>
          <a:xfrm>
            <a:off x="762000" y="6362700"/>
            <a:ext cx="45262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spc="72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STATISTICAL ANALYSIS SYSTEM</a:t>
            </a:r>
            <a:endParaRPr lang="en-US" sz="900" dirty="0"/>
          </a:p>
        </p:txBody>
      </p:sp>
      <p:sp>
        <p:nvSpPr>
          <p:cNvPr id="44" name="Text 23"/>
          <p:cNvSpPr/>
          <p:nvPr/>
        </p:nvSpPr>
        <p:spPr>
          <a:xfrm>
            <a:off x="9096375" y="6362700"/>
            <a:ext cx="3095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Black Knight | Scientific Computation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22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766" y="385948"/>
            <a:ext cx="3231271" cy="17813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766" y="623455"/>
            <a:ext cx="1154365" cy="326571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766" y="1187532"/>
            <a:ext cx="4259229" cy="1383754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896" y="1365662"/>
            <a:ext cx="215240" cy="195641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766" y="2719728"/>
            <a:ext cx="4259229" cy="2716713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896" y="2897857"/>
            <a:ext cx="192974" cy="192974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896" y="3209585"/>
            <a:ext cx="111331" cy="121421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896" y="3449759"/>
            <a:ext cx="111331" cy="12142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896" y="3835707"/>
            <a:ext cx="111331" cy="12142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1896" y="4075880"/>
            <a:ext cx="111331" cy="121421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3766" y="5584882"/>
            <a:ext cx="148442" cy="138468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3766" y="5782726"/>
            <a:ext cx="4259229" cy="362754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90501" y="1514104"/>
            <a:ext cx="6507538" cy="2056959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68631" y="1692234"/>
            <a:ext cx="20643" cy="17007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37716" y="1692234"/>
            <a:ext cx="289461" cy="221851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965184" y="1714036"/>
            <a:ext cx="1454726" cy="17813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37716" y="2003149"/>
            <a:ext cx="5982194" cy="362754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37716" y="3006985"/>
            <a:ext cx="1954442" cy="385948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51534" y="3006985"/>
            <a:ext cx="1954442" cy="385948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465352" y="3006985"/>
            <a:ext cx="1954557" cy="385948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090501" y="3749193"/>
            <a:ext cx="6507538" cy="2055568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268631" y="3927323"/>
            <a:ext cx="22498" cy="1699308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439571" y="3927323"/>
            <a:ext cx="230084" cy="220459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965184" y="3948429"/>
            <a:ext cx="1454726" cy="17813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439571" y="4236847"/>
            <a:ext cx="5980338" cy="362754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439571" y="5240682"/>
            <a:ext cx="1953862" cy="385949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452810" y="5240682"/>
            <a:ext cx="1953862" cy="385949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466048" y="5240682"/>
            <a:ext cx="1953862" cy="385949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93766" y="6293922"/>
            <a:ext cx="11004390" cy="267195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682831" y="385948"/>
            <a:ext cx="5070643" cy="1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35"/>
              </a:lnSpc>
              <a:buNone/>
            </a:pPr>
            <a:r>
              <a:rPr lang="en-US" sz="900" b="1" spc="231" kern="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 PACKAGE — STATISTICAL MOMENTS</a:t>
            </a:r>
            <a:endParaRPr lang="en-US" sz="900" dirty="0"/>
          </a:p>
        </p:txBody>
      </p:sp>
      <p:sp>
        <p:nvSpPr>
          <p:cNvPr id="33" name="Text 1"/>
          <p:cNvSpPr/>
          <p:nvPr/>
        </p:nvSpPr>
        <p:spPr>
          <a:xfrm>
            <a:off x="742208" y="623455"/>
            <a:ext cx="2260242" cy="3265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4"/>
              </a:lnSpc>
              <a:buNone/>
            </a:pPr>
            <a:r>
              <a:rPr lang="en-US" sz="2250" b="1" dirty="0">
                <a:solidFill>
                  <a:srgbClr val="FFFFFF"/>
                </a:solidFill>
              </a:rPr>
              <a:t>e1071</a:t>
            </a:r>
            <a:endParaRPr lang="en-US" sz="2250" dirty="0"/>
          </a:p>
        </p:txBody>
      </p:sp>
      <p:sp>
        <p:nvSpPr>
          <p:cNvPr id="34" name="Text 2"/>
          <p:cNvSpPr/>
          <p:nvPr/>
        </p:nvSpPr>
        <p:spPr>
          <a:xfrm>
            <a:off x="1896573" y="638299"/>
            <a:ext cx="10295427" cy="29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338"/>
              </a:lnSpc>
              <a:buNone/>
            </a:pPr>
            <a:r>
              <a:rPr lang="en-US" sz="27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Distribution Shape Analysis</a:t>
            </a:r>
            <a:endParaRPr lang="en-US" sz="2700" dirty="0"/>
          </a:p>
        </p:txBody>
      </p:sp>
      <p:sp>
        <p:nvSpPr>
          <p:cNvPr id="35" name="Text 3"/>
          <p:cNvSpPr/>
          <p:nvPr/>
        </p:nvSpPr>
        <p:spPr>
          <a:xfrm>
            <a:off x="1076201" y="1374360"/>
            <a:ext cx="1642869" cy="1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03"/>
              </a:lnSpc>
              <a:buNone/>
            </a:pPr>
            <a:r>
              <a:rPr lang="en-US" sz="1200" b="1" spc="62" kern="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</a:t>
            </a:r>
            <a:endParaRPr lang="en-US" sz="1200" dirty="0"/>
          </a:p>
        </p:txBody>
      </p:sp>
      <p:sp>
        <p:nvSpPr>
          <p:cNvPr id="36" name="Text 4"/>
          <p:cNvSpPr/>
          <p:nvPr/>
        </p:nvSpPr>
        <p:spPr>
          <a:xfrm>
            <a:off x="771896" y="1650369"/>
            <a:ext cx="3902969" cy="7427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accurate computation of </a:t>
            </a:r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higher-order statistical moments</a:t>
            </a:r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used in distribution shape analysis — going beyond basic mean and variance.</a:t>
            </a:r>
            <a:endParaRPr lang="en-US" sz="1200" dirty="0"/>
          </a:p>
        </p:txBody>
      </p:sp>
      <p:sp>
        <p:nvSpPr>
          <p:cNvPr id="37" name="Text 5"/>
          <p:cNvSpPr/>
          <p:nvPr/>
        </p:nvSpPr>
        <p:spPr>
          <a:xfrm>
            <a:off x="1053935" y="2905280"/>
            <a:ext cx="4224521" cy="1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03"/>
              </a:lnSpc>
              <a:buNone/>
            </a:pPr>
            <a:r>
              <a:rPr lang="en-US" sz="1200" b="1" spc="62" kern="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IN THE SYSTEM</a:t>
            </a:r>
            <a:endParaRPr lang="en-US" sz="1200" dirty="0"/>
          </a:p>
        </p:txBody>
      </p:sp>
      <p:sp>
        <p:nvSpPr>
          <p:cNvPr id="38" name="Text 6"/>
          <p:cNvSpPr/>
          <p:nvPr/>
        </p:nvSpPr>
        <p:spPr>
          <a:xfrm>
            <a:off x="972292" y="3179896"/>
            <a:ext cx="10884047" cy="15110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69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Measures the</a:t>
            </a:r>
            <a:pPr algn="l" indent="0" marL="0">
              <a:lnSpc>
                <a:spcPts val="1169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symmetry</a:t>
            </a:r>
            <a:pPr algn="l" indent="0" marL="0">
              <a:lnSpc>
                <a:spcPts val="1169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data distribution (Skewness)</a:t>
            </a:r>
            <a:endParaRPr lang="en-US" sz="1050" dirty="0"/>
          </a:p>
        </p:txBody>
      </p:sp>
      <p:sp>
        <p:nvSpPr>
          <p:cNvPr id="39" name="Text 7"/>
          <p:cNvSpPr/>
          <p:nvPr/>
        </p:nvSpPr>
        <p:spPr>
          <a:xfrm>
            <a:off x="972292" y="3420070"/>
            <a:ext cx="3902969" cy="29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69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Measures the</a:t>
            </a:r>
            <a:pPr algn="l" indent="0" marL="0">
              <a:lnSpc>
                <a:spcPts val="1169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 sharpness</a:t>
            </a:r>
            <a:pPr algn="l" indent="0" marL="0">
              <a:lnSpc>
                <a:spcPts val="1169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data distribution (Kurtosis)</a:t>
            </a:r>
            <a:endParaRPr lang="en-US" sz="1050" dirty="0"/>
          </a:p>
        </p:txBody>
      </p:sp>
      <p:sp>
        <p:nvSpPr>
          <p:cNvPr id="40" name="Text 8"/>
          <p:cNvSpPr/>
          <p:nvPr/>
        </p:nvSpPr>
        <p:spPr>
          <a:xfrm>
            <a:off x="972292" y="3806018"/>
            <a:ext cx="10473328" cy="15110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69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Feeds directly into the</a:t>
            </a:r>
            <a:pPr algn="l" indent="0" marL="0">
              <a:lnSpc>
                <a:spcPts val="1169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Decision Engine</a:t>
            </a:r>
            <a:pPr algn="l" indent="0" marL="0">
              <a:lnSpc>
                <a:spcPts val="1169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logic</a:t>
            </a:r>
            <a:endParaRPr lang="en-US" sz="1050" dirty="0"/>
          </a:p>
        </p:txBody>
      </p:sp>
      <p:sp>
        <p:nvSpPr>
          <p:cNvPr id="41" name="Text 9"/>
          <p:cNvSpPr/>
          <p:nvPr/>
        </p:nvSpPr>
        <p:spPr>
          <a:xfrm>
            <a:off x="972292" y="4046192"/>
            <a:ext cx="3902969" cy="29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69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Determines if data is</a:t>
            </a:r>
            <a:pPr algn="l" indent="0" marL="0">
              <a:lnSpc>
                <a:spcPts val="1169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normal-like</a:t>
            </a:r>
            <a:pPr algn="l" indent="0" marL="0">
              <a:lnSpc>
                <a:spcPts val="1169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 requires robust measures</a:t>
            </a:r>
            <a:endParaRPr lang="en-US" sz="1050" dirty="0"/>
          </a:p>
        </p:txBody>
      </p:sp>
      <p:sp>
        <p:nvSpPr>
          <p:cNvPr id="42" name="Text 10"/>
          <p:cNvSpPr/>
          <p:nvPr/>
        </p:nvSpPr>
        <p:spPr>
          <a:xfrm>
            <a:off x="801584" y="5594739"/>
            <a:ext cx="2112264" cy="11875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35"/>
              </a:lnSpc>
              <a:buNone/>
            </a:pPr>
            <a:r>
              <a:rPr lang="en-US" sz="900" b="1" spc="46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INSTALLATION</a:t>
            </a:r>
            <a:endParaRPr lang="en-US" sz="900" dirty="0"/>
          </a:p>
        </p:txBody>
      </p:sp>
      <p:sp>
        <p:nvSpPr>
          <p:cNvPr id="43" name="Text 11"/>
          <p:cNvSpPr/>
          <p:nvPr/>
        </p:nvSpPr>
        <p:spPr>
          <a:xfrm>
            <a:off x="712519" y="5782726"/>
            <a:ext cx="5651798" cy="36275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spc="35" kern="0" dirty="0">
                <a:solidFill>
                  <a:srgbClr val="A6E3A1"/>
                </a:solidFill>
              </a:rPr>
              <a:t>install.packages("e1071")</a:t>
            </a:r>
            <a:endParaRPr lang="en-US" sz="1125" dirty="0"/>
          </a:p>
        </p:txBody>
      </p:sp>
      <p:sp>
        <p:nvSpPr>
          <p:cNvPr id="44" name="Text 12"/>
          <p:cNvSpPr/>
          <p:nvPr/>
        </p:nvSpPr>
        <p:spPr>
          <a:xfrm>
            <a:off x="5090501" y="1187532"/>
            <a:ext cx="6507538" cy="14844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69"/>
              </a:lnSpc>
              <a:buNone/>
            </a:pPr>
            <a:r>
              <a:rPr lang="en-US" sz="1050" b="1" spc="108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FUNCTIONS</a:t>
            </a:r>
            <a:endParaRPr lang="en-US" sz="1050" dirty="0"/>
          </a:p>
        </p:txBody>
      </p:sp>
      <p:sp>
        <p:nvSpPr>
          <p:cNvPr id="45" name="Text 13"/>
          <p:cNvSpPr/>
          <p:nvPr/>
        </p:nvSpPr>
        <p:spPr>
          <a:xfrm>
            <a:off x="5816241" y="1699192"/>
            <a:ext cx="2346963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36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Skewness</a:t>
            </a:r>
            <a:endParaRPr lang="en-US" sz="1500" dirty="0"/>
          </a:p>
        </p:txBody>
      </p:sp>
      <p:sp>
        <p:nvSpPr>
          <p:cNvPr id="46" name="Text 14"/>
          <p:cNvSpPr/>
          <p:nvPr/>
        </p:nvSpPr>
        <p:spPr>
          <a:xfrm>
            <a:off x="10054248" y="1714036"/>
            <a:ext cx="2137752" cy="1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35"/>
              </a:lnSpc>
              <a:buNone/>
            </a:pPr>
            <a:r>
              <a:rPr lang="en-US" sz="90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3rd Statistical Moment</a:t>
            </a:r>
            <a:endParaRPr lang="en-US" sz="900" dirty="0"/>
          </a:p>
        </p:txBody>
      </p:sp>
      <p:sp>
        <p:nvSpPr>
          <p:cNvPr id="47" name="Text 15"/>
          <p:cNvSpPr/>
          <p:nvPr/>
        </p:nvSpPr>
        <p:spPr>
          <a:xfrm>
            <a:off x="5556469" y="2003149"/>
            <a:ext cx="5677394" cy="36275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spc="35" kern="0" dirty="0">
                <a:solidFill>
                  <a:srgbClr val="A6E3A1"/>
                </a:solidFill>
              </a:rPr>
              <a:t>e1071::skewness(x)</a:t>
            </a:r>
            <a:endParaRPr lang="en-US" sz="1125" dirty="0"/>
          </a:p>
        </p:txBody>
      </p:sp>
      <p:sp>
        <p:nvSpPr>
          <p:cNvPr id="48" name="Text 16"/>
          <p:cNvSpPr/>
          <p:nvPr/>
        </p:nvSpPr>
        <p:spPr>
          <a:xfrm>
            <a:off x="5437716" y="2454968"/>
            <a:ext cx="5982194" cy="43326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Quantifies the </a:t>
            </a:r>
            <a:pPr indent="0" marL="0">
              <a:lnSpc>
                <a:spcPts val="1706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asymmetry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the data distribution. A value near zero indicates a symmetric distribution. Positive values indicate a right tail; negative values indicate a left tail.</a:t>
            </a:r>
            <a:endParaRPr lang="en-US" sz="1050" dirty="0"/>
          </a:p>
        </p:txBody>
      </p:sp>
      <p:sp>
        <p:nvSpPr>
          <p:cNvPr id="49" name="Text 17"/>
          <p:cNvSpPr/>
          <p:nvPr/>
        </p:nvSpPr>
        <p:spPr>
          <a:xfrm>
            <a:off x="5526781" y="3066362"/>
            <a:ext cx="1776312" cy="14844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69"/>
              </a:lnSpc>
              <a:buNone/>
            </a:pPr>
            <a:r>
              <a:rPr lang="en-US" sz="1050" b="1" dirty="0">
                <a:solidFill>
                  <a:srgbClr val="D84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 −0.5</a:t>
            </a:r>
            <a:endParaRPr lang="en-US" sz="1050" dirty="0"/>
          </a:p>
        </p:txBody>
      </p:sp>
      <p:sp>
        <p:nvSpPr>
          <p:cNvPr id="50" name="Text 18"/>
          <p:cNvSpPr/>
          <p:nvPr/>
        </p:nvSpPr>
        <p:spPr>
          <a:xfrm>
            <a:off x="5526781" y="3214803"/>
            <a:ext cx="1776312" cy="1187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935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Left-Skewed</a:t>
            </a:r>
            <a:endParaRPr lang="en-US" sz="900" dirty="0"/>
          </a:p>
        </p:txBody>
      </p:sp>
      <p:sp>
        <p:nvSpPr>
          <p:cNvPr id="51" name="Text 19"/>
          <p:cNvSpPr/>
          <p:nvPr/>
        </p:nvSpPr>
        <p:spPr>
          <a:xfrm>
            <a:off x="7540599" y="3066362"/>
            <a:ext cx="1776312" cy="14844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69"/>
              </a:lnSpc>
              <a:buNone/>
            </a:pPr>
            <a:r>
              <a:rPr lang="en-US" sz="105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−0.5 to 0.5</a:t>
            </a:r>
            <a:endParaRPr lang="en-US" sz="1050" dirty="0"/>
          </a:p>
        </p:txBody>
      </p:sp>
      <p:sp>
        <p:nvSpPr>
          <p:cNvPr id="52" name="Text 20"/>
          <p:cNvSpPr/>
          <p:nvPr/>
        </p:nvSpPr>
        <p:spPr>
          <a:xfrm>
            <a:off x="7540599" y="3214803"/>
            <a:ext cx="1776312" cy="1187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935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Symmetric</a:t>
            </a:r>
            <a:endParaRPr lang="en-US" sz="900" dirty="0"/>
          </a:p>
        </p:txBody>
      </p:sp>
      <p:sp>
        <p:nvSpPr>
          <p:cNvPr id="53" name="Text 21"/>
          <p:cNvSpPr/>
          <p:nvPr/>
        </p:nvSpPr>
        <p:spPr>
          <a:xfrm>
            <a:off x="9554417" y="3066362"/>
            <a:ext cx="1776428" cy="14844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69"/>
              </a:lnSpc>
              <a:buNone/>
            </a:pPr>
            <a:r>
              <a:rPr lang="en-US" sz="1050" b="1" dirty="0">
                <a:solidFill>
                  <a:srgbClr val="D84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 0.5</a:t>
            </a:r>
            <a:endParaRPr lang="en-US" sz="1050" dirty="0"/>
          </a:p>
        </p:txBody>
      </p:sp>
      <p:sp>
        <p:nvSpPr>
          <p:cNvPr id="54" name="Text 22"/>
          <p:cNvSpPr/>
          <p:nvPr/>
        </p:nvSpPr>
        <p:spPr>
          <a:xfrm>
            <a:off x="9554417" y="3214803"/>
            <a:ext cx="1776428" cy="1187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935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Right-Skewed</a:t>
            </a:r>
            <a:endParaRPr lang="en-US" sz="900" dirty="0"/>
          </a:p>
        </p:txBody>
      </p:sp>
      <p:sp>
        <p:nvSpPr>
          <p:cNvPr id="55" name="Text 23"/>
          <p:cNvSpPr/>
          <p:nvPr/>
        </p:nvSpPr>
        <p:spPr>
          <a:xfrm>
            <a:off x="5758721" y="3933585"/>
            <a:ext cx="2346963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36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Kurtosis</a:t>
            </a:r>
            <a:endParaRPr lang="en-US" sz="1500" dirty="0"/>
          </a:p>
        </p:txBody>
      </p:sp>
      <p:sp>
        <p:nvSpPr>
          <p:cNvPr id="56" name="Text 24"/>
          <p:cNvSpPr/>
          <p:nvPr/>
        </p:nvSpPr>
        <p:spPr>
          <a:xfrm>
            <a:off x="10054248" y="3948429"/>
            <a:ext cx="2137752" cy="1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35"/>
              </a:lnSpc>
              <a:buNone/>
            </a:pPr>
            <a:r>
              <a:rPr lang="en-US" sz="900" b="1" dirty="0">
                <a:solidFill>
                  <a:srgbClr val="1565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4th Statistical Moment</a:t>
            </a:r>
            <a:endParaRPr lang="en-US" sz="900" dirty="0"/>
          </a:p>
        </p:txBody>
      </p:sp>
      <p:sp>
        <p:nvSpPr>
          <p:cNvPr id="57" name="Text 25"/>
          <p:cNvSpPr/>
          <p:nvPr/>
        </p:nvSpPr>
        <p:spPr>
          <a:xfrm>
            <a:off x="5558325" y="4236847"/>
            <a:ext cx="5675538" cy="36275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spc="35" kern="0" dirty="0">
                <a:solidFill>
                  <a:srgbClr val="A6E3A1"/>
                </a:solidFill>
              </a:rPr>
              <a:t>e1071::kurtosis(x)</a:t>
            </a:r>
            <a:endParaRPr lang="en-US" sz="1125" dirty="0"/>
          </a:p>
        </p:txBody>
      </p:sp>
      <p:sp>
        <p:nvSpPr>
          <p:cNvPr id="58" name="Text 26"/>
          <p:cNvSpPr/>
          <p:nvPr/>
        </p:nvSpPr>
        <p:spPr>
          <a:xfrm>
            <a:off x="5439571" y="4688666"/>
            <a:ext cx="5980338" cy="43326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Measures the </a:t>
            </a:r>
            <a:pPr indent="0" marL="0">
              <a:lnSpc>
                <a:spcPts val="1706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peakedness and tail weight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the distribution relative to a normal curve. Uses excess kurtosis (subtracts 3), so a normal distribution returns 0.</a:t>
            </a:r>
            <a:endParaRPr lang="en-US" sz="1050" dirty="0"/>
          </a:p>
        </p:txBody>
      </p:sp>
      <p:sp>
        <p:nvSpPr>
          <p:cNvPr id="59" name="Text 27"/>
          <p:cNvSpPr/>
          <p:nvPr/>
        </p:nvSpPr>
        <p:spPr>
          <a:xfrm>
            <a:off x="5528636" y="5300059"/>
            <a:ext cx="1775732" cy="14844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69"/>
              </a:lnSpc>
              <a:buNone/>
            </a:pPr>
            <a:r>
              <a:rPr lang="en-US" sz="1050" b="1" dirty="0">
                <a:solidFill>
                  <a:srgbClr val="1565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 −0.5</a:t>
            </a:r>
            <a:endParaRPr lang="en-US" sz="1050" dirty="0"/>
          </a:p>
        </p:txBody>
      </p:sp>
      <p:sp>
        <p:nvSpPr>
          <p:cNvPr id="60" name="Text 28"/>
          <p:cNvSpPr/>
          <p:nvPr/>
        </p:nvSpPr>
        <p:spPr>
          <a:xfrm>
            <a:off x="5528636" y="5448501"/>
            <a:ext cx="1775732" cy="1187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935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Platykurtic</a:t>
            </a:r>
            <a:endParaRPr lang="en-US" sz="900" dirty="0"/>
          </a:p>
        </p:txBody>
      </p:sp>
      <p:sp>
        <p:nvSpPr>
          <p:cNvPr id="61" name="Text 29"/>
          <p:cNvSpPr/>
          <p:nvPr/>
        </p:nvSpPr>
        <p:spPr>
          <a:xfrm>
            <a:off x="7541875" y="5300059"/>
            <a:ext cx="1775732" cy="14844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69"/>
              </a:lnSpc>
              <a:buNone/>
            </a:pPr>
            <a:r>
              <a:rPr lang="en-US" sz="105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−0.5 to 0.5</a:t>
            </a:r>
            <a:endParaRPr lang="en-US" sz="1050" dirty="0"/>
          </a:p>
        </p:txBody>
      </p:sp>
      <p:sp>
        <p:nvSpPr>
          <p:cNvPr id="62" name="Text 30"/>
          <p:cNvSpPr/>
          <p:nvPr/>
        </p:nvSpPr>
        <p:spPr>
          <a:xfrm>
            <a:off x="7541875" y="5448501"/>
            <a:ext cx="1775732" cy="1187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935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Mesokurtic</a:t>
            </a:r>
            <a:endParaRPr lang="en-US" sz="900" dirty="0"/>
          </a:p>
        </p:txBody>
      </p:sp>
      <p:sp>
        <p:nvSpPr>
          <p:cNvPr id="63" name="Text 31"/>
          <p:cNvSpPr/>
          <p:nvPr/>
        </p:nvSpPr>
        <p:spPr>
          <a:xfrm>
            <a:off x="9555113" y="5300059"/>
            <a:ext cx="1775732" cy="14844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69"/>
              </a:lnSpc>
              <a:buNone/>
            </a:pPr>
            <a:r>
              <a:rPr lang="en-US" sz="1050" b="1" dirty="0">
                <a:solidFill>
                  <a:srgbClr val="1565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 0.5</a:t>
            </a:r>
            <a:endParaRPr lang="en-US" sz="1050" dirty="0"/>
          </a:p>
        </p:txBody>
      </p:sp>
      <p:sp>
        <p:nvSpPr>
          <p:cNvPr id="64" name="Text 32"/>
          <p:cNvSpPr/>
          <p:nvPr/>
        </p:nvSpPr>
        <p:spPr>
          <a:xfrm>
            <a:off x="9555113" y="5448501"/>
            <a:ext cx="1775732" cy="1187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935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Leptokurtic</a:t>
            </a:r>
            <a:endParaRPr lang="en-US" sz="900" dirty="0"/>
          </a:p>
        </p:txBody>
      </p:sp>
      <p:sp>
        <p:nvSpPr>
          <p:cNvPr id="65" name="Text 33"/>
          <p:cNvSpPr/>
          <p:nvPr/>
        </p:nvSpPr>
        <p:spPr>
          <a:xfrm>
            <a:off x="593766" y="6412675"/>
            <a:ext cx="6776860" cy="14844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69"/>
              </a:lnSpc>
              <a:buNone/>
            </a:pPr>
            <a:r>
              <a:rPr lang="en-US" sz="1050" spc="108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STATISTICAL ANALYSIS SYSTEM</a:t>
            </a:r>
            <a:endParaRPr lang="en-US" sz="1050" dirty="0"/>
          </a:p>
        </p:txBody>
      </p:sp>
      <p:sp>
        <p:nvSpPr>
          <p:cNvPr id="66" name="Text 34"/>
          <p:cNvSpPr/>
          <p:nvPr/>
        </p:nvSpPr>
        <p:spPr>
          <a:xfrm>
            <a:off x="8874254" y="6412675"/>
            <a:ext cx="3317746" cy="14844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69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Black Knight | Scientific Computation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87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006" y="2051054"/>
            <a:ext cx="3491857" cy="364223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208" y="2296257"/>
            <a:ext cx="367803" cy="36780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171" y="2370009"/>
            <a:ext cx="229877" cy="220299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208" y="3169790"/>
            <a:ext cx="99613" cy="119488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208" y="3520951"/>
            <a:ext cx="99613" cy="119488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208" y="4100672"/>
            <a:ext cx="99613" cy="11948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8208" y="4451833"/>
            <a:ext cx="99613" cy="119488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50065" y="2051054"/>
            <a:ext cx="3491857" cy="364223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95267" y="2296257"/>
            <a:ext cx="367803" cy="367803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64230" y="2370009"/>
            <a:ext cx="229877" cy="220299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95267" y="3169790"/>
            <a:ext cx="99613" cy="119488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95267" y="3749511"/>
            <a:ext cx="99613" cy="119488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95267" y="4100672"/>
            <a:ext cx="99613" cy="119488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95267" y="4451833"/>
            <a:ext cx="99613" cy="119488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87124" y="2051054"/>
            <a:ext cx="3491857" cy="3642235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32326" y="2296257"/>
            <a:ext cx="367804" cy="367803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01290" y="2370009"/>
            <a:ext cx="229877" cy="220299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32326" y="3169790"/>
            <a:ext cx="114939" cy="114939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32326" y="3520951"/>
            <a:ext cx="114939" cy="114939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32326" y="3872112"/>
            <a:ext cx="114939" cy="114938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32326" y="4223273"/>
            <a:ext cx="114939" cy="114939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13006" y="6061093"/>
            <a:ext cx="10965976" cy="337153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13006" y="6264151"/>
            <a:ext cx="153251" cy="134095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613006" y="459754"/>
            <a:ext cx="10965976" cy="15325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7"/>
              </a:lnSpc>
              <a:buNone/>
            </a:pPr>
            <a:r>
              <a:rPr lang="en-US" sz="1050" b="1" spc="261" kern="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</a:t>
            </a:r>
            <a:endParaRPr lang="en-US" sz="1050" dirty="0"/>
          </a:p>
        </p:txBody>
      </p:sp>
      <p:sp>
        <p:nvSpPr>
          <p:cNvPr id="27" name="Text 1"/>
          <p:cNvSpPr/>
          <p:nvPr/>
        </p:nvSpPr>
        <p:spPr>
          <a:xfrm>
            <a:off x="613006" y="674306"/>
            <a:ext cx="10965976" cy="45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STRUCTURE</a:t>
            </a:r>
            <a:endParaRPr lang="en-US" sz="3600" dirty="0"/>
          </a:p>
        </p:txBody>
      </p:sp>
      <p:sp>
        <p:nvSpPr>
          <p:cNvPr id="28" name="Text 2"/>
          <p:cNvSpPr/>
          <p:nvPr/>
        </p:nvSpPr>
        <p:spPr>
          <a:xfrm>
            <a:off x="613006" y="1254147"/>
            <a:ext cx="5884854" cy="42910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9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application is modularized into three primary files to separate logic, UI components, and visual styling.</a:t>
            </a:r>
            <a:endParaRPr lang="en-US" sz="1500" dirty="0"/>
          </a:p>
        </p:txBody>
      </p:sp>
      <p:sp>
        <p:nvSpPr>
          <p:cNvPr id="29" name="Text 3"/>
          <p:cNvSpPr/>
          <p:nvPr/>
        </p:nvSpPr>
        <p:spPr>
          <a:xfrm>
            <a:off x="1348612" y="2357557"/>
            <a:ext cx="1704973" cy="2452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31"/>
              </a:lnSpc>
              <a:buNone/>
            </a:pPr>
            <a:r>
              <a:rPr lang="en-US" sz="1800" b="1" dirty="0">
                <a:solidFill>
                  <a:srgbClr val="333333"/>
                </a:solidFill>
              </a:rPr>
              <a:t>app.R</a:t>
            </a:r>
            <a:endParaRPr lang="en-US" sz="1800" dirty="0"/>
          </a:p>
        </p:txBody>
      </p:sp>
      <p:sp>
        <p:nvSpPr>
          <p:cNvPr id="30" name="Text 4"/>
          <p:cNvSpPr/>
          <p:nvPr/>
        </p:nvSpPr>
        <p:spPr>
          <a:xfrm>
            <a:off x="858208" y="2847962"/>
            <a:ext cx="4376108" cy="15325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7"/>
              </a:lnSpc>
              <a:buNone/>
            </a:pPr>
            <a:r>
              <a:rPr lang="en-US" sz="1050" b="1" spc="104" kern="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APPLICATION LOGIC</a:t>
            </a:r>
            <a:endParaRPr lang="en-US" sz="1050" dirty="0"/>
          </a:p>
        </p:txBody>
      </p:sp>
      <p:sp>
        <p:nvSpPr>
          <p:cNvPr id="31" name="Text 5"/>
          <p:cNvSpPr/>
          <p:nvPr/>
        </p:nvSpPr>
        <p:spPr>
          <a:xfrm>
            <a:off x="1049772" y="3123814"/>
            <a:ext cx="5910583" cy="2285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Package loading &amp; sourcing</a:t>
            </a:r>
            <a:endParaRPr lang="en-US" sz="1200" dirty="0"/>
          </a:p>
        </p:txBody>
      </p:sp>
      <p:sp>
        <p:nvSpPr>
          <p:cNvPr id="32" name="Text 6"/>
          <p:cNvSpPr/>
          <p:nvPr/>
        </p:nvSpPr>
        <p:spPr>
          <a:xfrm>
            <a:off x="1049772" y="3474975"/>
            <a:ext cx="2809888" cy="4571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Reactive server logic for data processing</a:t>
            </a:r>
            <a:endParaRPr lang="en-US" sz="1200" dirty="0"/>
          </a:p>
        </p:txBody>
      </p:sp>
      <p:sp>
        <p:nvSpPr>
          <p:cNvPr id="33" name="Text 7"/>
          <p:cNvSpPr/>
          <p:nvPr/>
        </p:nvSpPr>
        <p:spPr>
          <a:xfrm>
            <a:off x="1049772" y="4054697"/>
            <a:ext cx="8335438" cy="2285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Statistical plot renderers (ggplot2)</a:t>
            </a:r>
            <a:endParaRPr lang="en-US" sz="1200" dirty="0"/>
          </a:p>
        </p:txBody>
      </p:sp>
      <p:sp>
        <p:nvSpPr>
          <p:cNvPr id="34" name="Text 8"/>
          <p:cNvSpPr/>
          <p:nvPr/>
        </p:nvSpPr>
        <p:spPr>
          <a:xfrm>
            <a:off x="1049772" y="4405858"/>
            <a:ext cx="6592574" cy="2285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Report generation logic</a:t>
            </a:r>
            <a:endParaRPr lang="en-US" sz="1200" dirty="0"/>
          </a:p>
        </p:txBody>
      </p:sp>
      <p:sp>
        <p:nvSpPr>
          <p:cNvPr id="35" name="Text 9"/>
          <p:cNvSpPr/>
          <p:nvPr/>
        </p:nvSpPr>
        <p:spPr>
          <a:xfrm>
            <a:off x="5085672" y="2357557"/>
            <a:ext cx="4091935" cy="2452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31"/>
              </a:lnSpc>
              <a:buNone/>
            </a:pPr>
            <a:r>
              <a:rPr lang="en-US" sz="1800" b="1" dirty="0">
                <a:solidFill>
                  <a:srgbClr val="333333"/>
                </a:solidFill>
              </a:rPr>
              <a:t>ui_helpers.R</a:t>
            </a:r>
            <a:endParaRPr lang="en-US" sz="1800" dirty="0"/>
          </a:p>
        </p:txBody>
      </p:sp>
      <p:sp>
        <p:nvSpPr>
          <p:cNvPr id="36" name="Text 10"/>
          <p:cNvSpPr/>
          <p:nvPr/>
        </p:nvSpPr>
        <p:spPr>
          <a:xfrm>
            <a:off x="4595267" y="2847962"/>
            <a:ext cx="4177194" cy="15325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7"/>
              </a:lnSpc>
              <a:buNone/>
            </a:pPr>
            <a:r>
              <a:rPr lang="en-US" sz="1050" b="1" spc="104" kern="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 UI COMPONENTS</a:t>
            </a:r>
            <a:endParaRPr lang="en-US" sz="1050" dirty="0"/>
          </a:p>
        </p:txBody>
      </p:sp>
      <p:sp>
        <p:nvSpPr>
          <p:cNvPr id="37" name="Text 11"/>
          <p:cNvSpPr/>
          <p:nvPr/>
        </p:nvSpPr>
        <p:spPr>
          <a:xfrm>
            <a:off x="4786831" y="3123814"/>
            <a:ext cx="2809889" cy="4571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Reusable UI widgets (KPI boxes, headers)</a:t>
            </a:r>
            <a:endParaRPr lang="en-US" sz="1200" dirty="0"/>
          </a:p>
        </p:txBody>
      </p:sp>
      <p:sp>
        <p:nvSpPr>
          <p:cNvPr id="38" name="Text 12"/>
          <p:cNvSpPr/>
          <p:nvPr/>
        </p:nvSpPr>
        <p:spPr>
          <a:xfrm>
            <a:off x="4786831" y="3703536"/>
            <a:ext cx="7405169" cy="2285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statistical table renderers</a:t>
            </a:r>
            <a:endParaRPr lang="en-US" sz="1200" dirty="0"/>
          </a:p>
        </p:txBody>
      </p:sp>
      <p:sp>
        <p:nvSpPr>
          <p:cNvPr id="39" name="Text 13"/>
          <p:cNvSpPr/>
          <p:nvPr/>
        </p:nvSpPr>
        <p:spPr>
          <a:xfrm>
            <a:off x="4786831" y="4054697"/>
            <a:ext cx="7405169" cy="2285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Quantitative &amp; Qualitative report UIs</a:t>
            </a:r>
            <a:endParaRPr lang="en-US" sz="1200" dirty="0"/>
          </a:p>
        </p:txBody>
      </p:sp>
      <p:sp>
        <p:nvSpPr>
          <p:cNvPr id="40" name="Text 14"/>
          <p:cNvSpPr/>
          <p:nvPr/>
        </p:nvSpPr>
        <p:spPr>
          <a:xfrm>
            <a:off x="4786831" y="4405858"/>
            <a:ext cx="7274564" cy="2285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content layout functions</a:t>
            </a:r>
            <a:endParaRPr lang="en-US" sz="1200" dirty="0"/>
          </a:p>
        </p:txBody>
      </p:sp>
      <p:sp>
        <p:nvSpPr>
          <p:cNvPr id="41" name="Text 15"/>
          <p:cNvSpPr/>
          <p:nvPr/>
        </p:nvSpPr>
        <p:spPr>
          <a:xfrm>
            <a:off x="8822731" y="2357557"/>
            <a:ext cx="3369269" cy="2452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31"/>
              </a:lnSpc>
              <a:buNone/>
            </a:pPr>
            <a:r>
              <a:rPr lang="en-US" sz="1800" b="1" dirty="0">
                <a:solidFill>
                  <a:srgbClr val="333333"/>
                </a:solidFill>
              </a:rPr>
              <a:t>styles.css</a:t>
            </a:r>
            <a:endParaRPr lang="en-US" sz="1800" dirty="0"/>
          </a:p>
        </p:txBody>
      </p:sp>
      <p:sp>
        <p:nvSpPr>
          <p:cNvPr id="42" name="Text 16"/>
          <p:cNvSpPr/>
          <p:nvPr/>
        </p:nvSpPr>
        <p:spPr>
          <a:xfrm>
            <a:off x="8332326" y="2847962"/>
            <a:ext cx="3859674" cy="15325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7"/>
              </a:lnSpc>
              <a:buNone/>
            </a:pPr>
            <a:r>
              <a:rPr lang="en-US" sz="1050" b="1" i="1" spc="104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APPEARANCE (NOT EXPLAINED)</a:t>
            </a:r>
            <a:endParaRPr lang="en-US" sz="1050" dirty="0"/>
          </a:p>
        </p:txBody>
      </p:sp>
      <p:sp>
        <p:nvSpPr>
          <p:cNvPr id="43" name="Text 17"/>
          <p:cNvSpPr/>
          <p:nvPr/>
        </p:nvSpPr>
        <p:spPr>
          <a:xfrm>
            <a:off x="8539216" y="3123814"/>
            <a:ext cx="3652784" cy="2285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CSS classes for branding</a:t>
            </a:r>
            <a:endParaRPr lang="en-US" sz="1200" dirty="0"/>
          </a:p>
        </p:txBody>
      </p:sp>
      <p:sp>
        <p:nvSpPr>
          <p:cNvPr id="44" name="Text 18"/>
          <p:cNvSpPr/>
          <p:nvPr/>
        </p:nvSpPr>
        <p:spPr>
          <a:xfrm>
            <a:off x="8539216" y="3474975"/>
            <a:ext cx="3652784" cy="2285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 integration (Inter &amp; Space Mono)</a:t>
            </a:r>
            <a:endParaRPr lang="en-US" sz="1200" dirty="0"/>
          </a:p>
        </p:txBody>
      </p:sp>
      <p:sp>
        <p:nvSpPr>
          <p:cNvPr id="45" name="Text 19"/>
          <p:cNvSpPr/>
          <p:nvPr/>
        </p:nvSpPr>
        <p:spPr>
          <a:xfrm>
            <a:off x="8539216" y="3826137"/>
            <a:ext cx="3652784" cy="2285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Layout grid &amp; card styling</a:t>
            </a:r>
            <a:endParaRPr lang="en-US" sz="1200" dirty="0"/>
          </a:p>
        </p:txBody>
      </p:sp>
      <p:sp>
        <p:nvSpPr>
          <p:cNvPr id="46" name="Text 20"/>
          <p:cNvSpPr/>
          <p:nvPr/>
        </p:nvSpPr>
        <p:spPr>
          <a:xfrm>
            <a:off x="8539216" y="4177298"/>
            <a:ext cx="3652784" cy="2285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Badge and table visual formats</a:t>
            </a:r>
            <a:endParaRPr lang="en-US" sz="1200" dirty="0"/>
          </a:p>
        </p:txBody>
      </p:sp>
      <p:sp>
        <p:nvSpPr>
          <p:cNvPr id="47" name="Text 21"/>
          <p:cNvSpPr/>
          <p:nvPr/>
        </p:nvSpPr>
        <p:spPr>
          <a:xfrm>
            <a:off x="827558" y="6244994"/>
            <a:ext cx="5768506" cy="15325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7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Project Root / application /</a:t>
            </a:r>
            <a:endParaRPr lang="en-US" sz="1050" dirty="0"/>
          </a:p>
        </p:txBody>
      </p:sp>
      <p:sp>
        <p:nvSpPr>
          <p:cNvPr id="48" name="Text 22"/>
          <p:cNvSpPr/>
          <p:nvPr/>
        </p:nvSpPr>
        <p:spPr>
          <a:xfrm>
            <a:off x="9903992" y="6244994"/>
            <a:ext cx="2288008" cy="15325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7"/>
              </a:lnSpc>
              <a:buNone/>
            </a:pPr>
            <a:r>
              <a:rPr lang="en-US" sz="1050" b="1" spc="104" kern="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BLACK KNIGHT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03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983" y="1456210"/>
            <a:ext cx="5382341" cy="433939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689" y="1709916"/>
            <a:ext cx="380560" cy="380559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936" y="1802950"/>
            <a:ext cx="214065" cy="194492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689" y="2957141"/>
            <a:ext cx="134781" cy="14432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689" y="3312553"/>
            <a:ext cx="134781" cy="14432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689" y="4527073"/>
            <a:ext cx="4874928" cy="1014826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4456" y="1456210"/>
            <a:ext cx="5382465" cy="4339394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8163" y="1709916"/>
            <a:ext cx="380559" cy="380559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27087" y="1798243"/>
            <a:ext cx="142710" cy="203783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08163" y="2915021"/>
            <a:ext cx="2389894" cy="418839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03302" y="3048812"/>
            <a:ext cx="110997" cy="151257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93196" y="2915021"/>
            <a:ext cx="2390018" cy="418839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88337" y="3048812"/>
            <a:ext cx="110996" cy="151257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08163" y="3429000"/>
            <a:ext cx="2389894" cy="418838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03302" y="3566259"/>
            <a:ext cx="134782" cy="14432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93196" y="3429000"/>
            <a:ext cx="2390018" cy="418838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88337" y="3563038"/>
            <a:ext cx="150638" cy="150638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08163" y="4527073"/>
            <a:ext cx="4875052" cy="1014826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54983" y="6112737"/>
            <a:ext cx="11081939" cy="348846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554983" y="396416"/>
            <a:ext cx="4447789" cy="15856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49"/>
              </a:lnSpc>
              <a:buNone/>
            </a:pPr>
            <a:r>
              <a:rPr lang="en-US" sz="1050" b="1" spc="202" kern="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INTERFACE</a:t>
            </a:r>
            <a:endParaRPr lang="en-US" sz="1050" dirty="0"/>
          </a:p>
        </p:txBody>
      </p:sp>
      <p:sp>
        <p:nvSpPr>
          <p:cNvPr id="23" name="Text 1"/>
          <p:cNvSpPr/>
          <p:nvPr/>
        </p:nvSpPr>
        <p:spPr>
          <a:xfrm>
            <a:off x="554983" y="618409"/>
            <a:ext cx="11637017" cy="4572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Input Methods</a:t>
            </a:r>
            <a:endParaRPr lang="en-US" sz="3600" dirty="0"/>
          </a:p>
        </p:txBody>
      </p:sp>
      <p:sp>
        <p:nvSpPr>
          <p:cNvPr id="24" name="Text 2"/>
          <p:cNvSpPr/>
          <p:nvPr/>
        </p:nvSpPr>
        <p:spPr>
          <a:xfrm>
            <a:off x="10637952" y="853657"/>
            <a:ext cx="1554048" cy="22199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48"/>
              </a:lnSpc>
              <a:buNone/>
            </a:pPr>
            <a:r>
              <a:rPr lang="en-US" sz="13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15 / 35</a:t>
            </a:r>
            <a:endParaRPr lang="en-US" sz="1350" dirty="0"/>
          </a:p>
        </p:txBody>
      </p:sp>
      <p:sp>
        <p:nvSpPr>
          <p:cNvPr id="25" name="Text 3"/>
          <p:cNvSpPr/>
          <p:nvPr/>
        </p:nvSpPr>
        <p:spPr>
          <a:xfrm>
            <a:off x="1316102" y="1773343"/>
            <a:ext cx="6261728" cy="25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98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Number Entry</a:t>
            </a:r>
            <a:endParaRPr lang="en-US" sz="1800" dirty="0"/>
          </a:p>
        </p:txBody>
      </p:sp>
      <p:sp>
        <p:nvSpPr>
          <p:cNvPr id="26" name="Text 4"/>
          <p:cNvSpPr/>
          <p:nvPr/>
        </p:nvSpPr>
        <p:spPr>
          <a:xfrm>
            <a:off x="808689" y="2280756"/>
            <a:ext cx="4874928" cy="44398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48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Allows users to paste or type raw numerical data directly into a text area.</a:t>
            </a:r>
            <a:endParaRPr lang="en-US" sz="1350" dirty="0"/>
          </a:p>
        </p:txBody>
      </p:sp>
      <p:sp>
        <p:nvSpPr>
          <p:cNvPr id="27" name="Text 5"/>
          <p:cNvSpPr/>
          <p:nvPr/>
        </p:nvSpPr>
        <p:spPr>
          <a:xfrm>
            <a:off x="1038610" y="2915021"/>
            <a:ext cx="7470131" cy="22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space or comma separation</a:t>
            </a:r>
            <a:endParaRPr lang="en-US" sz="1200" dirty="0"/>
          </a:p>
        </p:txBody>
      </p:sp>
      <p:sp>
        <p:nvSpPr>
          <p:cNvPr id="28" name="Text 6"/>
          <p:cNvSpPr/>
          <p:nvPr/>
        </p:nvSpPr>
        <p:spPr>
          <a:xfrm>
            <a:off x="1038610" y="3270434"/>
            <a:ext cx="6811002" cy="22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non-numeric filtering</a:t>
            </a:r>
            <a:endParaRPr lang="en-US" sz="1200" dirty="0"/>
          </a:p>
        </p:txBody>
      </p:sp>
      <p:sp>
        <p:nvSpPr>
          <p:cNvPr id="29" name="Text 7"/>
          <p:cNvSpPr/>
          <p:nvPr/>
        </p:nvSpPr>
        <p:spPr>
          <a:xfrm>
            <a:off x="967255" y="4527073"/>
            <a:ext cx="4493928" cy="101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49"/>
              </a:lnSpc>
              <a:buNone/>
            </a:pPr>
            <a:r>
              <a:rPr lang="en-US" sz="1050" dirty="0">
                <a:solidFill>
                  <a:srgbClr val="9CA3AF"/>
                </a:solidFill>
              </a:rPr>
              <a:t># Processing Logic</a:t>
            </a:r>
            <a:pPr indent="0" marL="0">
              <a:lnSpc>
                <a:spcPts val="1249"/>
              </a:lnSpc>
              <a:buNone/>
            </a:pPr>
            <a:r>
              <a:rPr lang="en-US" sz="1050" dirty="0">
                <a:solidFill>
                  <a:srgbClr val="60A5FA"/>
                </a:solidFill>
              </a:rPr>
              <a:t>raw</a:t>
            </a:r>
            <a:pPr indent="0" marL="0">
              <a:lnSpc>
                <a:spcPts val="1249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 &lt;- unlist(strsplit(input$data, </a:t>
            </a:r>
            <a:pPr indent="0" marL="0">
              <a:lnSpc>
                <a:spcPts val="1249"/>
              </a:lnSpc>
              <a:buNone/>
            </a:pPr>
            <a:r>
              <a:rPr lang="en-US" sz="1050" dirty="0">
                <a:solidFill>
                  <a:srgbClr val="4ADE80"/>
                </a:solidFill>
              </a:rPr>
              <a:t>"[[:space:],]+"</a:t>
            </a:r>
            <a:pPr indent="0" marL="0">
              <a:lnSpc>
                <a:spcPts val="1249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))</a:t>
            </a:r>
            <a:pPr indent="0" marL="0">
              <a:lnSpc>
                <a:spcPts val="1249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
</a:t>
            </a:r>
            <a:pPr indent="0" marL="0">
              <a:lnSpc>
                <a:spcPts val="1249"/>
              </a:lnSpc>
              <a:buNone/>
            </a:pPr>
            <a:r>
              <a:rPr lang="en-US" sz="1050" dirty="0">
                <a:solidFill>
                  <a:srgbClr val="60A5FA"/>
                </a:solidFill>
              </a:rPr>
              <a:t>raw</a:t>
            </a:r>
            <a:pPr indent="0" marL="0">
              <a:lnSpc>
                <a:spcPts val="1249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 &lt;- as.numeric(raw)</a:t>
            </a:r>
            <a:pPr indent="0" marL="0">
              <a:lnSpc>
                <a:spcPts val="1249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
</a:t>
            </a:r>
            <a:pPr indent="0" marL="0">
              <a:lnSpc>
                <a:spcPts val="1249"/>
              </a:lnSpc>
              <a:buNone/>
            </a:pPr>
            <a:r>
              <a:rPr lang="en-US" sz="1050" dirty="0">
                <a:solidFill>
                  <a:srgbClr val="60A5FA"/>
                </a:solidFill>
              </a:rPr>
              <a:t>raw</a:t>
            </a:r>
            <a:pPr indent="0" marL="0">
              <a:lnSpc>
                <a:spcPts val="1249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 &lt;- raw[is.finite(raw)]</a:t>
            </a:r>
            <a:endParaRPr lang="en-US" sz="1050" dirty="0"/>
          </a:p>
        </p:txBody>
      </p:sp>
      <p:sp>
        <p:nvSpPr>
          <p:cNvPr id="30" name="Text 8"/>
          <p:cNvSpPr/>
          <p:nvPr/>
        </p:nvSpPr>
        <p:spPr>
          <a:xfrm>
            <a:off x="7015575" y="1773343"/>
            <a:ext cx="5176425" cy="25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98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 File Import</a:t>
            </a:r>
            <a:endParaRPr lang="en-US" sz="1800" dirty="0"/>
          </a:p>
        </p:txBody>
      </p:sp>
      <p:sp>
        <p:nvSpPr>
          <p:cNvPr id="31" name="Text 9"/>
          <p:cNvSpPr/>
          <p:nvPr/>
        </p:nvSpPr>
        <p:spPr>
          <a:xfrm>
            <a:off x="6508163" y="2280756"/>
            <a:ext cx="4875052" cy="44398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48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High-speed reading of structured datasets with automatic format detection.</a:t>
            </a:r>
            <a:endParaRPr lang="en-US" sz="1350" dirty="0"/>
          </a:p>
        </p:txBody>
      </p:sp>
      <p:sp>
        <p:nvSpPr>
          <p:cNvPr id="32" name="Text 10"/>
          <p:cNvSpPr/>
          <p:nvPr/>
        </p:nvSpPr>
        <p:spPr>
          <a:xfrm>
            <a:off x="6777726" y="3010161"/>
            <a:ext cx="878839" cy="22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.CSV</a:t>
            </a:r>
            <a:endParaRPr lang="en-US" sz="1200" dirty="0"/>
          </a:p>
        </p:txBody>
      </p:sp>
      <p:sp>
        <p:nvSpPr>
          <p:cNvPr id="33" name="Text 11"/>
          <p:cNvSpPr/>
          <p:nvPr/>
        </p:nvSpPr>
        <p:spPr>
          <a:xfrm>
            <a:off x="9262760" y="3010161"/>
            <a:ext cx="2636517" cy="22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.XLSX / .XLS</a:t>
            </a:r>
            <a:endParaRPr lang="en-US" sz="1200" dirty="0"/>
          </a:p>
        </p:txBody>
      </p:sp>
      <p:sp>
        <p:nvSpPr>
          <p:cNvPr id="34" name="Text 12"/>
          <p:cNvSpPr/>
          <p:nvPr/>
        </p:nvSpPr>
        <p:spPr>
          <a:xfrm>
            <a:off x="6801510" y="3524140"/>
            <a:ext cx="2416807" cy="22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.SAV (SPSS)</a:t>
            </a:r>
            <a:endParaRPr lang="en-US" sz="1200" dirty="0"/>
          </a:p>
        </p:txBody>
      </p:sp>
      <p:sp>
        <p:nvSpPr>
          <p:cNvPr id="35" name="Text 13"/>
          <p:cNvSpPr/>
          <p:nvPr/>
        </p:nvSpPr>
        <p:spPr>
          <a:xfrm>
            <a:off x="9302401" y="3524140"/>
            <a:ext cx="2856227" cy="2285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Tabs</a:t>
            </a:r>
            <a:endParaRPr lang="en-US" sz="1200" dirty="0"/>
          </a:p>
        </p:txBody>
      </p:sp>
      <p:sp>
        <p:nvSpPr>
          <p:cNvPr id="36" name="Text 14"/>
          <p:cNvSpPr/>
          <p:nvPr/>
        </p:nvSpPr>
        <p:spPr>
          <a:xfrm>
            <a:off x="6698442" y="4717352"/>
            <a:ext cx="4494492" cy="1268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99"/>
              </a:lnSpc>
              <a:buNone/>
            </a:pPr>
            <a:r>
              <a:rPr lang="en-US" sz="900" b="1" spc="87" kern="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POST-UPLOAD CONFIGURATION</a:t>
            </a:r>
            <a:endParaRPr lang="en-US" sz="900" dirty="0"/>
          </a:p>
        </p:txBody>
      </p:sp>
      <p:sp>
        <p:nvSpPr>
          <p:cNvPr id="37" name="Text 15"/>
          <p:cNvSpPr/>
          <p:nvPr/>
        </p:nvSpPr>
        <p:spPr>
          <a:xfrm>
            <a:off x="6698442" y="4939346"/>
            <a:ext cx="3075932" cy="15856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49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Variable</a:t>
            </a:r>
            <a:endParaRPr lang="en-US" sz="1050" dirty="0"/>
          </a:p>
        </p:txBody>
      </p:sp>
      <p:sp>
        <p:nvSpPr>
          <p:cNvPr id="38" name="Text 16"/>
          <p:cNvSpPr/>
          <p:nvPr/>
        </p:nvSpPr>
        <p:spPr>
          <a:xfrm>
            <a:off x="10553590" y="4939346"/>
            <a:ext cx="1537966" cy="15856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49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Column X</a:t>
            </a:r>
            <a:endParaRPr lang="en-US" sz="1050" dirty="0"/>
          </a:p>
        </p:txBody>
      </p:sp>
      <p:sp>
        <p:nvSpPr>
          <p:cNvPr id="39" name="Text 17"/>
          <p:cNvSpPr/>
          <p:nvPr/>
        </p:nvSpPr>
        <p:spPr>
          <a:xfrm>
            <a:off x="6698442" y="5193052"/>
            <a:ext cx="3460423" cy="15856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49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 Variable</a:t>
            </a:r>
            <a:endParaRPr lang="en-US" sz="1050" dirty="0"/>
          </a:p>
        </p:txBody>
      </p:sp>
      <p:sp>
        <p:nvSpPr>
          <p:cNvPr id="40" name="Text 18"/>
          <p:cNvSpPr/>
          <p:nvPr/>
        </p:nvSpPr>
        <p:spPr>
          <a:xfrm>
            <a:off x="9674413" y="5193052"/>
            <a:ext cx="2517587" cy="15856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49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Column Y (Optional)</a:t>
            </a:r>
            <a:endParaRPr lang="en-US" sz="1050" dirty="0"/>
          </a:p>
        </p:txBody>
      </p:sp>
      <p:sp>
        <p:nvSpPr>
          <p:cNvPr id="41" name="Text 19"/>
          <p:cNvSpPr/>
          <p:nvPr/>
        </p:nvSpPr>
        <p:spPr>
          <a:xfrm>
            <a:off x="554983" y="6303017"/>
            <a:ext cx="8458813" cy="15856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49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Powered by </a:t>
            </a:r>
            <a:pPr indent="0" marL="0">
              <a:lnSpc>
                <a:spcPts val="1249"/>
              </a:lnSpc>
              <a:buNone/>
            </a:pPr>
            <a:r>
              <a:rPr lang="en-US" sz="10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readr, readxl, and haven</a:t>
            </a:r>
            <a:pPr indent="0" marL="0">
              <a:lnSpc>
                <a:spcPts val="1249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packages</a:t>
            </a:r>
            <a:endParaRPr lang="en-US" sz="1050" dirty="0"/>
          </a:p>
        </p:txBody>
      </p:sp>
      <p:sp>
        <p:nvSpPr>
          <p:cNvPr id="42" name="Text 20"/>
          <p:cNvSpPr/>
          <p:nvPr/>
        </p:nvSpPr>
        <p:spPr>
          <a:xfrm>
            <a:off x="8893721" y="6303017"/>
            <a:ext cx="3298279" cy="15856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49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Scientific Computation | Team Black Knight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3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60" y="1297916"/>
            <a:ext cx="3503559" cy="247590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0700" y="1484740"/>
            <a:ext cx="716159" cy="731606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7524" y="1687012"/>
            <a:ext cx="342511" cy="342511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1766" y="3233905"/>
            <a:ext cx="1894026" cy="353093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9718" y="1297916"/>
            <a:ext cx="3628108" cy="247590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8817" y="1547015"/>
            <a:ext cx="1397775" cy="217961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49629" y="1547015"/>
            <a:ext cx="249099" cy="277803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68817" y="2385291"/>
            <a:ext cx="132333" cy="162863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68817" y="2707246"/>
            <a:ext cx="132333" cy="162863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68817" y="3029201"/>
            <a:ext cx="132333" cy="162863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96926" y="1297916"/>
            <a:ext cx="3628109" cy="247590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46024" y="1547015"/>
            <a:ext cx="1275415" cy="217961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226837" y="1547015"/>
            <a:ext cx="249099" cy="277803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46024" y="2385291"/>
            <a:ext cx="132334" cy="162863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46024" y="2707246"/>
            <a:ext cx="132334" cy="162863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46024" y="3029201"/>
            <a:ext cx="132334" cy="162863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67060" y="4022920"/>
            <a:ext cx="11257852" cy="2201386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3884" y="4209744"/>
            <a:ext cx="10884204" cy="186824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67060" y="6411130"/>
            <a:ext cx="11257852" cy="249099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467060" y="311373"/>
            <a:ext cx="11724940" cy="45720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 Data Detection</a:t>
            </a:r>
            <a:endParaRPr lang="en-US" sz="3600" dirty="0"/>
          </a:p>
        </p:txBody>
      </p:sp>
      <p:sp>
        <p:nvSpPr>
          <p:cNvPr id="23" name="Text 1"/>
          <p:cNvSpPr/>
          <p:nvPr/>
        </p:nvSpPr>
        <p:spPr>
          <a:xfrm>
            <a:off x="467060" y="830856"/>
            <a:ext cx="11724940" cy="2179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16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Intelligent classification of variables to determine appropriate statistical pathways.</a:t>
            </a:r>
            <a:endParaRPr lang="en-US" sz="1500" dirty="0"/>
          </a:p>
        </p:txBody>
      </p:sp>
      <p:sp>
        <p:nvSpPr>
          <p:cNvPr id="24" name="Text 2"/>
          <p:cNvSpPr/>
          <p:nvPr/>
        </p:nvSpPr>
        <p:spPr>
          <a:xfrm>
            <a:off x="1272982" y="2340896"/>
            <a:ext cx="1891594" cy="24909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961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Detection Engine</a:t>
            </a:r>
            <a:endParaRPr lang="en-US" sz="1800" dirty="0"/>
          </a:p>
        </p:txBody>
      </p:sp>
      <p:sp>
        <p:nvSpPr>
          <p:cNvPr id="25" name="Text 3"/>
          <p:cNvSpPr/>
          <p:nvPr/>
        </p:nvSpPr>
        <p:spPr>
          <a:xfrm>
            <a:off x="653884" y="2652269"/>
            <a:ext cx="3129911" cy="45708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scans the uploaded column properties immediately after selection.</a:t>
            </a:r>
            <a:endParaRPr lang="en-US" sz="1200" dirty="0"/>
          </a:p>
        </p:txBody>
      </p:sp>
      <p:sp>
        <p:nvSpPr>
          <p:cNvPr id="26" name="Text 4"/>
          <p:cNvSpPr/>
          <p:nvPr/>
        </p:nvSpPr>
        <p:spPr>
          <a:xfrm>
            <a:off x="1271766" y="3233905"/>
            <a:ext cx="1589226" cy="35309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4ED8"/>
                </a:solidFill>
              </a:rPr>
              <a:t>is.numeric(column)</a:t>
            </a:r>
            <a:endParaRPr lang="en-US" sz="1200" dirty="0"/>
          </a:p>
        </p:txBody>
      </p:sp>
      <p:sp>
        <p:nvSpPr>
          <p:cNvPr id="27" name="Text 5"/>
          <p:cNvSpPr/>
          <p:nvPr/>
        </p:nvSpPr>
        <p:spPr>
          <a:xfrm>
            <a:off x="4593366" y="1547015"/>
            <a:ext cx="1837270" cy="2179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26"/>
              </a:lnSpc>
              <a:buNone/>
            </a:pPr>
            <a:r>
              <a:rPr lang="en-US" sz="1050" b="1" spc="10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QUANTITATIVE</a:t>
            </a:r>
            <a:endParaRPr lang="en-US" sz="1050" dirty="0"/>
          </a:p>
        </p:txBody>
      </p:sp>
      <p:sp>
        <p:nvSpPr>
          <p:cNvPr id="28" name="Text 6"/>
          <p:cNvSpPr/>
          <p:nvPr/>
        </p:nvSpPr>
        <p:spPr>
          <a:xfrm>
            <a:off x="4468817" y="2011643"/>
            <a:ext cx="5034910" cy="2179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16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Numerical Analysis</a:t>
            </a:r>
            <a:endParaRPr lang="en-US" sz="1500" dirty="0"/>
          </a:p>
        </p:txBody>
      </p:sp>
      <p:sp>
        <p:nvSpPr>
          <p:cNvPr id="29" name="Text 7"/>
          <p:cNvSpPr/>
          <p:nvPr/>
        </p:nvSpPr>
        <p:spPr>
          <a:xfrm>
            <a:off x="4663425" y="2354153"/>
            <a:ext cx="6489453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Checks for numeric data types</a:t>
            </a:r>
            <a:endParaRPr lang="en-US" sz="1200" dirty="0"/>
          </a:p>
        </p:txBody>
      </p:sp>
      <p:sp>
        <p:nvSpPr>
          <p:cNvPr id="30" name="Text 8"/>
          <p:cNvSpPr/>
          <p:nvPr/>
        </p:nvSpPr>
        <p:spPr>
          <a:xfrm>
            <a:off x="4663425" y="2676109"/>
            <a:ext cx="5818131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Filters for finite numbers</a:t>
            </a:r>
            <a:endParaRPr lang="en-US" sz="1200" dirty="0"/>
          </a:p>
        </p:txBody>
      </p:sp>
      <p:sp>
        <p:nvSpPr>
          <p:cNvPr id="31" name="Text 9"/>
          <p:cNvSpPr/>
          <p:nvPr/>
        </p:nvSpPr>
        <p:spPr>
          <a:xfrm>
            <a:off x="4663425" y="2998064"/>
            <a:ext cx="6787819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Triggers 15+ complex measures</a:t>
            </a:r>
            <a:endParaRPr lang="en-US" sz="1200" dirty="0"/>
          </a:p>
        </p:txBody>
      </p:sp>
      <p:sp>
        <p:nvSpPr>
          <p:cNvPr id="32" name="Text 10"/>
          <p:cNvSpPr/>
          <p:nvPr/>
        </p:nvSpPr>
        <p:spPr>
          <a:xfrm>
            <a:off x="8470574" y="1547015"/>
            <a:ext cx="1639106" cy="2179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26"/>
              </a:lnSpc>
              <a:buNone/>
            </a:pPr>
            <a:r>
              <a:rPr lang="en-US" sz="1050" b="1" spc="10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QUALITATIVE</a:t>
            </a:r>
            <a:endParaRPr lang="en-US" sz="1050" dirty="0"/>
          </a:p>
        </p:txBody>
      </p:sp>
      <p:sp>
        <p:nvSpPr>
          <p:cNvPr id="33" name="Text 11"/>
          <p:cNvSpPr/>
          <p:nvPr/>
        </p:nvSpPr>
        <p:spPr>
          <a:xfrm>
            <a:off x="8346024" y="2011643"/>
            <a:ext cx="3845976" cy="2179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16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Categorical Analysis</a:t>
            </a:r>
            <a:endParaRPr lang="en-US" sz="1500" dirty="0"/>
          </a:p>
        </p:txBody>
      </p:sp>
      <p:sp>
        <p:nvSpPr>
          <p:cNvPr id="34" name="Text 12"/>
          <p:cNvSpPr/>
          <p:nvPr/>
        </p:nvSpPr>
        <p:spPr>
          <a:xfrm>
            <a:off x="8540633" y="2354153"/>
            <a:ext cx="3651367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Identifies strings and factors</a:t>
            </a:r>
            <a:endParaRPr lang="en-US" sz="1200" dirty="0"/>
          </a:p>
        </p:txBody>
      </p:sp>
      <p:sp>
        <p:nvSpPr>
          <p:cNvPr id="35" name="Text 13"/>
          <p:cNvSpPr/>
          <p:nvPr/>
        </p:nvSpPr>
        <p:spPr>
          <a:xfrm>
            <a:off x="8540633" y="2676109"/>
            <a:ext cx="3651367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Builds frequency tables</a:t>
            </a:r>
            <a:endParaRPr lang="en-US" sz="1200" dirty="0"/>
          </a:p>
        </p:txBody>
      </p:sp>
      <p:sp>
        <p:nvSpPr>
          <p:cNvPr id="36" name="Text 14"/>
          <p:cNvSpPr/>
          <p:nvPr/>
        </p:nvSpPr>
        <p:spPr>
          <a:xfrm>
            <a:off x="8540633" y="2998064"/>
            <a:ext cx="3651367" cy="2285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Computes category percentages</a:t>
            </a:r>
            <a:endParaRPr lang="en-US" sz="1200" dirty="0"/>
          </a:p>
        </p:txBody>
      </p:sp>
      <p:sp>
        <p:nvSpPr>
          <p:cNvPr id="37" name="Text 15"/>
          <p:cNvSpPr/>
          <p:nvPr/>
        </p:nvSpPr>
        <p:spPr>
          <a:xfrm>
            <a:off x="653884" y="4209744"/>
            <a:ext cx="3692263" cy="1245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81"/>
              </a:lnSpc>
              <a:buNone/>
            </a:pPr>
            <a:r>
              <a:rPr lang="en-US" sz="900" b="1" spc="88" kern="0" dirty="0">
                <a:solidFill>
                  <a:srgbClr val="94A3B8"/>
                </a:solidFill>
              </a:rPr>
              <a:t>R IMPLEMENTATION LOGIC</a:t>
            </a:r>
            <a:endParaRPr lang="en-US" sz="900" dirty="0"/>
          </a:p>
        </p:txBody>
      </p:sp>
      <p:sp>
        <p:nvSpPr>
          <p:cNvPr id="38" name="Text 16"/>
          <p:cNvSpPr/>
          <p:nvPr/>
        </p:nvSpPr>
        <p:spPr>
          <a:xfrm>
            <a:off x="10977616" y="4209744"/>
            <a:ext cx="1214384" cy="1245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81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server.R</a:t>
            </a:r>
            <a:endParaRPr lang="en-US" sz="900" dirty="0"/>
          </a:p>
        </p:txBody>
      </p:sp>
      <p:sp>
        <p:nvSpPr>
          <p:cNvPr id="39" name="Text 17"/>
          <p:cNvSpPr/>
          <p:nvPr/>
        </p:nvSpPr>
        <p:spPr>
          <a:xfrm>
            <a:off x="653884" y="4552255"/>
            <a:ext cx="391606" cy="1479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F472B6"/>
                </a:solidFill>
              </a:rPr>
              <a:t>if</a:t>
            </a:r>
            <a:endParaRPr lang="en-US" sz="1050" dirty="0"/>
          </a:p>
        </p:txBody>
      </p:sp>
      <p:sp>
        <p:nvSpPr>
          <p:cNvPr id="40" name="Text 18"/>
          <p:cNvSpPr/>
          <p:nvPr/>
        </p:nvSpPr>
        <p:spPr>
          <a:xfrm>
            <a:off x="813950" y="4552255"/>
            <a:ext cx="391606" cy="147902"/>
          </a:xfrm>
          <a:prstGeom prst="rect">
            <a:avLst/>
          </a:prstGeom>
          <a:noFill/>
          <a:ln/>
        </p:spPr>
        <p:txBody>
          <a:bodyPr wrap="none" lIns="0" tIns="0" rIns="0" bIns="0" rtlCol="0" anchor="t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 (</a:t>
            </a:r>
            <a:endParaRPr lang="en-US" sz="1050" dirty="0"/>
          </a:p>
        </p:txBody>
      </p:sp>
      <p:sp>
        <p:nvSpPr>
          <p:cNvPr id="41" name="Text 19"/>
          <p:cNvSpPr/>
          <p:nvPr/>
        </p:nvSpPr>
        <p:spPr>
          <a:xfrm>
            <a:off x="974015" y="4552255"/>
            <a:ext cx="1958028" cy="1479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60A5FA"/>
                </a:solidFill>
              </a:rPr>
              <a:t>is.numeric</a:t>
            </a:r>
            <a:endParaRPr lang="en-US" sz="1050" dirty="0"/>
          </a:p>
        </p:txBody>
      </p:sp>
      <p:sp>
        <p:nvSpPr>
          <p:cNvPr id="42" name="Text 20"/>
          <p:cNvSpPr/>
          <p:nvPr/>
        </p:nvSpPr>
        <p:spPr>
          <a:xfrm>
            <a:off x="1774099" y="4552255"/>
            <a:ext cx="2153830" cy="364526"/>
          </a:xfrm>
          <a:prstGeom prst="rect">
            <a:avLst/>
          </a:prstGeom>
          <a:noFill/>
          <a:ln/>
        </p:spPr>
        <p:txBody>
          <a:bodyPr wrap="none" lIns="0" tIns="0" rIns="0" bIns="0" rtlCol="0" anchor="t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(col)) {</a:t>
            </a:r>
            <a:endParaRPr lang="en-US" sz="1050" dirty="0"/>
          </a:p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  </a:t>
            </a:r>
            <a:endParaRPr lang="en-US" sz="1050" dirty="0"/>
          </a:p>
        </p:txBody>
      </p:sp>
      <p:sp>
        <p:nvSpPr>
          <p:cNvPr id="43" name="Text 21"/>
          <p:cNvSpPr/>
          <p:nvPr/>
        </p:nvSpPr>
        <p:spPr>
          <a:xfrm>
            <a:off x="813950" y="4768879"/>
            <a:ext cx="5025604" cy="14790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# -&gt; Quantitative Pathway</a:t>
            </a:r>
            <a:endParaRPr lang="en-US" sz="1050" dirty="0"/>
          </a:p>
        </p:txBody>
      </p:sp>
      <p:sp>
        <p:nvSpPr>
          <p:cNvPr id="44" name="Text 22"/>
          <p:cNvSpPr/>
          <p:nvPr/>
        </p:nvSpPr>
        <p:spPr>
          <a:xfrm>
            <a:off x="813950" y="4985502"/>
            <a:ext cx="783211" cy="14790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93C5FD"/>
                </a:solidFill>
              </a:rPr>
              <a:t>list</a:t>
            </a:r>
            <a:endParaRPr lang="en-US" sz="1050" dirty="0"/>
          </a:p>
        </p:txBody>
      </p:sp>
      <p:sp>
        <p:nvSpPr>
          <p:cNvPr id="45" name="Text 23"/>
          <p:cNvSpPr/>
          <p:nvPr/>
        </p:nvSpPr>
        <p:spPr>
          <a:xfrm>
            <a:off x="1133959" y="4985502"/>
            <a:ext cx="1566422" cy="147903"/>
          </a:xfrm>
          <a:prstGeom prst="rect">
            <a:avLst/>
          </a:prstGeom>
          <a:noFill/>
          <a:ln/>
        </p:spPr>
        <p:txBody>
          <a:bodyPr wrap="none" lIns="0" tIns="0" rIns="0" bIns="0" rtlCol="0" anchor="t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(type = </a:t>
            </a:r>
            <a:endParaRPr lang="en-US" sz="1050" dirty="0"/>
          </a:p>
        </p:txBody>
      </p:sp>
      <p:sp>
        <p:nvSpPr>
          <p:cNvPr id="46" name="Text 24"/>
          <p:cNvSpPr/>
          <p:nvPr/>
        </p:nvSpPr>
        <p:spPr>
          <a:xfrm>
            <a:off x="1773977" y="4985502"/>
            <a:ext cx="2741239" cy="14790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FEF08A"/>
                </a:solidFill>
              </a:rPr>
              <a:t>"Quantitative"</a:t>
            </a:r>
            <a:endParaRPr lang="en-US" sz="1050" dirty="0"/>
          </a:p>
        </p:txBody>
      </p:sp>
      <p:sp>
        <p:nvSpPr>
          <p:cNvPr id="47" name="Text 25"/>
          <p:cNvSpPr/>
          <p:nvPr/>
        </p:nvSpPr>
        <p:spPr>
          <a:xfrm>
            <a:off x="2893948" y="4985502"/>
            <a:ext cx="4895069" cy="147903"/>
          </a:xfrm>
          <a:prstGeom prst="rect">
            <a:avLst/>
          </a:prstGeom>
          <a:noFill/>
          <a:ln/>
        </p:spPr>
        <p:txBody>
          <a:bodyPr wrap="none" lIns="0" tIns="0" rIns="0" bIns="0" rtlCol="0" anchor="t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, x = x, y = y, labels = </a:t>
            </a:r>
            <a:endParaRPr lang="en-US" sz="1050" dirty="0"/>
          </a:p>
        </p:txBody>
      </p:sp>
      <p:sp>
        <p:nvSpPr>
          <p:cNvPr id="48" name="Text 26"/>
          <p:cNvSpPr/>
          <p:nvPr/>
        </p:nvSpPr>
        <p:spPr>
          <a:xfrm>
            <a:off x="4893915" y="4985502"/>
            <a:ext cx="783211" cy="14790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93C5FD"/>
                </a:solidFill>
              </a:rPr>
              <a:t>NULL</a:t>
            </a:r>
            <a:endParaRPr lang="en-US" sz="1050" dirty="0"/>
          </a:p>
        </p:txBody>
      </p:sp>
      <p:sp>
        <p:nvSpPr>
          <p:cNvPr id="49" name="Text 27"/>
          <p:cNvSpPr/>
          <p:nvPr/>
        </p:nvSpPr>
        <p:spPr>
          <a:xfrm>
            <a:off x="5213924" y="4985502"/>
            <a:ext cx="4640072" cy="364526"/>
          </a:xfrm>
          <a:prstGeom prst="rect">
            <a:avLst/>
          </a:prstGeom>
          <a:noFill/>
          <a:ln/>
        </p:spPr>
        <p:txBody>
          <a:bodyPr wrap="none" lIns="0" tIns="0" rIns="0" bIns="0" rtlCol="0" anchor="t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)</a:t>
            </a:r>
            <a:endParaRPr lang="en-US" sz="1050" dirty="0"/>
          </a:p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} </a:t>
            </a:r>
            <a:endParaRPr lang="en-US" sz="1050" dirty="0"/>
          </a:p>
        </p:txBody>
      </p:sp>
      <p:sp>
        <p:nvSpPr>
          <p:cNvPr id="50" name="Text 28"/>
          <p:cNvSpPr/>
          <p:nvPr/>
        </p:nvSpPr>
        <p:spPr>
          <a:xfrm>
            <a:off x="813950" y="5202125"/>
            <a:ext cx="783211" cy="14790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F472B6"/>
                </a:solidFill>
              </a:rPr>
              <a:t>else</a:t>
            </a:r>
            <a:endParaRPr lang="en-US" sz="1050" dirty="0"/>
          </a:p>
        </p:txBody>
      </p:sp>
      <p:sp>
        <p:nvSpPr>
          <p:cNvPr id="51" name="Text 29"/>
          <p:cNvSpPr/>
          <p:nvPr/>
        </p:nvSpPr>
        <p:spPr>
          <a:xfrm>
            <a:off x="1133959" y="5202125"/>
            <a:ext cx="979014" cy="364526"/>
          </a:xfrm>
          <a:prstGeom prst="rect">
            <a:avLst/>
          </a:prstGeom>
          <a:noFill/>
          <a:ln/>
        </p:spPr>
        <p:txBody>
          <a:bodyPr wrap="none" lIns="0" tIns="0" rIns="0" bIns="0" rtlCol="0" anchor="t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 {</a:t>
            </a:r>
            <a:endParaRPr lang="en-US" sz="1050" dirty="0"/>
          </a:p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  </a:t>
            </a:r>
            <a:endParaRPr lang="en-US" sz="1050" dirty="0"/>
          </a:p>
        </p:txBody>
      </p:sp>
      <p:sp>
        <p:nvSpPr>
          <p:cNvPr id="52" name="Text 30"/>
          <p:cNvSpPr/>
          <p:nvPr/>
        </p:nvSpPr>
        <p:spPr>
          <a:xfrm>
            <a:off x="813950" y="5418749"/>
            <a:ext cx="4829801" cy="1479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# -&gt; Qualitative Pathway</a:t>
            </a:r>
            <a:endParaRPr lang="en-US" sz="1050" dirty="0"/>
          </a:p>
        </p:txBody>
      </p:sp>
      <p:sp>
        <p:nvSpPr>
          <p:cNvPr id="53" name="Text 31"/>
          <p:cNvSpPr/>
          <p:nvPr/>
        </p:nvSpPr>
        <p:spPr>
          <a:xfrm>
            <a:off x="813950" y="5635373"/>
            <a:ext cx="783211" cy="1479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93C5FD"/>
                </a:solidFill>
              </a:rPr>
              <a:t>list</a:t>
            </a:r>
            <a:endParaRPr lang="en-US" sz="1050" dirty="0"/>
          </a:p>
        </p:txBody>
      </p:sp>
      <p:sp>
        <p:nvSpPr>
          <p:cNvPr id="54" name="Text 32"/>
          <p:cNvSpPr/>
          <p:nvPr/>
        </p:nvSpPr>
        <p:spPr>
          <a:xfrm>
            <a:off x="1133959" y="5635373"/>
            <a:ext cx="1566422" cy="147902"/>
          </a:xfrm>
          <a:prstGeom prst="rect">
            <a:avLst/>
          </a:prstGeom>
          <a:noFill/>
          <a:ln/>
        </p:spPr>
        <p:txBody>
          <a:bodyPr wrap="none" lIns="0" tIns="0" rIns="0" bIns="0" rtlCol="0" anchor="t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(type = </a:t>
            </a:r>
            <a:endParaRPr lang="en-US" sz="1050" dirty="0"/>
          </a:p>
        </p:txBody>
      </p:sp>
      <p:sp>
        <p:nvSpPr>
          <p:cNvPr id="55" name="Text 33"/>
          <p:cNvSpPr/>
          <p:nvPr/>
        </p:nvSpPr>
        <p:spPr>
          <a:xfrm>
            <a:off x="1773977" y="5635373"/>
            <a:ext cx="2545436" cy="1479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FEF08A"/>
                </a:solidFill>
              </a:rPr>
              <a:t>"Qualitative"</a:t>
            </a:r>
            <a:endParaRPr lang="en-US" sz="1050" dirty="0"/>
          </a:p>
        </p:txBody>
      </p:sp>
      <p:sp>
        <p:nvSpPr>
          <p:cNvPr id="56" name="Text 34"/>
          <p:cNvSpPr/>
          <p:nvPr/>
        </p:nvSpPr>
        <p:spPr>
          <a:xfrm>
            <a:off x="2814038" y="5635373"/>
            <a:ext cx="4895069" cy="147902"/>
          </a:xfrm>
          <a:prstGeom prst="rect">
            <a:avLst/>
          </a:prstGeom>
          <a:noFill/>
          <a:ln/>
        </p:spPr>
        <p:txBody>
          <a:bodyPr wrap="none" lIns="0" tIns="0" rIns="0" bIns="0" rtlCol="0" anchor="t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, x = tbl$Frequency, y = </a:t>
            </a:r>
            <a:endParaRPr lang="en-US" sz="1050" dirty="0"/>
          </a:p>
        </p:txBody>
      </p:sp>
      <p:sp>
        <p:nvSpPr>
          <p:cNvPr id="57" name="Text 35"/>
          <p:cNvSpPr/>
          <p:nvPr/>
        </p:nvSpPr>
        <p:spPr>
          <a:xfrm>
            <a:off x="4814004" y="5635373"/>
            <a:ext cx="783211" cy="1479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93C5FD"/>
                </a:solidFill>
              </a:rPr>
              <a:t>NULL</a:t>
            </a:r>
            <a:endParaRPr lang="en-US" sz="1050" dirty="0"/>
          </a:p>
        </p:txBody>
      </p:sp>
      <p:sp>
        <p:nvSpPr>
          <p:cNvPr id="58" name="Text 36"/>
          <p:cNvSpPr/>
          <p:nvPr/>
        </p:nvSpPr>
        <p:spPr>
          <a:xfrm>
            <a:off x="5134013" y="5635373"/>
            <a:ext cx="5680132" cy="364525"/>
          </a:xfrm>
          <a:prstGeom prst="rect">
            <a:avLst/>
          </a:prstGeom>
          <a:noFill/>
          <a:ln/>
        </p:spPr>
        <p:txBody>
          <a:bodyPr wrap="none" lIns="0" tIns="0" rIns="0" bIns="0" rtlCol="0" anchor="t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, labels = tbl)</a:t>
            </a:r>
            <a:endParaRPr lang="en-US" sz="1050" dirty="0"/>
          </a:p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}</a:t>
            </a:r>
            <a:endParaRPr lang="en-US" sz="1050" dirty="0"/>
          </a:p>
        </p:txBody>
      </p:sp>
      <p:sp>
        <p:nvSpPr>
          <p:cNvPr id="59" name="Text 37"/>
          <p:cNvSpPr/>
          <p:nvPr/>
        </p:nvSpPr>
        <p:spPr>
          <a:xfrm>
            <a:off x="467060" y="6535680"/>
            <a:ext cx="5538394" cy="1245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81"/>
              </a:lnSpc>
              <a:buNone/>
            </a:pPr>
            <a:r>
              <a:rPr lang="en-US" sz="900" b="1" spc="88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STATISTICAL ANALYSIS SYSTEM</a:t>
            </a:r>
            <a:endParaRPr lang="en-US" sz="900" dirty="0"/>
          </a:p>
        </p:txBody>
      </p:sp>
      <p:sp>
        <p:nvSpPr>
          <p:cNvPr id="60" name="Text 38"/>
          <p:cNvSpPr/>
          <p:nvPr/>
        </p:nvSpPr>
        <p:spPr>
          <a:xfrm>
            <a:off x="8356849" y="6535680"/>
            <a:ext cx="3835151" cy="1245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81"/>
              </a:lnSpc>
              <a:buNone/>
            </a:pPr>
            <a:r>
              <a:rPr lang="en-US" sz="900" b="1" spc="88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SCIENTIFIC COMPUTATION • TEAM BLACK KNIGHT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06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36" y="388335"/>
            <a:ext cx="287368" cy="28736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336" y="1830758"/>
            <a:ext cx="147567" cy="137616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36" y="2107083"/>
            <a:ext cx="5350289" cy="384063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0159" y="1828452"/>
            <a:ext cx="132034" cy="142106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0159" y="2293484"/>
            <a:ext cx="5350410" cy="912102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6560" y="2479884"/>
            <a:ext cx="372802" cy="372802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5294" y="2588618"/>
            <a:ext cx="155334" cy="155334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0159" y="3391987"/>
            <a:ext cx="5350410" cy="912102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6560" y="3578388"/>
            <a:ext cx="372802" cy="372802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26944" y="3683481"/>
            <a:ext cx="132034" cy="162494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20159" y="4490490"/>
            <a:ext cx="5350410" cy="912102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6560" y="4676891"/>
            <a:ext cx="372802" cy="372802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95877" y="4785625"/>
            <a:ext cx="194168" cy="155334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1336" y="6196253"/>
            <a:ext cx="5350289" cy="5393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6670" y="6388236"/>
            <a:ext cx="155334" cy="155334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56150" y="6372702"/>
            <a:ext cx="792204" cy="186401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10488" y="6372702"/>
            <a:ext cx="605803" cy="186401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20159" y="6196253"/>
            <a:ext cx="5350410" cy="5393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75493" y="6388236"/>
            <a:ext cx="155334" cy="155334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807527" y="6372702"/>
            <a:ext cx="908705" cy="186401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778365" y="6372702"/>
            <a:ext cx="636869" cy="186401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1032972" y="454352"/>
            <a:ext cx="3336186" cy="15533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23"/>
              </a:lnSpc>
              <a:buNone/>
            </a:pPr>
            <a:r>
              <a:rPr lang="en-US" sz="1050" b="1" spc="258" kern="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INTELLIGENCE</a:t>
            </a:r>
            <a:endParaRPr lang="en-US" sz="1050" dirty="0"/>
          </a:p>
        </p:txBody>
      </p:sp>
      <p:sp>
        <p:nvSpPr>
          <p:cNvPr id="25" name="Text 1"/>
          <p:cNvSpPr/>
          <p:nvPr/>
        </p:nvSpPr>
        <p:spPr>
          <a:xfrm>
            <a:off x="621336" y="737837"/>
            <a:ext cx="11570664" cy="4571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Decision Engine</a:t>
            </a:r>
            <a:endParaRPr lang="en-US" sz="3600" dirty="0"/>
          </a:p>
        </p:txBody>
      </p:sp>
      <p:sp>
        <p:nvSpPr>
          <p:cNvPr id="26" name="Text 2"/>
          <p:cNvSpPr/>
          <p:nvPr/>
        </p:nvSpPr>
        <p:spPr>
          <a:xfrm>
            <a:off x="621336" y="1257114"/>
            <a:ext cx="11570664" cy="21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12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thinks like an expert statistician to ensure analysis accuracy.</a:t>
            </a:r>
            <a:endParaRPr lang="en-US" sz="1500" dirty="0"/>
          </a:p>
        </p:txBody>
      </p:sp>
      <p:sp>
        <p:nvSpPr>
          <p:cNvPr id="27" name="Text 3"/>
          <p:cNvSpPr/>
          <p:nvPr/>
        </p:nvSpPr>
        <p:spPr>
          <a:xfrm>
            <a:off x="831037" y="1785250"/>
            <a:ext cx="2691381" cy="22863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R LOGIC</a:t>
            </a:r>
            <a:endParaRPr lang="en-US" sz="1200" dirty="0"/>
          </a:p>
        </p:txBody>
      </p:sp>
      <p:sp>
        <p:nvSpPr>
          <p:cNvPr id="28" name="Text 4"/>
          <p:cNvSpPr/>
          <p:nvPr/>
        </p:nvSpPr>
        <p:spPr>
          <a:xfrm>
            <a:off x="869871" y="2394451"/>
            <a:ext cx="5382768" cy="194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60A5FA"/>
                </a:solidFill>
              </a:rPr>
              <a:t># 1. Detect Skewness</a:t>
            </a:r>
            <a:endParaRPr lang="en-US" sz="1350" dirty="0"/>
          </a:p>
        </p:txBody>
      </p:sp>
      <p:sp>
        <p:nvSpPr>
          <p:cNvPr id="29" name="Text 5"/>
          <p:cNvSpPr/>
          <p:nvPr/>
        </p:nvSpPr>
        <p:spPr>
          <a:xfrm>
            <a:off x="2926470" y="2673081"/>
            <a:ext cx="2775490" cy="194168"/>
          </a:xfrm>
          <a:prstGeom prst="rect">
            <a:avLst/>
          </a:prstGeom>
          <a:noFill/>
          <a:ln/>
        </p:spPr>
        <p:txBody>
          <a:bodyPr wrap="none" lIns="0" tIns="0" rIns="0" bIns="0" rtlCol="0" anchor="t" vert="horz"/>
          <a:lstStyle/>
          <a:p>
            <a:pPr indent="0" marL="0">
              <a:lnSpc>
                <a:spcPts val="2194"/>
              </a:lnSpc>
              <a:buNone/>
            </a:pPr>
            <a:endParaRPr lang="en-US" sz="1350" dirty="0"/>
          </a:p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E2E8F0"/>
                </a:solidFill>
              </a:rPr>
              <a:t>is_skewed </a:t>
            </a:r>
            <a:endParaRPr lang="en-US" sz="1350" dirty="0"/>
          </a:p>
        </p:txBody>
      </p:sp>
      <p:sp>
        <p:nvSpPr>
          <p:cNvPr id="30" name="Text 6"/>
          <p:cNvSpPr/>
          <p:nvPr/>
        </p:nvSpPr>
        <p:spPr>
          <a:xfrm>
            <a:off x="1898231" y="2673081"/>
            <a:ext cx="504635" cy="194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F472B6"/>
                </a:solidFill>
              </a:rPr>
              <a:t>&lt;-</a:t>
            </a:r>
            <a:endParaRPr lang="en-US" sz="1350" dirty="0"/>
          </a:p>
        </p:txBody>
      </p:sp>
      <p:sp>
        <p:nvSpPr>
          <p:cNvPr id="31" name="Text 7"/>
          <p:cNvSpPr/>
          <p:nvPr/>
        </p:nvSpPr>
        <p:spPr>
          <a:xfrm>
            <a:off x="2103927" y="2673081"/>
            <a:ext cx="3280124" cy="194168"/>
          </a:xfrm>
          <a:prstGeom prst="rect">
            <a:avLst/>
          </a:prstGeom>
          <a:noFill/>
          <a:ln/>
        </p:spPr>
        <p:txBody>
          <a:bodyPr wrap="none" lIns="0" tIns="0" rIns="0" bIns="0" rtlCol="0" anchor="t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E2E8F0"/>
                </a:solidFill>
              </a:rPr>
              <a:t> abs(s$skew) </a:t>
            </a:r>
            <a:endParaRPr lang="en-US" sz="1350" dirty="0"/>
          </a:p>
        </p:txBody>
      </p:sp>
      <p:sp>
        <p:nvSpPr>
          <p:cNvPr id="32" name="Text 8"/>
          <p:cNvSpPr/>
          <p:nvPr/>
        </p:nvSpPr>
        <p:spPr>
          <a:xfrm>
            <a:off x="3440771" y="2673081"/>
            <a:ext cx="252317" cy="194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F472B6"/>
                </a:solidFill>
              </a:rPr>
              <a:t>&gt;</a:t>
            </a:r>
            <a:endParaRPr lang="en-US" sz="1350" dirty="0"/>
          </a:p>
        </p:txBody>
      </p:sp>
      <p:sp>
        <p:nvSpPr>
          <p:cNvPr id="33" name="Text 9"/>
          <p:cNvSpPr/>
          <p:nvPr/>
        </p:nvSpPr>
        <p:spPr>
          <a:xfrm>
            <a:off x="3646589" y="2673081"/>
            <a:ext cx="1093375" cy="194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FB923C"/>
                </a:solidFill>
              </a:rPr>
              <a:t>0.5</a:t>
            </a:r>
            <a:endParaRPr lang="en-US" sz="1350" dirty="0"/>
          </a:p>
        </p:txBody>
      </p:sp>
      <p:sp>
        <p:nvSpPr>
          <p:cNvPr id="34" name="Text 10"/>
          <p:cNvSpPr/>
          <p:nvPr/>
        </p:nvSpPr>
        <p:spPr>
          <a:xfrm>
            <a:off x="869871" y="3230342"/>
            <a:ext cx="5382768" cy="194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60A5FA"/>
                </a:solidFill>
              </a:rPr>
              <a:t># 2. Detect Outliers</a:t>
            </a:r>
            <a:endParaRPr lang="en-US" sz="1350" dirty="0"/>
          </a:p>
        </p:txBody>
      </p:sp>
      <p:sp>
        <p:nvSpPr>
          <p:cNvPr id="35" name="Text 11"/>
          <p:cNvSpPr/>
          <p:nvPr/>
        </p:nvSpPr>
        <p:spPr>
          <a:xfrm>
            <a:off x="2926470" y="3508973"/>
            <a:ext cx="3532442" cy="194168"/>
          </a:xfrm>
          <a:prstGeom prst="rect">
            <a:avLst/>
          </a:prstGeom>
          <a:noFill/>
          <a:ln/>
        </p:spPr>
        <p:txBody>
          <a:bodyPr wrap="none" lIns="0" tIns="0" rIns="0" bIns="0" rtlCol="0" anchor="t" vert="horz"/>
          <a:lstStyle/>
          <a:p>
            <a:pPr indent="0" marL="0">
              <a:lnSpc>
                <a:spcPts val="2194"/>
              </a:lnSpc>
              <a:buNone/>
            </a:pPr>
            <a:endParaRPr lang="en-US" sz="1350" dirty="0"/>
          </a:p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E2E8F0"/>
                </a:solidFill>
              </a:rPr>
              <a:t>has_outliers </a:t>
            </a:r>
            <a:endParaRPr lang="en-US" sz="1350" dirty="0"/>
          </a:p>
        </p:txBody>
      </p:sp>
      <p:sp>
        <p:nvSpPr>
          <p:cNvPr id="36" name="Text 12"/>
          <p:cNvSpPr/>
          <p:nvPr/>
        </p:nvSpPr>
        <p:spPr>
          <a:xfrm>
            <a:off x="2206715" y="3508973"/>
            <a:ext cx="504635" cy="194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F472B6"/>
                </a:solidFill>
              </a:rPr>
              <a:t>&lt;-</a:t>
            </a:r>
            <a:endParaRPr lang="en-US" sz="1350" dirty="0"/>
          </a:p>
        </p:txBody>
      </p:sp>
      <p:sp>
        <p:nvSpPr>
          <p:cNvPr id="37" name="Text 13"/>
          <p:cNvSpPr/>
          <p:nvPr/>
        </p:nvSpPr>
        <p:spPr>
          <a:xfrm>
            <a:off x="2412411" y="3508973"/>
            <a:ext cx="5046345" cy="194168"/>
          </a:xfrm>
          <a:prstGeom prst="rect">
            <a:avLst/>
          </a:prstGeom>
          <a:noFill/>
          <a:ln/>
        </p:spPr>
        <p:txBody>
          <a:bodyPr wrap="none" lIns="0" tIns="0" rIns="0" bIns="0" rtlCol="0" anchor="t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E2E8F0"/>
                </a:solidFill>
              </a:rPr>
              <a:t> length(s$outliers) </a:t>
            </a:r>
            <a:endParaRPr lang="en-US" sz="1350" dirty="0"/>
          </a:p>
        </p:txBody>
      </p:sp>
      <p:sp>
        <p:nvSpPr>
          <p:cNvPr id="38" name="Text 14"/>
          <p:cNvSpPr/>
          <p:nvPr/>
        </p:nvSpPr>
        <p:spPr>
          <a:xfrm>
            <a:off x="4469010" y="3508973"/>
            <a:ext cx="252317" cy="194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F472B6"/>
                </a:solidFill>
              </a:rPr>
              <a:t>&gt;</a:t>
            </a:r>
            <a:endParaRPr lang="en-US" sz="1350" dirty="0"/>
          </a:p>
        </p:txBody>
      </p:sp>
      <p:sp>
        <p:nvSpPr>
          <p:cNvPr id="39" name="Text 15"/>
          <p:cNvSpPr/>
          <p:nvPr/>
        </p:nvSpPr>
        <p:spPr>
          <a:xfrm>
            <a:off x="4674828" y="3508973"/>
            <a:ext cx="420529" cy="194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FB923C"/>
                </a:solidFill>
              </a:rPr>
              <a:t>0</a:t>
            </a:r>
            <a:endParaRPr lang="en-US" sz="1350" dirty="0"/>
          </a:p>
        </p:txBody>
      </p:sp>
      <p:sp>
        <p:nvSpPr>
          <p:cNvPr id="40" name="Text 16"/>
          <p:cNvSpPr/>
          <p:nvPr/>
        </p:nvSpPr>
        <p:spPr>
          <a:xfrm>
            <a:off x="869871" y="4066234"/>
            <a:ext cx="5130451" cy="194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60A5FA"/>
                </a:solidFill>
              </a:rPr>
              <a:t># 3. Decision Logic</a:t>
            </a:r>
            <a:endParaRPr lang="en-US" sz="1350" dirty="0"/>
          </a:p>
        </p:txBody>
      </p:sp>
      <p:sp>
        <p:nvSpPr>
          <p:cNvPr id="41" name="Text 17"/>
          <p:cNvSpPr/>
          <p:nvPr/>
        </p:nvSpPr>
        <p:spPr>
          <a:xfrm>
            <a:off x="2823683" y="4344864"/>
            <a:ext cx="3027807" cy="194167"/>
          </a:xfrm>
          <a:prstGeom prst="rect">
            <a:avLst/>
          </a:prstGeom>
          <a:noFill/>
          <a:ln/>
        </p:spPr>
        <p:txBody>
          <a:bodyPr wrap="none" lIns="0" tIns="0" rIns="0" bIns="0" rtlCol="0" anchor="t" vert="horz"/>
          <a:lstStyle/>
          <a:p>
            <a:pPr indent="0" marL="0">
              <a:lnSpc>
                <a:spcPts val="2194"/>
              </a:lnSpc>
              <a:buNone/>
            </a:pPr>
            <a:endParaRPr lang="en-US" sz="1350" dirty="0"/>
          </a:p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E2E8F0"/>
                </a:solidFill>
              </a:rPr>
              <a:t>use_median </a:t>
            </a:r>
            <a:endParaRPr lang="en-US" sz="1350" dirty="0"/>
          </a:p>
        </p:txBody>
      </p:sp>
      <p:sp>
        <p:nvSpPr>
          <p:cNvPr id="42" name="Text 18"/>
          <p:cNvSpPr/>
          <p:nvPr/>
        </p:nvSpPr>
        <p:spPr>
          <a:xfrm>
            <a:off x="2001019" y="4344864"/>
            <a:ext cx="504635" cy="19416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F472B6"/>
                </a:solidFill>
              </a:rPr>
              <a:t>&lt;-</a:t>
            </a:r>
            <a:endParaRPr lang="en-US" sz="1350" dirty="0"/>
          </a:p>
        </p:txBody>
      </p:sp>
      <p:sp>
        <p:nvSpPr>
          <p:cNvPr id="43" name="Text 19"/>
          <p:cNvSpPr/>
          <p:nvPr/>
        </p:nvSpPr>
        <p:spPr>
          <a:xfrm>
            <a:off x="2206715" y="4344864"/>
            <a:ext cx="2775490" cy="194167"/>
          </a:xfrm>
          <a:prstGeom prst="rect">
            <a:avLst/>
          </a:prstGeom>
          <a:noFill/>
          <a:ln/>
        </p:spPr>
        <p:txBody>
          <a:bodyPr wrap="none" lIns="0" tIns="0" rIns="0" bIns="0" rtlCol="0" anchor="t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E2E8F0"/>
                </a:solidFill>
              </a:rPr>
              <a:t> is_skewed </a:t>
            </a:r>
            <a:endParaRPr lang="en-US" sz="1350" dirty="0"/>
          </a:p>
        </p:txBody>
      </p:sp>
      <p:sp>
        <p:nvSpPr>
          <p:cNvPr id="44" name="Text 20"/>
          <p:cNvSpPr/>
          <p:nvPr/>
        </p:nvSpPr>
        <p:spPr>
          <a:xfrm>
            <a:off x="3337863" y="4344864"/>
            <a:ext cx="504635" cy="19416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F472B6"/>
                </a:solidFill>
              </a:rPr>
              <a:t>||</a:t>
            </a:r>
            <a:endParaRPr lang="en-US" sz="1350" dirty="0"/>
          </a:p>
        </p:txBody>
      </p:sp>
      <p:sp>
        <p:nvSpPr>
          <p:cNvPr id="45" name="Text 21"/>
          <p:cNvSpPr/>
          <p:nvPr/>
        </p:nvSpPr>
        <p:spPr>
          <a:xfrm>
            <a:off x="3543559" y="4344864"/>
            <a:ext cx="3784759" cy="194167"/>
          </a:xfrm>
          <a:prstGeom prst="rect">
            <a:avLst/>
          </a:prstGeom>
          <a:noFill/>
          <a:ln/>
        </p:spPr>
        <p:txBody>
          <a:bodyPr wrap="none" lIns="0" tIns="0" rIns="0" bIns="0" rtlCol="0" anchor="t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E2E8F0"/>
                </a:solidFill>
              </a:rPr>
              <a:t> has_outliers
</a:t>
            </a:r>
            <a:endParaRPr lang="en-US" sz="1350" dirty="0"/>
          </a:p>
        </p:txBody>
      </p:sp>
      <p:sp>
        <p:nvSpPr>
          <p:cNvPr id="46" name="Text 22"/>
          <p:cNvSpPr/>
          <p:nvPr/>
        </p:nvSpPr>
        <p:spPr>
          <a:xfrm>
            <a:off x="869871" y="4902125"/>
            <a:ext cx="3868865" cy="194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60A5FA"/>
                </a:solidFill>
              </a:rPr>
              <a:t># 4. Selection</a:t>
            </a:r>
            <a:endParaRPr lang="en-US" sz="1350" dirty="0"/>
          </a:p>
        </p:txBody>
      </p:sp>
      <p:sp>
        <p:nvSpPr>
          <p:cNvPr id="47" name="Text 23"/>
          <p:cNvSpPr/>
          <p:nvPr/>
        </p:nvSpPr>
        <p:spPr>
          <a:xfrm>
            <a:off x="2309502" y="5180756"/>
            <a:ext cx="3280124" cy="194168"/>
          </a:xfrm>
          <a:prstGeom prst="rect">
            <a:avLst/>
          </a:prstGeom>
          <a:noFill/>
          <a:ln/>
        </p:spPr>
        <p:txBody>
          <a:bodyPr wrap="none" lIns="0" tIns="0" rIns="0" bIns="0" rtlCol="0" anchor="t" vert="horz"/>
          <a:lstStyle/>
          <a:p>
            <a:pPr indent="0" marL="0">
              <a:lnSpc>
                <a:spcPts val="2194"/>
              </a:lnSpc>
              <a:buNone/>
            </a:pPr>
            <a:endParaRPr lang="en-US" sz="1350" dirty="0"/>
          </a:p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E2E8F0"/>
                </a:solidFill>
              </a:rPr>
              <a:t>best_center </a:t>
            </a:r>
            <a:endParaRPr lang="en-US" sz="1350" dirty="0"/>
          </a:p>
        </p:txBody>
      </p:sp>
      <p:sp>
        <p:nvSpPr>
          <p:cNvPr id="48" name="Text 24"/>
          <p:cNvSpPr/>
          <p:nvPr/>
        </p:nvSpPr>
        <p:spPr>
          <a:xfrm>
            <a:off x="2103927" y="5180756"/>
            <a:ext cx="504635" cy="194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F472B6"/>
                </a:solidFill>
              </a:rPr>
              <a:t>&lt;-</a:t>
            </a:r>
            <a:endParaRPr lang="en-US" sz="1350" dirty="0"/>
          </a:p>
        </p:txBody>
      </p:sp>
      <p:sp>
        <p:nvSpPr>
          <p:cNvPr id="49" name="Text 25"/>
          <p:cNvSpPr/>
          <p:nvPr/>
        </p:nvSpPr>
        <p:spPr>
          <a:xfrm>
            <a:off x="2412533" y="5180756"/>
            <a:ext cx="504635" cy="194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C084FC"/>
                </a:solidFill>
              </a:rPr>
              <a:t>if</a:t>
            </a:r>
            <a:endParaRPr lang="en-US" sz="1350" dirty="0"/>
          </a:p>
        </p:txBody>
      </p:sp>
      <p:sp>
        <p:nvSpPr>
          <p:cNvPr id="50" name="Text 26"/>
          <p:cNvSpPr/>
          <p:nvPr/>
        </p:nvSpPr>
        <p:spPr>
          <a:xfrm>
            <a:off x="2618229" y="5180756"/>
            <a:ext cx="3280124" cy="194168"/>
          </a:xfrm>
          <a:prstGeom prst="rect">
            <a:avLst/>
          </a:prstGeom>
          <a:noFill/>
          <a:ln/>
        </p:spPr>
        <p:txBody>
          <a:bodyPr wrap="none" lIns="0" tIns="0" rIns="0" bIns="0" rtlCol="0" anchor="t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E2E8F0"/>
                </a:solidFill>
              </a:rPr>
              <a:t>(use_median) </a:t>
            </a:r>
            <a:endParaRPr lang="en-US" sz="1350" dirty="0"/>
          </a:p>
        </p:txBody>
      </p:sp>
      <p:sp>
        <p:nvSpPr>
          <p:cNvPr id="51" name="Text 27"/>
          <p:cNvSpPr/>
          <p:nvPr/>
        </p:nvSpPr>
        <p:spPr>
          <a:xfrm>
            <a:off x="3955073" y="5180756"/>
            <a:ext cx="2018538" cy="194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4ADE80"/>
                </a:solidFill>
              </a:rPr>
              <a:t>"Median"</a:t>
            </a:r>
            <a:endParaRPr lang="en-US" sz="1350" dirty="0"/>
          </a:p>
        </p:txBody>
      </p:sp>
      <p:sp>
        <p:nvSpPr>
          <p:cNvPr id="52" name="Text 28"/>
          <p:cNvSpPr/>
          <p:nvPr/>
        </p:nvSpPr>
        <p:spPr>
          <a:xfrm>
            <a:off x="2309502" y="5459387"/>
            <a:ext cx="1009269" cy="19416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C084FC"/>
                </a:solidFill>
              </a:rPr>
              <a:t>else</a:t>
            </a:r>
            <a:endParaRPr lang="en-US" sz="1350" dirty="0"/>
          </a:p>
        </p:txBody>
      </p:sp>
      <p:sp>
        <p:nvSpPr>
          <p:cNvPr id="53" name="Text 29"/>
          <p:cNvSpPr/>
          <p:nvPr/>
        </p:nvSpPr>
        <p:spPr>
          <a:xfrm>
            <a:off x="2823804" y="5459387"/>
            <a:ext cx="1513904" cy="19416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4ADE80"/>
                </a:solidFill>
              </a:rPr>
              <a:t>"Mean"</a:t>
            </a:r>
            <a:endParaRPr lang="en-US" sz="1350" dirty="0"/>
          </a:p>
        </p:txBody>
      </p:sp>
      <p:sp>
        <p:nvSpPr>
          <p:cNvPr id="54" name="Text 30"/>
          <p:cNvSpPr/>
          <p:nvPr/>
        </p:nvSpPr>
        <p:spPr>
          <a:xfrm>
            <a:off x="6414327" y="1785250"/>
            <a:ext cx="3812790" cy="22863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CRITERIA</a:t>
            </a:r>
            <a:endParaRPr lang="en-US" sz="1200" dirty="0"/>
          </a:p>
        </p:txBody>
      </p:sp>
      <p:sp>
        <p:nvSpPr>
          <p:cNvPr id="55" name="Text 31"/>
          <p:cNvSpPr/>
          <p:nvPr/>
        </p:nvSpPr>
        <p:spPr>
          <a:xfrm>
            <a:off x="6903629" y="2479884"/>
            <a:ext cx="4480539" cy="22863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Symmetry Check</a:t>
            </a:r>
            <a:endParaRPr lang="en-US" sz="1200" dirty="0"/>
          </a:p>
        </p:txBody>
      </p:sp>
      <p:sp>
        <p:nvSpPr>
          <p:cNvPr id="56" name="Text 32"/>
          <p:cNvSpPr/>
          <p:nvPr/>
        </p:nvSpPr>
        <p:spPr>
          <a:xfrm>
            <a:off x="6903629" y="2708517"/>
            <a:ext cx="4480539" cy="31066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23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Evaluates if the distribution is balanced. Skewness &gt; |0.5| indicates the tail is too long on one side.</a:t>
            </a:r>
            <a:endParaRPr lang="en-US" sz="1050" dirty="0"/>
          </a:p>
        </p:txBody>
      </p:sp>
      <p:sp>
        <p:nvSpPr>
          <p:cNvPr id="57" name="Text 33"/>
          <p:cNvSpPr/>
          <p:nvPr/>
        </p:nvSpPr>
        <p:spPr>
          <a:xfrm>
            <a:off x="6903629" y="3578388"/>
            <a:ext cx="4480539" cy="22863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Outlier Detection</a:t>
            </a:r>
            <a:endParaRPr lang="en-US" sz="1200" dirty="0"/>
          </a:p>
        </p:txBody>
      </p:sp>
      <p:sp>
        <p:nvSpPr>
          <p:cNvPr id="58" name="Text 34"/>
          <p:cNvSpPr/>
          <p:nvPr/>
        </p:nvSpPr>
        <p:spPr>
          <a:xfrm>
            <a:off x="6903629" y="3807020"/>
            <a:ext cx="4480539" cy="31066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23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Checks for extreme values using the IQR method. Outliers pull the Mean away from the typical value.</a:t>
            </a:r>
            <a:endParaRPr lang="en-US" sz="1050" dirty="0"/>
          </a:p>
        </p:txBody>
      </p:sp>
      <p:sp>
        <p:nvSpPr>
          <p:cNvPr id="59" name="Text 35"/>
          <p:cNvSpPr/>
          <p:nvPr/>
        </p:nvSpPr>
        <p:spPr>
          <a:xfrm>
            <a:off x="6903629" y="4676891"/>
            <a:ext cx="4480539" cy="22863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Robustness Logic</a:t>
            </a:r>
            <a:endParaRPr lang="en-US" sz="1200" dirty="0"/>
          </a:p>
        </p:txBody>
      </p:sp>
      <p:sp>
        <p:nvSpPr>
          <p:cNvPr id="60" name="Text 36"/>
          <p:cNvSpPr/>
          <p:nvPr/>
        </p:nvSpPr>
        <p:spPr>
          <a:xfrm>
            <a:off x="6903629" y="4905523"/>
            <a:ext cx="4480539" cy="31066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23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uses a Boolean </a:t>
            </a:r>
            <a:pPr indent="0" marL="0">
              <a:lnSpc>
                <a:spcPts val="1223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</a:t>
            </a:r>
            <a:pPr indent="0" marL="0">
              <a:lnSpc>
                <a:spcPts val="1223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logic. If either condition is met, it switches to non-parametric measures.</a:t>
            </a:r>
            <a:endParaRPr lang="en-US" sz="1050" dirty="0"/>
          </a:p>
        </p:txBody>
      </p:sp>
      <p:sp>
        <p:nvSpPr>
          <p:cNvPr id="61" name="Text 37"/>
          <p:cNvSpPr/>
          <p:nvPr/>
        </p:nvSpPr>
        <p:spPr>
          <a:xfrm>
            <a:off x="1025205" y="6351587"/>
            <a:ext cx="5158480" cy="22863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 / Symmetric Data</a:t>
            </a:r>
            <a:endParaRPr lang="en-US" sz="1200" dirty="0"/>
          </a:p>
        </p:txBody>
      </p:sp>
      <p:sp>
        <p:nvSpPr>
          <p:cNvPr id="62" name="Text 38"/>
          <p:cNvSpPr/>
          <p:nvPr/>
        </p:nvSpPr>
        <p:spPr>
          <a:xfrm>
            <a:off x="4449351" y="6372702"/>
            <a:ext cx="957379" cy="1864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78"/>
              </a:lnSpc>
              <a:buNone/>
            </a:pPr>
            <a:r>
              <a:rPr lang="en-US" sz="90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MEAN</a:t>
            </a:r>
            <a:endParaRPr lang="en-US" sz="900" dirty="0"/>
          </a:p>
        </p:txBody>
      </p:sp>
      <p:sp>
        <p:nvSpPr>
          <p:cNvPr id="63" name="Text 39"/>
          <p:cNvSpPr/>
          <p:nvPr/>
        </p:nvSpPr>
        <p:spPr>
          <a:xfrm>
            <a:off x="5303688" y="6372702"/>
            <a:ext cx="628422" cy="1864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78"/>
              </a:lnSpc>
              <a:buNone/>
            </a:pPr>
            <a:r>
              <a:rPr lang="en-US" sz="90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SD</a:t>
            </a:r>
            <a:endParaRPr lang="en-US" sz="900" dirty="0"/>
          </a:p>
        </p:txBody>
      </p:sp>
      <p:sp>
        <p:nvSpPr>
          <p:cNvPr id="64" name="Text 40"/>
          <p:cNvSpPr/>
          <p:nvPr/>
        </p:nvSpPr>
        <p:spPr>
          <a:xfrm>
            <a:off x="6624028" y="6351587"/>
            <a:ext cx="4709917" cy="22863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Skewed / Outlier Data</a:t>
            </a:r>
            <a:endParaRPr lang="en-US" sz="1200" dirty="0"/>
          </a:p>
        </p:txBody>
      </p:sp>
      <p:sp>
        <p:nvSpPr>
          <p:cNvPr id="65" name="Text 41"/>
          <p:cNvSpPr/>
          <p:nvPr/>
        </p:nvSpPr>
        <p:spPr>
          <a:xfrm>
            <a:off x="9900728" y="6372702"/>
            <a:ext cx="1258954" cy="1864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78"/>
              </a:lnSpc>
              <a:buNone/>
            </a:pPr>
            <a:r>
              <a:rPr lang="en-US" sz="900" b="1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MEDIAN</a:t>
            </a:r>
            <a:endParaRPr lang="en-US" sz="900" dirty="0"/>
          </a:p>
        </p:txBody>
      </p:sp>
      <p:sp>
        <p:nvSpPr>
          <p:cNvPr id="66" name="Text 42"/>
          <p:cNvSpPr/>
          <p:nvPr/>
        </p:nvSpPr>
        <p:spPr>
          <a:xfrm>
            <a:off x="10871565" y="6372702"/>
            <a:ext cx="754833" cy="1864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78"/>
              </a:lnSpc>
              <a:buNone/>
            </a:pPr>
            <a:r>
              <a:rPr lang="en-US" sz="900" b="1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IQR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1000"/>
            <a:ext cx="11049000" cy="6477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333500"/>
            <a:ext cx="5372100" cy="2667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1647825"/>
            <a:ext cx="361950" cy="2857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2133600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25527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300" y="29718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0" y="1333500"/>
            <a:ext cx="5372100" cy="26670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3200" y="21336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53200" y="25527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3200" y="29718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4762500"/>
            <a:ext cx="6318200" cy="10287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100" y="5019675"/>
            <a:ext cx="180975" cy="1333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94500" y="4305300"/>
            <a:ext cx="4429125" cy="16764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800100" y="381000"/>
            <a:ext cx="11391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spc="-54" kern="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Central Tendency Decision</a:t>
            </a:r>
            <a:endParaRPr lang="en-US" sz="2700" dirty="0"/>
          </a:p>
        </p:txBody>
      </p:sp>
      <p:sp>
        <p:nvSpPr>
          <p:cNvPr id="17" name="Text 1"/>
          <p:cNvSpPr/>
          <p:nvPr/>
        </p:nvSpPr>
        <p:spPr>
          <a:xfrm>
            <a:off x="800100" y="762000"/>
            <a:ext cx="11391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logic of choosing the most representative "Typical" value.</a:t>
            </a:r>
            <a:endParaRPr lang="en-US" sz="1500" dirty="0"/>
          </a:p>
        </p:txBody>
      </p:sp>
      <p:sp>
        <p:nvSpPr>
          <p:cNvPr id="18" name="Text 2"/>
          <p:cNvSpPr/>
          <p:nvPr/>
        </p:nvSpPr>
        <p:spPr>
          <a:xfrm>
            <a:off x="1390650" y="1638300"/>
            <a:ext cx="411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spc="36" kern="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ARITHMETIC MEAN</a:t>
            </a:r>
            <a:endParaRPr lang="en-US" sz="1800" dirty="0"/>
          </a:p>
        </p:txBody>
      </p:sp>
      <p:sp>
        <p:nvSpPr>
          <p:cNvPr id="19" name="Text 3"/>
          <p:cNvSpPr/>
          <p:nvPr/>
        </p:nvSpPr>
        <p:spPr>
          <a:xfrm>
            <a:off x="1143000" y="2095500"/>
            <a:ext cx="86410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 </a:t>
            </a:r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Symmetric / Normal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distributions.</a:t>
            </a:r>
            <a:endParaRPr lang="en-US" sz="1350" dirty="0"/>
          </a:p>
        </p:txBody>
      </p:sp>
      <p:sp>
        <p:nvSpPr>
          <p:cNvPr id="20" name="Text 4"/>
          <p:cNvSpPr/>
          <p:nvPr/>
        </p:nvSpPr>
        <p:spPr>
          <a:xfrm>
            <a:off x="1143000" y="2514600"/>
            <a:ext cx="9258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Utilizes every data point in the calculation.</a:t>
            </a:r>
            <a:endParaRPr lang="en-US" sz="1350" dirty="0"/>
          </a:p>
        </p:txBody>
      </p:sp>
      <p:sp>
        <p:nvSpPr>
          <p:cNvPr id="21" name="Text 5"/>
          <p:cNvSpPr/>
          <p:nvPr/>
        </p:nvSpPr>
        <p:spPr>
          <a:xfrm>
            <a:off x="1143000" y="2933700"/>
            <a:ext cx="76123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Highly sensitive to </a:t>
            </a:r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extreme outliers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50" dirty="0"/>
          </a:p>
        </p:txBody>
      </p:sp>
      <p:sp>
        <p:nvSpPr>
          <p:cNvPr id="22" name="Text 6"/>
          <p:cNvSpPr/>
          <p:nvPr/>
        </p:nvSpPr>
        <p:spPr>
          <a:xfrm>
            <a:off x="876300" y="3352800"/>
            <a:ext cx="8214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 when: |Skewness| &lt; 0.5 AND No Outliers</a:t>
            </a:r>
            <a:endParaRPr lang="en-US" sz="1050" dirty="0"/>
          </a:p>
        </p:txBody>
      </p:sp>
      <p:sp>
        <p:nvSpPr>
          <p:cNvPr id="23" name="Text 7"/>
          <p:cNvSpPr/>
          <p:nvPr/>
        </p:nvSpPr>
        <p:spPr>
          <a:xfrm>
            <a:off x="6705600" y="1638300"/>
            <a:ext cx="411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spc="36" kern="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(ROBUST)</a:t>
            </a:r>
            <a:endParaRPr lang="en-US" sz="1800" dirty="0"/>
          </a:p>
        </p:txBody>
      </p:sp>
      <p:sp>
        <p:nvSpPr>
          <p:cNvPr id="24" name="Text 8"/>
          <p:cNvSpPr/>
          <p:nvPr/>
        </p:nvSpPr>
        <p:spPr>
          <a:xfrm>
            <a:off x="6819900" y="2095500"/>
            <a:ext cx="537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 </a:t>
            </a:r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Skewed</a:t>
            </a:r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</a:t>
            </a:r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Non-normal</a:t>
            </a:r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data.</a:t>
            </a:r>
            <a:endParaRPr lang="en-US" sz="1350" dirty="0"/>
          </a:p>
        </p:txBody>
      </p:sp>
      <p:sp>
        <p:nvSpPr>
          <p:cNvPr id="25" name="Text 9"/>
          <p:cNvSpPr/>
          <p:nvPr/>
        </p:nvSpPr>
        <p:spPr>
          <a:xfrm>
            <a:off x="6819900" y="2514600"/>
            <a:ext cx="537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Represents the "middle" 50% split of data.</a:t>
            </a:r>
            <a:endParaRPr lang="en-US" sz="1350" dirty="0"/>
          </a:p>
        </p:txBody>
      </p:sp>
      <p:sp>
        <p:nvSpPr>
          <p:cNvPr id="26" name="Text 10"/>
          <p:cNvSpPr/>
          <p:nvPr/>
        </p:nvSpPr>
        <p:spPr>
          <a:xfrm>
            <a:off x="6819900" y="2933700"/>
            <a:ext cx="537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Resistant to outliers (</a:t>
            </a:r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 Estimator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).</a:t>
            </a:r>
            <a:endParaRPr lang="en-US" sz="1350" dirty="0"/>
          </a:p>
        </p:txBody>
      </p:sp>
      <p:sp>
        <p:nvSpPr>
          <p:cNvPr id="27" name="Text 11"/>
          <p:cNvSpPr/>
          <p:nvPr/>
        </p:nvSpPr>
        <p:spPr>
          <a:xfrm>
            <a:off x="6553200" y="3352800"/>
            <a:ext cx="5638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 when: |Skewness| &gt; 0.5 OR Outliers Exist</a:t>
            </a:r>
            <a:endParaRPr lang="en-US" sz="1050" dirty="0"/>
          </a:p>
        </p:txBody>
      </p:sp>
      <p:sp>
        <p:nvSpPr>
          <p:cNvPr id="28" name="Text 12"/>
          <p:cNvSpPr/>
          <p:nvPr/>
        </p:nvSpPr>
        <p:spPr>
          <a:xfrm>
            <a:off x="1095375" y="4991100"/>
            <a:ext cx="586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spc="84" kern="0" dirty="0">
                <a:solidFill>
                  <a:srgbClr val="94A3B8"/>
                </a:solidFill>
              </a:rPr>
              <a:t>SMART DECISION LOGIC</a:t>
            </a:r>
            <a:endParaRPr lang="en-US" sz="1050" dirty="0"/>
          </a:p>
        </p:txBody>
      </p:sp>
      <p:sp>
        <p:nvSpPr>
          <p:cNvPr id="29" name="Text 13"/>
          <p:cNvSpPr/>
          <p:nvPr/>
        </p:nvSpPr>
        <p:spPr>
          <a:xfrm>
            <a:off x="800100" y="5295900"/>
            <a:ext cx="104927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4D399"/>
                </a:solidFill>
              </a:rPr>
              <a:t>best_center &lt;-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</a:rPr>
              <a:t>if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4D399"/>
                </a:solidFill>
              </a:rPr>
              <a:t> (use_median)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ACC15"/>
                </a:solidFill>
              </a:rPr>
              <a:t>"Median"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4D399"/>
                </a:solidFill>
              </a:rPr>
              <a:t>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</a:rPr>
              <a:t>else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4D399"/>
                </a:solidFill>
              </a:rPr>
              <a:t>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ACC15"/>
                </a:solidFill>
              </a:rPr>
              <a:t>"Mean"</a:t>
            </a:r>
            <a:endParaRPr lang="en-US" sz="1350" dirty="0"/>
          </a:p>
        </p:txBody>
      </p:sp>
      <p:sp>
        <p:nvSpPr>
          <p:cNvPr id="30" name="Text 14"/>
          <p:cNvSpPr/>
          <p:nvPr/>
        </p:nvSpPr>
        <p:spPr>
          <a:xfrm>
            <a:off x="8369201" y="6057900"/>
            <a:ext cx="38227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Dataset: [1, 2, 3, 4, 100]</a:t>
            </a:r>
            <a:endParaRPr lang="en-US" sz="1050" dirty="0"/>
          </a:p>
        </p:txBody>
      </p:sp>
      <p:sp>
        <p:nvSpPr>
          <p:cNvPr id="31" name="Text 15"/>
          <p:cNvSpPr/>
          <p:nvPr/>
        </p:nvSpPr>
        <p:spPr>
          <a:xfrm>
            <a:off x="571500" y="6400800"/>
            <a:ext cx="44805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spc="72" kern="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7: SMART DECISION ENGINE</a:t>
            </a:r>
            <a:endParaRPr lang="en-US" sz="900" dirty="0"/>
          </a:p>
        </p:txBody>
      </p:sp>
      <p:sp>
        <p:nvSpPr>
          <p:cNvPr id="32" name="Text 16"/>
          <p:cNvSpPr/>
          <p:nvPr/>
        </p:nvSpPr>
        <p:spPr>
          <a:xfrm>
            <a:off x="7776121" y="6400800"/>
            <a:ext cx="44158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spc="72" kern="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BLACK KNIGHT • SMART STATISTICAL ANALYSIS SYSTEM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19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19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164" y="1850914"/>
            <a:ext cx="5315755" cy="2328789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829" y="2121182"/>
            <a:ext cx="436915" cy="436914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157" y="2226509"/>
            <a:ext cx="226259" cy="22625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829" y="2797278"/>
            <a:ext cx="132635" cy="152993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3829" y="3150686"/>
            <a:ext cx="187249" cy="147751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3829" y="3504095"/>
            <a:ext cx="156041" cy="146288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52000" y="1850914"/>
            <a:ext cx="5315754" cy="2328789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1665" y="2121182"/>
            <a:ext cx="436915" cy="436914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5785" y="2228947"/>
            <a:ext cx="288675" cy="221261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01665" y="2797278"/>
            <a:ext cx="156041" cy="146288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01665" y="3150686"/>
            <a:ext cx="187250" cy="147751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01665" y="3504095"/>
            <a:ext cx="156041" cy="146288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4164" y="4898345"/>
            <a:ext cx="171645" cy="142997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4164" y="5141550"/>
            <a:ext cx="10943590" cy="592956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4164" y="6046587"/>
            <a:ext cx="10943590" cy="34329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4164" y="6280648"/>
            <a:ext cx="62416" cy="62417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624164" y="468123"/>
            <a:ext cx="10943590" cy="1560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29"/>
              </a:lnSpc>
              <a:buNone/>
            </a:pPr>
            <a:r>
              <a:rPr lang="en-US" sz="1050" b="1" spc="256" kern="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DECISION ENGINE</a:t>
            </a:r>
            <a:endParaRPr lang="en-US" sz="1050" dirty="0"/>
          </a:p>
        </p:txBody>
      </p:sp>
      <p:sp>
        <p:nvSpPr>
          <p:cNvPr id="21" name="Text 1"/>
          <p:cNvSpPr/>
          <p:nvPr/>
        </p:nvSpPr>
        <p:spPr>
          <a:xfrm>
            <a:off x="624164" y="686580"/>
            <a:ext cx="11567836" cy="57137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Dispersion Measure Decision</a:t>
            </a:r>
            <a:endParaRPr lang="en-US" sz="3600" dirty="0"/>
          </a:p>
        </p:txBody>
      </p:sp>
      <p:sp>
        <p:nvSpPr>
          <p:cNvPr id="22" name="Text 2"/>
          <p:cNvSpPr/>
          <p:nvPr/>
        </p:nvSpPr>
        <p:spPr>
          <a:xfrm>
            <a:off x="624164" y="1320375"/>
            <a:ext cx="11567836" cy="21845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2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Selecting the most appropriate metric for data spread based on distribution properties.</a:t>
            </a:r>
            <a:endParaRPr lang="en-US" sz="1500" dirty="0"/>
          </a:p>
        </p:txBody>
      </p:sp>
      <p:sp>
        <p:nvSpPr>
          <p:cNvPr id="23" name="Text 3"/>
          <p:cNvSpPr/>
          <p:nvPr/>
        </p:nvSpPr>
        <p:spPr>
          <a:xfrm>
            <a:off x="1435577" y="2100579"/>
            <a:ext cx="6028182" cy="24966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66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Deviation</a:t>
            </a:r>
            <a:endParaRPr lang="en-US" sz="1800" dirty="0"/>
          </a:p>
        </p:txBody>
      </p:sp>
      <p:sp>
        <p:nvSpPr>
          <p:cNvPr id="24" name="Text 4"/>
          <p:cNvSpPr/>
          <p:nvPr/>
        </p:nvSpPr>
        <p:spPr>
          <a:xfrm>
            <a:off x="1435577" y="2404859"/>
            <a:ext cx="3014091" cy="14043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83"/>
              </a:lnSpc>
              <a:buNone/>
            </a:pPr>
            <a:r>
              <a:rPr lang="en-US" sz="900" b="1" spc="88" kern="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 DATA CHOICE</a:t>
            </a:r>
            <a:endParaRPr lang="en-US" sz="900" dirty="0"/>
          </a:p>
        </p:txBody>
      </p:sp>
      <p:sp>
        <p:nvSpPr>
          <p:cNvPr id="25" name="Text 5"/>
          <p:cNvSpPr/>
          <p:nvPr/>
        </p:nvSpPr>
        <p:spPr>
          <a:xfrm>
            <a:off x="1100089" y="2766070"/>
            <a:ext cx="11091911" cy="2285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Symmetric distribution with no significant outliers.</a:t>
            </a:r>
            <a:endParaRPr lang="en-US" sz="1200" dirty="0"/>
          </a:p>
        </p:txBody>
      </p:sp>
      <p:sp>
        <p:nvSpPr>
          <p:cNvPr id="26" name="Text 6"/>
          <p:cNvSpPr/>
          <p:nvPr/>
        </p:nvSpPr>
        <p:spPr>
          <a:xfrm>
            <a:off x="1154703" y="3119478"/>
            <a:ext cx="8260828" cy="2285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Companion: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Natural pair for the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 dirty="0"/>
          </a:p>
        </p:txBody>
      </p:sp>
      <p:sp>
        <p:nvSpPr>
          <p:cNvPr id="27" name="Text 7"/>
          <p:cNvSpPr/>
          <p:nvPr/>
        </p:nvSpPr>
        <p:spPr>
          <a:xfrm>
            <a:off x="1123495" y="3472886"/>
            <a:ext cx="11068505" cy="2285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efficient estimator for normally distributed populations.</a:t>
            </a:r>
            <a:endParaRPr lang="en-US" sz="1200" dirty="0"/>
          </a:p>
        </p:txBody>
      </p:sp>
      <p:sp>
        <p:nvSpPr>
          <p:cNvPr id="28" name="Text 8"/>
          <p:cNvSpPr/>
          <p:nvPr/>
        </p:nvSpPr>
        <p:spPr>
          <a:xfrm>
            <a:off x="7063413" y="2100579"/>
            <a:ext cx="4800219" cy="24966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66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IQR (Q3 - Q1)</a:t>
            </a:r>
            <a:endParaRPr lang="en-US" sz="1800" dirty="0"/>
          </a:p>
        </p:txBody>
      </p:sp>
      <p:sp>
        <p:nvSpPr>
          <p:cNvPr id="29" name="Text 9"/>
          <p:cNvSpPr/>
          <p:nvPr/>
        </p:nvSpPr>
        <p:spPr>
          <a:xfrm>
            <a:off x="7063413" y="2404859"/>
            <a:ext cx="2176843" cy="14043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83"/>
              </a:lnSpc>
              <a:buNone/>
            </a:pPr>
            <a:r>
              <a:rPr lang="en-US" sz="900" b="1" spc="88" kern="0" dirty="0">
                <a:solidFill>
                  <a:srgbClr val="D84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 CHOICE</a:t>
            </a:r>
            <a:endParaRPr lang="en-US" sz="900" dirty="0"/>
          </a:p>
        </p:txBody>
      </p:sp>
      <p:sp>
        <p:nvSpPr>
          <p:cNvPr id="30" name="Text 10"/>
          <p:cNvSpPr/>
          <p:nvPr/>
        </p:nvSpPr>
        <p:spPr>
          <a:xfrm>
            <a:off x="6751331" y="2766070"/>
            <a:ext cx="5440669" cy="2285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Skewed data or presence of outliers.</a:t>
            </a:r>
            <a:endParaRPr lang="en-US" sz="1200" dirty="0"/>
          </a:p>
        </p:txBody>
      </p:sp>
      <p:sp>
        <p:nvSpPr>
          <p:cNvPr id="31" name="Text 11"/>
          <p:cNvSpPr/>
          <p:nvPr/>
        </p:nvSpPr>
        <p:spPr>
          <a:xfrm>
            <a:off x="6782539" y="3119478"/>
            <a:ext cx="5409461" cy="2285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Companion: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Natural pair for the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 dirty="0"/>
          </a:p>
        </p:txBody>
      </p:sp>
      <p:sp>
        <p:nvSpPr>
          <p:cNvPr id="32" name="Text 12"/>
          <p:cNvSpPr/>
          <p:nvPr/>
        </p:nvSpPr>
        <p:spPr>
          <a:xfrm>
            <a:off x="6751331" y="3472886"/>
            <a:ext cx="4566758" cy="45715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Resistant to extreme values; measures spread of the middle 50%.</a:t>
            </a:r>
            <a:endParaRPr lang="en-US" sz="1200" dirty="0"/>
          </a:p>
        </p:txBody>
      </p:sp>
      <p:sp>
        <p:nvSpPr>
          <p:cNvPr id="33" name="Text 13"/>
          <p:cNvSpPr/>
          <p:nvPr/>
        </p:nvSpPr>
        <p:spPr>
          <a:xfrm>
            <a:off x="889433" y="4891884"/>
            <a:ext cx="5079311" cy="1560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29"/>
              </a:lnSpc>
              <a:buNone/>
            </a:pPr>
            <a:r>
              <a:rPr lang="en-US" sz="1050" b="1" spc="103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R IMPLEMENTATION</a:t>
            </a:r>
            <a:endParaRPr lang="en-US" sz="1050" dirty="0"/>
          </a:p>
        </p:txBody>
      </p:sp>
      <p:sp>
        <p:nvSpPr>
          <p:cNvPr id="34" name="Text 14"/>
          <p:cNvSpPr/>
          <p:nvPr/>
        </p:nvSpPr>
        <p:spPr>
          <a:xfrm>
            <a:off x="811413" y="5141550"/>
            <a:ext cx="11380587" cy="59295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20"/>
              </a:lnSpc>
              <a:buNone/>
            </a:pPr>
            <a:r>
              <a:rPr lang="en-US" sz="1350" dirty="0">
                <a:solidFill>
                  <a:srgbClr val="F472B6"/>
                </a:solidFill>
              </a:rPr>
              <a:t>best_disp</a:t>
            </a:r>
            <a:pPr indent="0" marL="0">
              <a:lnSpc>
                <a:spcPts val="1720"/>
              </a:lnSpc>
              <a:buNone/>
            </a:pPr>
            <a:r>
              <a:rPr lang="en-US" sz="1350" dirty="0">
                <a:solidFill>
                  <a:srgbClr val="E2E8F0"/>
                </a:solidFill>
              </a:rPr>
              <a:t> </a:t>
            </a:r>
            <a:pPr indent="0" marL="0">
              <a:lnSpc>
                <a:spcPts val="1720"/>
              </a:lnSpc>
              <a:buNone/>
            </a:pPr>
            <a:r>
              <a:rPr lang="en-US" sz="1350" dirty="0">
                <a:solidFill>
                  <a:srgbClr val="D1D5DB"/>
                </a:solidFill>
              </a:rPr>
              <a:t>&lt;-</a:t>
            </a:r>
            <a:pPr indent="0" marL="0">
              <a:lnSpc>
                <a:spcPts val="1720"/>
              </a:lnSpc>
              <a:buNone/>
            </a:pPr>
            <a:r>
              <a:rPr lang="en-US" sz="1350" dirty="0">
                <a:solidFill>
                  <a:srgbClr val="E2E8F0"/>
                </a:solidFill>
              </a:rPr>
              <a:t> </a:t>
            </a:r>
            <a:pPr indent="0" marL="0">
              <a:lnSpc>
                <a:spcPts val="1720"/>
              </a:lnSpc>
              <a:buNone/>
            </a:pPr>
            <a:r>
              <a:rPr lang="en-US" sz="1350" dirty="0">
                <a:solidFill>
                  <a:srgbClr val="60A5FA"/>
                </a:solidFill>
              </a:rPr>
              <a:t>if</a:t>
            </a:r>
            <a:pPr indent="0" marL="0">
              <a:lnSpc>
                <a:spcPts val="1720"/>
              </a:lnSpc>
              <a:buNone/>
            </a:pPr>
            <a:r>
              <a:rPr lang="en-US" sz="1350" dirty="0">
                <a:solidFill>
                  <a:srgbClr val="E2E8F0"/>
                </a:solidFill>
              </a:rPr>
              <a:t> (</a:t>
            </a:r>
            <a:pPr indent="0" marL="0">
              <a:lnSpc>
                <a:spcPts val="1720"/>
              </a:lnSpc>
              <a:buNone/>
            </a:pPr>
            <a:r>
              <a:rPr lang="en-US" sz="1350" dirty="0">
                <a:solidFill>
                  <a:srgbClr val="FDE047"/>
                </a:solidFill>
              </a:rPr>
              <a:t>use_median</a:t>
            </a:r>
            <a:pPr indent="0" marL="0">
              <a:lnSpc>
                <a:spcPts val="1720"/>
              </a:lnSpc>
              <a:buNone/>
            </a:pPr>
            <a:r>
              <a:rPr lang="en-US" sz="1350" dirty="0">
                <a:solidFill>
                  <a:srgbClr val="E2E8F0"/>
                </a:solidFill>
              </a:rPr>
              <a:t>) </a:t>
            </a:r>
            <a:pPr indent="0" marL="0">
              <a:lnSpc>
                <a:spcPts val="1720"/>
              </a:lnSpc>
              <a:buNone/>
            </a:pPr>
            <a:r>
              <a:rPr lang="en-US" sz="1350" dirty="0">
                <a:solidFill>
                  <a:srgbClr val="86EFAC"/>
                </a:solidFill>
              </a:rPr>
              <a:t>"IQR"</a:t>
            </a:r>
            <a:pPr indent="0" marL="0">
              <a:lnSpc>
                <a:spcPts val="1720"/>
              </a:lnSpc>
              <a:buNone/>
            </a:pPr>
            <a:r>
              <a:rPr lang="en-US" sz="1350" dirty="0">
                <a:solidFill>
                  <a:srgbClr val="E2E8F0"/>
                </a:solidFill>
              </a:rPr>
              <a:t> </a:t>
            </a:r>
            <a:pPr indent="0" marL="0">
              <a:lnSpc>
                <a:spcPts val="1720"/>
              </a:lnSpc>
              <a:buNone/>
            </a:pPr>
            <a:r>
              <a:rPr lang="en-US" sz="1350" dirty="0">
                <a:solidFill>
                  <a:srgbClr val="60A5FA"/>
                </a:solidFill>
              </a:rPr>
              <a:t>else</a:t>
            </a:r>
            <a:pPr indent="0" marL="0">
              <a:lnSpc>
                <a:spcPts val="1720"/>
              </a:lnSpc>
              <a:buNone/>
            </a:pPr>
            <a:r>
              <a:rPr lang="en-US" sz="1350" dirty="0">
                <a:solidFill>
                  <a:srgbClr val="E2E8F0"/>
                </a:solidFill>
              </a:rPr>
              <a:t> </a:t>
            </a:r>
            <a:pPr indent="0" marL="0">
              <a:lnSpc>
                <a:spcPts val="1720"/>
              </a:lnSpc>
              <a:buNone/>
            </a:pPr>
            <a:r>
              <a:rPr lang="en-US" sz="1350" dirty="0">
                <a:solidFill>
                  <a:srgbClr val="86EFAC"/>
                </a:solidFill>
              </a:rPr>
              <a:t>"Standard Deviation"</a:t>
            </a:r>
            <a:endParaRPr lang="en-US" sz="1350" dirty="0"/>
          </a:p>
        </p:txBody>
      </p:sp>
      <p:sp>
        <p:nvSpPr>
          <p:cNvPr id="35" name="Text 15"/>
          <p:cNvSpPr/>
          <p:nvPr/>
        </p:nvSpPr>
        <p:spPr>
          <a:xfrm>
            <a:off x="748997" y="6233836"/>
            <a:ext cx="6446818" cy="1560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29"/>
              </a:lnSpc>
              <a:buNone/>
            </a:pPr>
            <a:r>
              <a:rPr lang="en-US" sz="1050" spc="103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STATISTICAL ANALYSIS SYSTEM</a:t>
            </a:r>
            <a:endParaRPr lang="en-US" sz="1050" dirty="0"/>
          </a:p>
        </p:txBody>
      </p:sp>
      <p:sp>
        <p:nvSpPr>
          <p:cNvPr id="36" name="Text 16"/>
          <p:cNvSpPr/>
          <p:nvPr/>
        </p:nvSpPr>
        <p:spPr>
          <a:xfrm>
            <a:off x="10701727" y="6233836"/>
            <a:ext cx="1490273" cy="1560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29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19 of 35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343025"/>
            <a:ext cx="4977259" cy="1813471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1571625"/>
            <a:ext cx="190500" cy="1714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308896"/>
            <a:ext cx="4977259" cy="1143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350" y="3489871"/>
            <a:ext cx="171450" cy="1333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4604296"/>
            <a:ext cx="4977259" cy="3810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150" y="4718596"/>
            <a:ext cx="133350" cy="1333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5061496"/>
            <a:ext cx="4977259" cy="3810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9150" y="5175796"/>
            <a:ext cx="133350" cy="1333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5518696"/>
            <a:ext cx="4977259" cy="5715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9150" y="5632996"/>
            <a:ext cx="133350" cy="1333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67859" y="1352550"/>
            <a:ext cx="133350" cy="1333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67859" y="1571625"/>
            <a:ext cx="5538341" cy="4486275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67859" y="1571625"/>
            <a:ext cx="5514975" cy="44196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5800" y="6210300"/>
            <a:ext cx="10820400" cy="2667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685800" y="514350"/>
            <a:ext cx="27432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spc="202" kern="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STATISTICAL ANALYSIS</a:t>
            </a:r>
            <a:endParaRPr lang="en-US" sz="900" dirty="0"/>
          </a:p>
        </p:txBody>
      </p:sp>
      <p:sp>
        <p:nvSpPr>
          <p:cNvPr id="19" name="Text 1"/>
          <p:cNvSpPr/>
          <p:nvPr/>
        </p:nvSpPr>
        <p:spPr>
          <a:xfrm>
            <a:off x="685800" y="723900"/>
            <a:ext cx="10820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375"/>
              </a:lnSpc>
              <a:buNone/>
            </a:pPr>
            <a:r>
              <a:rPr lang="en-US" sz="27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Arithmetic Mean </a:t>
            </a:r>
            <a:pPr indent="0" marL="0">
              <a:lnSpc>
                <a:spcPts val="3375"/>
              </a:lnSpc>
              <a:buNone/>
            </a:pPr>
            <a:r>
              <a:rPr lang="en-US" sz="270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x̄</a:t>
            </a:r>
            <a:endParaRPr lang="en-US" sz="2700" dirty="0"/>
          </a:p>
        </p:txBody>
      </p:sp>
      <p:sp>
        <p:nvSpPr>
          <p:cNvPr id="20" name="Text 2"/>
          <p:cNvSpPr/>
          <p:nvPr/>
        </p:nvSpPr>
        <p:spPr>
          <a:xfrm>
            <a:off x="1257300" y="1581150"/>
            <a:ext cx="274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spc="72" kern="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MATHEMATICAL FORMULA</a:t>
            </a:r>
            <a:endParaRPr lang="en-US" sz="900" dirty="0"/>
          </a:p>
        </p:txBody>
      </p:sp>
      <p:sp>
        <p:nvSpPr>
          <p:cNvPr id="21" name="Text 3"/>
          <p:cNvSpPr/>
          <p:nvPr/>
        </p:nvSpPr>
        <p:spPr>
          <a:xfrm>
            <a:off x="952500" y="1857375"/>
            <a:ext cx="44438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2400" b="1" spc="96" kern="0" dirty="0">
                <a:solidFill>
                  <a:srgbClr val="1A5C1A"/>
                </a:solidFill>
              </a:rPr>
              <a:t>x̄ = Σxᵢ / n</a:t>
            </a:r>
            <a:endParaRPr lang="en-US" sz="2400" dirty="0"/>
          </a:p>
        </p:txBody>
      </p:sp>
      <p:sp>
        <p:nvSpPr>
          <p:cNvPr id="22" name="Text 4"/>
          <p:cNvSpPr/>
          <p:nvPr/>
        </p:nvSpPr>
        <p:spPr>
          <a:xfrm>
            <a:off x="952500" y="2371725"/>
            <a:ext cx="5230368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2E7D32"/>
                </a:solidFill>
              </a:rPr>
              <a:t>(x₁ + x₂ + · · · + xₙ) / n</a:t>
            </a:r>
            <a:endParaRPr lang="en-US" sz="1320" dirty="0"/>
          </a:p>
        </p:txBody>
      </p:sp>
      <p:sp>
        <p:nvSpPr>
          <p:cNvPr id="23" name="Text 5"/>
          <p:cNvSpPr/>
          <p:nvPr/>
        </p:nvSpPr>
        <p:spPr>
          <a:xfrm>
            <a:off x="952500" y="2737396"/>
            <a:ext cx="68808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Σxᵢ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Sum of all values  |  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Total count</a:t>
            </a:r>
            <a:endParaRPr lang="en-US" sz="1050" dirty="0"/>
          </a:p>
        </p:txBody>
      </p:sp>
      <p:sp>
        <p:nvSpPr>
          <p:cNvPr id="24" name="Text 6"/>
          <p:cNvSpPr/>
          <p:nvPr/>
        </p:nvSpPr>
        <p:spPr>
          <a:xfrm>
            <a:off x="1143000" y="3480346"/>
            <a:ext cx="21945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spc="36" kern="0" dirty="0">
                <a:solidFill>
                  <a:srgbClr val="94A3B8"/>
                </a:solidFill>
              </a:rPr>
              <a:t>R IMPLEMENTATION</a:t>
            </a:r>
            <a:endParaRPr lang="en-US" sz="900" dirty="0"/>
          </a:p>
        </p:txBody>
      </p:sp>
      <p:sp>
        <p:nvSpPr>
          <p:cNvPr id="25" name="Text 7"/>
          <p:cNvSpPr/>
          <p:nvPr/>
        </p:nvSpPr>
        <p:spPr>
          <a:xfrm>
            <a:off x="895350" y="3804196"/>
            <a:ext cx="4107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# Compute arithmetic mean</a:t>
            </a:r>
            <a:endParaRPr lang="en-US" sz="1050" dirty="0"/>
          </a:p>
        </p:txBody>
      </p:sp>
      <p:sp>
        <p:nvSpPr>
          <p:cNvPr id="26" name="Text 8"/>
          <p:cNvSpPr/>
          <p:nvPr/>
        </p:nvSpPr>
        <p:spPr>
          <a:xfrm>
            <a:off x="2896046" y="3804196"/>
            <a:ext cx="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
</a:t>
            </a:r>
            <a:endParaRPr lang="en-US" sz="1050" dirty="0"/>
          </a:p>
        </p:txBody>
      </p:sp>
      <p:sp>
        <p:nvSpPr>
          <p:cNvPr id="27" name="Text 9"/>
          <p:cNvSpPr/>
          <p:nvPr/>
        </p:nvSpPr>
        <p:spPr>
          <a:xfrm>
            <a:off x="895350" y="4070896"/>
            <a:ext cx="9601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050" dirty="0">
                <a:solidFill>
                  <a:srgbClr val="7DD3FC"/>
                </a:solidFill>
              </a:rPr>
              <a:t>mean_v</a:t>
            </a:r>
            <a:endParaRPr lang="en-US" sz="1050" dirty="0"/>
          </a:p>
        </p:txBody>
      </p:sp>
      <p:sp>
        <p:nvSpPr>
          <p:cNvPr id="28" name="Text 10"/>
          <p:cNvSpPr/>
          <p:nvPr/>
        </p:nvSpPr>
        <p:spPr>
          <a:xfrm>
            <a:off x="1455688" y="4070896"/>
            <a:ext cx="3200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&lt;-</a:t>
            </a:r>
            <a:endParaRPr lang="en-US" sz="1050" dirty="0"/>
          </a:p>
        </p:txBody>
      </p:sp>
      <p:sp>
        <p:nvSpPr>
          <p:cNvPr id="29" name="Text 11"/>
          <p:cNvSpPr/>
          <p:nvPr/>
        </p:nvSpPr>
        <p:spPr>
          <a:xfrm>
            <a:off x="1695896" y="4070896"/>
            <a:ext cx="6400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050" dirty="0">
                <a:solidFill>
                  <a:srgbClr val="86EFAC"/>
                </a:solidFill>
              </a:rPr>
              <a:t>mean</a:t>
            </a:r>
            <a:endParaRPr lang="en-US" sz="1050" dirty="0"/>
          </a:p>
        </p:txBody>
      </p:sp>
      <p:sp>
        <p:nvSpPr>
          <p:cNvPr id="30" name="Text 12"/>
          <p:cNvSpPr/>
          <p:nvPr/>
        </p:nvSpPr>
        <p:spPr>
          <a:xfrm>
            <a:off x="2016026" y="4070896"/>
            <a:ext cx="1600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(</a:t>
            </a:r>
            <a:endParaRPr lang="en-US" sz="1050" dirty="0"/>
          </a:p>
        </p:txBody>
      </p:sp>
      <p:sp>
        <p:nvSpPr>
          <p:cNvPr id="31" name="Text 13"/>
          <p:cNvSpPr/>
          <p:nvPr/>
        </p:nvSpPr>
        <p:spPr>
          <a:xfrm>
            <a:off x="2096095" y="4070896"/>
            <a:ext cx="1600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050" dirty="0">
                <a:solidFill>
                  <a:srgbClr val="FDE68A"/>
                </a:solidFill>
              </a:rPr>
              <a:t>x</a:t>
            </a:r>
            <a:endParaRPr lang="en-US" sz="1050" dirty="0"/>
          </a:p>
        </p:txBody>
      </p:sp>
      <p:sp>
        <p:nvSpPr>
          <p:cNvPr id="32" name="Text 14"/>
          <p:cNvSpPr/>
          <p:nvPr/>
        </p:nvSpPr>
        <p:spPr>
          <a:xfrm>
            <a:off x="2176165" y="4070896"/>
            <a:ext cx="1600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)</a:t>
            </a:r>
            <a:endParaRPr lang="en-US" sz="1050" dirty="0"/>
          </a:p>
        </p:txBody>
      </p:sp>
      <p:sp>
        <p:nvSpPr>
          <p:cNvPr id="33" name="Text 15"/>
          <p:cNvSpPr/>
          <p:nvPr/>
        </p:nvSpPr>
        <p:spPr>
          <a:xfrm>
            <a:off x="1066800" y="4699546"/>
            <a:ext cx="100812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for: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Symmetric, normally distributed data without outliers</a:t>
            </a:r>
            <a:endParaRPr lang="en-US" sz="1050" dirty="0"/>
          </a:p>
        </p:txBody>
      </p:sp>
      <p:sp>
        <p:nvSpPr>
          <p:cNvPr id="34" name="Text 16"/>
          <p:cNvSpPr/>
          <p:nvPr/>
        </p:nvSpPr>
        <p:spPr>
          <a:xfrm>
            <a:off x="1066800" y="5156746"/>
            <a:ext cx="11125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Caution: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Highly sensitive to extreme values — outliers distort the result</a:t>
            </a:r>
            <a:endParaRPr lang="en-US" sz="1050" dirty="0"/>
          </a:p>
        </p:txBody>
      </p:sp>
      <p:sp>
        <p:nvSpPr>
          <p:cNvPr id="35" name="Text 17"/>
          <p:cNvSpPr/>
          <p:nvPr/>
        </p:nvSpPr>
        <p:spPr>
          <a:xfrm>
            <a:off x="1066800" y="5613946"/>
            <a:ext cx="446290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efficient: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Uses every data point, making it the most statistically powerful estimator</a:t>
            </a:r>
            <a:endParaRPr lang="en-US" sz="1050" dirty="0"/>
          </a:p>
        </p:txBody>
      </p:sp>
      <p:sp>
        <p:nvSpPr>
          <p:cNvPr id="36" name="Text 18"/>
          <p:cNvSpPr/>
          <p:nvPr/>
        </p:nvSpPr>
        <p:spPr>
          <a:xfrm>
            <a:off x="6177409" y="1343025"/>
            <a:ext cx="60145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spc="36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EXAMPLE: DATA = {40, 10, 50, 90, 20, 45, 10, 30, 60, 75, 25, 85}  →  </a:t>
            </a:r>
            <a:pPr indent="0" marL="0">
              <a:lnSpc>
                <a:spcPts val="1200"/>
              </a:lnSpc>
              <a:buNone/>
            </a:pPr>
            <a:r>
              <a:rPr lang="en-US" sz="900" b="1" spc="36" kern="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X̄ = 540 / 12 = 45</a:t>
            </a:r>
            <a:endParaRPr lang="en-US" sz="900" dirty="0"/>
          </a:p>
        </p:txBody>
      </p:sp>
      <p:sp>
        <p:nvSpPr>
          <p:cNvPr id="37" name="Text 19"/>
          <p:cNvSpPr/>
          <p:nvPr/>
        </p:nvSpPr>
        <p:spPr>
          <a:xfrm>
            <a:off x="685800" y="6324600"/>
            <a:ext cx="45262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spc="72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STATISTICAL ANALYSIS SYSTEM</a:t>
            </a:r>
            <a:endParaRPr lang="en-US" sz="900" dirty="0"/>
          </a:p>
        </p:txBody>
      </p:sp>
      <p:sp>
        <p:nvSpPr>
          <p:cNvPr id="38" name="Text 20"/>
          <p:cNvSpPr/>
          <p:nvPr/>
        </p:nvSpPr>
        <p:spPr>
          <a:xfrm>
            <a:off x="9172575" y="6324600"/>
            <a:ext cx="3019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Black Knight | Scientific Computation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545" y="1333250"/>
            <a:ext cx="328527" cy="32852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545" y="1826041"/>
            <a:ext cx="5411605" cy="140244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545" y="3584387"/>
            <a:ext cx="5411605" cy="525301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2922" y="1333250"/>
            <a:ext cx="328527" cy="328527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2922" y="1826041"/>
            <a:ext cx="5411605" cy="1139257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2922" y="3321202"/>
            <a:ext cx="5411605" cy="776829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7545" y="5328404"/>
            <a:ext cx="11096875" cy="1368862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1808" y="5492667"/>
            <a:ext cx="6960665" cy="1040335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547545" y="410659"/>
            <a:ext cx="11096875" cy="13688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78"/>
              </a:lnSpc>
              <a:buNone/>
            </a:pPr>
            <a:r>
              <a:rPr lang="en-US" sz="1050" b="1" spc="234" kern="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MEASURES OF CENTRAL TENDENCY</a:t>
            </a:r>
            <a:endParaRPr lang="en-US" sz="1050" dirty="0"/>
          </a:p>
        </p:txBody>
      </p:sp>
      <p:sp>
        <p:nvSpPr>
          <p:cNvPr id="12" name="Text 1"/>
          <p:cNvSpPr/>
          <p:nvPr/>
        </p:nvSpPr>
        <p:spPr>
          <a:xfrm>
            <a:off x="547545" y="602299"/>
            <a:ext cx="11644455" cy="45717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Statistical Analysis: Median &amp; Mode</a:t>
            </a:r>
            <a:endParaRPr lang="en-US" sz="3600" dirty="0"/>
          </a:p>
        </p:txBody>
      </p:sp>
      <p:sp>
        <p:nvSpPr>
          <p:cNvPr id="13" name="Text 2"/>
          <p:cNvSpPr/>
          <p:nvPr/>
        </p:nvSpPr>
        <p:spPr>
          <a:xfrm>
            <a:off x="985581" y="1388005"/>
            <a:ext cx="3817620" cy="21901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25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Median</a:t>
            </a:r>
            <a:endParaRPr lang="en-US" sz="1800" dirty="0"/>
          </a:p>
        </p:txBody>
      </p:sp>
      <p:sp>
        <p:nvSpPr>
          <p:cNvPr id="14" name="Text 3"/>
          <p:cNvSpPr/>
          <p:nvPr/>
        </p:nvSpPr>
        <p:spPr>
          <a:xfrm>
            <a:off x="711808" y="1990304"/>
            <a:ext cx="5083078" cy="13688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78"/>
              </a:lnSpc>
              <a:buNone/>
            </a:pPr>
            <a:r>
              <a:rPr lang="en-US" sz="10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MATHEMATICAL FORMULA</a:t>
            </a:r>
            <a:endParaRPr lang="en-US" sz="1050" dirty="0"/>
          </a:p>
        </p:txBody>
      </p:sp>
      <p:sp>
        <p:nvSpPr>
          <p:cNvPr id="15" name="Text 4"/>
          <p:cNvSpPr/>
          <p:nvPr/>
        </p:nvSpPr>
        <p:spPr>
          <a:xfrm>
            <a:off x="711808" y="2209322"/>
            <a:ext cx="5083078" cy="4000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150"/>
              </a:lnSpc>
              <a:buNone/>
            </a:pPr>
            <a:r>
              <a:rPr lang="en-US" sz="2100" i="1" dirty="0">
                <a:solidFill>
                  <a:srgbClr val="333333"/>
                </a:solidFill>
              </a:rPr>
              <a:t>If n is odd: x</a:t>
            </a:r>
            <a:pPr indent="0" marL="0">
              <a:lnSpc>
                <a:spcPts val="3150"/>
              </a:lnSpc>
              <a:buNone/>
            </a:pPr>
            <a:r>
              <a:rPr lang="en-US" sz="1575" i="1" dirty="0">
                <a:solidFill>
                  <a:srgbClr val="333333"/>
                </a:solidFill>
              </a:rPr>
              <a:t>(n+1)/2</a:t>
            </a:r>
            <a:endParaRPr lang="en-US" sz="2100" dirty="0"/>
          </a:p>
        </p:txBody>
      </p:sp>
      <p:sp>
        <p:nvSpPr>
          <p:cNvPr id="16" name="Text 5"/>
          <p:cNvSpPr/>
          <p:nvPr/>
        </p:nvSpPr>
        <p:spPr>
          <a:xfrm>
            <a:off x="711808" y="2664148"/>
            <a:ext cx="11480192" cy="4000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150"/>
              </a:lnSpc>
              <a:buNone/>
            </a:pPr>
            <a:r>
              <a:rPr lang="en-US" sz="2100" i="1" dirty="0">
                <a:solidFill>
                  <a:srgbClr val="333333"/>
                </a:solidFill>
              </a:rPr>
              <a:t>If n is even: (x</a:t>
            </a:r>
            <a:pPr indent="0" marL="0">
              <a:lnSpc>
                <a:spcPts val="3150"/>
              </a:lnSpc>
              <a:buNone/>
            </a:pPr>
            <a:r>
              <a:rPr lang="en-US" sz="1575" i="1" dirty="0">
                <a:solidFill>
                  <a:srgbClr val="333333"/>
                </a:solidFill>
              </a:rPr>
              <a:t>n/2</a:t>
            </a:r>
            <a:pPr indent="0" marL="0">
              <a:lnSpc>
                <a:spcPts val="3150"/>
              </a:lnSpc>
              <a:buNone/>
            </a:pPr>
            <a:r>
              <a:rPr lang="en-US" sz="2100" i="1" dirty="0">
                <a:solidFill>
                  <a:srgbClr val="333333"/>
                </a:solidFill>
              </a:rPr>
              <a:t> + x</a:t>
            </a:r>
            <a:pPr indent="0" marL="0">
              <a:lnSpc>
                <a:spcPts val="3150"/>
              </a:lnSpc>
              <a:buNone/>
            </a:pPr>
            <a:r>
              <a:rPr lang="en-US" sz="1575" i="1" dirty="0">
                <a:solidFill>
                  <a:srgbClr val="333333"/>
                </a:solidFill>
              </a:rPr>
              <a:t>n/2+1</a:t>
            </a:r>
            <a:pPr indent="0" marL="0">
              <a:lnSpc>
                <a:spcPts val="3150"/>
              </a:lnSpc>
              <a:buNone/>
            </a:pPr>
            <a:r>
              <a:rPr lang="en-US" sz="2100" i="1" dirty="0">
                <a:solidFill>
                  <a:srgbClr val="333333"/>
                </a:solidFill>
              </a:rPr>
              <a:t>) / 2</a:t>
            </a:r>
            <a:endParaRPr lang="en-US" sz="2100" dirty="0"/>
          </a:p>
        </p:txBody>
      </p:sp>
      <p:sp>
        <p:nvSpPr>
          <p:cNvPr id="17" name="Text 6"/>
          <p:cNvSpPr/>
          <p:nvPr/>
        </p:nvSpPr>
        <p:spPr>
          <a:xfrm>
            <a:off x="547545" y="3392747"/>
            <a:ext cx="5411605" cy="13688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78"/>
              </a:lnSpc>
              <a:buNone/>
            </a:pPr>
            <a:r>
              <a:rPr lang="en-US" sz="10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 IMPLEMENTATION</a:t>
            </a:r>
            <a:endParaRPr lang="en-US" sz="1050" dirty="0"/>
          </a:p>
        </p:txBody>
      </p:sp>
      <p:sp>
        <p:nvSpPr>
          <p:cNvPr id="18" name="Text 7"/>
          <p:cNvSpPr/>
          <p:nvPr/>
        </p:nvSpPr>
        <p:spPr>
          <a:xfrm>
            <a:off x="684431" y="3584387"/>
            <a:ext cx="5465211" cy="5253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8FAFC"/>
                </a:solidFill>
              </a:rPr>
              <a:t>median_v &lt;- median(x)</a:t>
            </a:r>
            <a:endParaRPr lang="en-US" sz="1320" dirty="0"/>
          </a:p>
        </p:txBody>
      </p:sp>
      <p:sp>
        <p:nvSpPr>
          <p:cNvPr id="19" name="Text 8"/>
          <p:cNvSpPr/>
          <p:nvPr/>
        </p:nvSpPr>
        <p:spPr>
          <a:xfrm>
            <a:off x="547545" y="4273952"/>
            <a:ext cx="5411605" cy="83543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value that splits the dataset exactly in half. Unlike the mean, it is </a:t>
            </a:r>
            <a:pPr indent="0" marL="0">
              <a:lnSpc>
                <a:spcPts val="2194"/>
              </a:lnSpc>
              <a:buNone/>
            </a:pPr>
            <a:r>
              <a:rPr lang="en-US" sz="135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</a:t>
            </a:r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resistant to the influence of extreme outliers and skewness.</a:t>
            </a:r>
            <a:endParaRPr lang="en-US" sz="1350" dirty="0"/>
          </a:p>
        </p:txBody>
      </p:sp>
      <p:sp>
        <p:nvSpPr>
          <p:cNvPr id="20" name="Text 9"/>
          <p:cNvSpPr/>
          <p:nvPr/>
        </p:nvSpPr>
        <p:spPr>
          <a:xfrm>
            <a:off x="6670958" y="1388005"/>
            <a:ext cx="3054096" cy="21901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25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</a:t>
            </a:r>
            <a:endParaRPr lang="en-US" sz="1800" dirty="0"/>
          </a:p>
        </p:txBody>
      </p:sp>
      <p:sp>
        <p:nvSpPr>
          <p:cNvPr id="21" name="Text 10"/>
          <p:cNvSpPr/>
          <p:nvPr/>
        </p:nvSpPr>
        <p:spPr>
          <a:xfrm>
            <a:off x="6397186" y="1990304"/>
            <a:ext cx="5121965" cy="13688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78"/>
              </a:lnSpc>
              <a:buNone/>
            </a:pPr>
            <a:r>
              <a:rPr lang="en-US" sz="10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MATHEMATICAL DEFINITION</a:t>
            </a:r>
            <a:endParaRPr lang="en-US" sz="1050" dirty="0"/>
          </a:p>
        </p:txBody>
      </p:sp>
      <p:sp>
        <p:nvSpPr>
          <p:cNvPr id="22" name="Text 11"/>
          <p:cNvSpPr/>
          <p:nvPr/>
        </p:nvSpPr>
        <p:spPr>
          <a:xfrm>
            <a:off x="6397186" y="2209322"/>
            <a:ext cx="5794814" cy="4000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150"/>
              </a:lnSpc>
              <a:buNone/>
            </a:pPr>
            <a:r>
              <a:rPr lang="en-US" sz="2100" i="1" dirty="0">
                <a:solidFill>
                  <a:srgbClr val="333333"/>
                </a:solidFill>
              </a:rPr>
              <a:t>Mode = arg max</a:t>
            </a:r>
            <a:pPr indent="0" marL="0">
              <a:lnSpc>
                <a:spcPts val="3150"/>
              </a:lnSpc>
              <a:buNone/>
            </a:pPr>
            <a:r>
              <a:rPr lang="en-US" sz="1575" i="1" dirty="0">
                <a:solidFill>
                  <a:srgbClr val="333333"/>
                </a:solidFill>
              </a:rPr>
              <a:t>x</a:t>
            </a:r>
            <a:pPr indent="0" marL="0">
              <a:lnSpc>
                <a:spcPts val="3150"/>
              </a:lnSpc>
              <a:buNone/>
            </a:pPr>
            <a:r>
              <a:rPr lang="en-US" sz="2100" i="1" dirty="0">
                <a:solidFill>
                  <a:srgbClr val="333333"/>
                </a:solidFill>
              </a:rPr>
              <a:t> f(x)</a:t>
            </a:r>
            <a:endParaRPr lang="en-US" sz="2100" dirty="0"/>
          </a:p>
        </p:txBody>
      </p:sp>
      <p:sp>
        <p:nvSpPr>
          <p:cNvPr id="23" name="Text 12"/>
          <p:cNvSpPr/>
          <p:nvPr/>
        </p:nvSpPr>
        <p:spPr>
          <a:xfrm>
            <a:off x="6397186" y="2664148"/>
            <a:ext cx="5794814" cy="13688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78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(Value with highest frequency)</a:t>
            </a:r>
            <a:endParaRPr lang="en-US" sz="1050" dirty="0"/>
          </a:p>
        </p:txBody>
      </p:sp>
      <p:sp>
        <p:nvSpPr>
          <p:cNvPr id="24" name="Text 13"/>
          <p:cNvSpPr/>
          <p:nvPr/>
        </p:nvSpPr>
        <p:spPr>
          <a:xfrm>
            <a:off x="6232922" y="3129562"/>
            <a:ext cx="5411605" cy="13688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78"/>
              </a:lnSpc>
              <a:buNone/>
            </a:pPr>
            <a:r>
              <a:rPr lang="en-US" sz="10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 IMPLEMENTATION</a:t>
            </a:r>
            <a:endParaRPr lang="en-US" sz="1050" dirty="0"/>
          </a:p>
        </p:txBody>
      </p:sp>
      <p:sp>
        <p:nvSpPr>
          <p:cNvPr id="25" name="Text 14"/>
          <p:cNvSpPr/>
          <p:nvPr/>
        </p:nvSpPr>
        <p:spPr>
          <a:xfrm>
            <a:off x="6369808" y="3321202"/>
            <a:ext cx="5030605" cy="77682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8FAFC"/>
                </a:solidFill>
              </a:rPr>
              <a:t>ft &lt;- table(x)</a:t>
            </a:r>
            <a:pPr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8FAFC"/>
                </a:solidFill>
              </a:rPr>
              <a:t>
</a:t>
            </a:r>
            <a:pPr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8FAFC"/>
                </a:solidFill>
              </a:rPr>
              <a:t>mode_v &lt;- names(ft[ft == max(ft)])</a:t>
            </a:r>
            <a:endParaRPr lang="en-US" sz="1320" dirty="0"/>
          </a:p>
        </p:txBody>
      </p:sp>
      <p:sp>
        <p:nvSpPr>
          <p:cNvPr id="26" name="Text 15"/>
          <p:cNvSpPr/>
          <p:nvPr/>
        </p:nvSpPr>
        <p:spPr>
          <a:xfrm>
            <a:off x="6232922" y="4262295"/>
            <a:ext cx="5411605" cy="55695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most frequently occurring value. It is the </a:t>
            </a:r>
            <a:pPr indent="0" marL="0">
              <a:lnSpc>
                <a:spcPts val="2194"/>
              </a:lnSpc>
              <a:buNone/>
            </a:pPr>
            <a:r>
              <a:rPr lang="en-US" sz="135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</a:t>
            </a:r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valid measure of central tendency for qualitative (categorical) data.</a:t>
            </a:r>
            <a:endParaRPr lang="en-US" sz="1350" dirty="0"/>
          </a:p>
        </p:txBody>
      </p:sp>
      <p:sp>
        <p:nvSpPr>
          <p:cNvPr id="27" name="Text 16"/>
          <p:cNvSpPr/>
          <p:nvPr/>
        </p:nvSpPr>
        <p:spPr>
          <a:xfrm>
            <a:off x="7891492" y="5632547"/>
            <a:ext cx="3588665" cy="76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44"/>
              </a:lnSpc>
              <a:buNone/>
            </a:pPr>
            <a:r>
              <a:rPr lang="en-US" sz="1050" b="1" spc="58" kern="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LOGIC</a:t>
            </a:r>
            <a:pPr indent="0" marL="0">
              <a:lnSpc>
                <a:spcPts val="1444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 identifies the highest frequency peak, while the Median identifies the 50th percentile rank within the distribution.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21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563" y="514728"/>
            <a:ext cx="363338" cy="3027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563" y="1705393"/>
            <a:ext cx="257364" cy="22874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563" y="2122545"/>
            <a:ext cx="5339007" cy="968901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5289" y="2334492"/>
            <a:ext cx="1092024" cy="272503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563" y="4230188"/>
            <a:ext cx="5339007" cy="470849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7351" y="1701253"/>
            <a:ext cx="227086" cy="236903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7351" y="2122545"/>
            <a:ext cx="5339007" cy="968901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38618" y="2334492"/>
            <a:ext cx="1092024" cy="272503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7351" y="4230188"/>
            <a:ext cx="5339007" cy="470849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5563" y="5219905"/>
            <a:ext cx="10980795" cy="82058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7232" y="5424992"/>
            <a:ext cx="295212" cy="410292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8066" y="5558169"/>
            <a:ext cx="113543" cy="16511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1059735" y="454172"/>
            <a:ext cx="4429895" cy="1513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92"/>
              </a:lnSpc>
              <a:buNone/>
            </a:pPr>
            <a:r>
              <a:rPr lang="en-US" sz="1050" b="1" spc="106" kern="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MEASURES OF DISPERSION</a:t>
            </a:r>
            <a:endParaRPr lang="en-US" sz="1050" dirty="0"/>
          </a:p>
        </p:txBody>
      </p:sp>
      <p:sp>
        <p:nvSpPr>
          <p:cNvPr id="16" name="Text 1"/>
          <p:cNvSpPr/>
          <p:nvPr/>
        </p:nvSpPr>
        <p:spPr>
          <a:xfrm>
            <a:off x="605563" y="666119"/>
            <a:ext cx="11586437" cy="45724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 &amp; Standard Deviation</a:t>
            </a:r>
            <a:endParaRPr lang="en-US" sz="3600" dirty="0"/>
          </a:p>
        </p:txBody>
      </p:sp>
      <p:sp>
        <p:nvSpPr>
          <p:cNvPr id="17" name="Text 2"/>
          <p:cNvSpPr/>
          <p:nvPr/>
        </p:nvSpPr>
        <p:spPr>
          <a:xfrm>
            <a:off x="605563" y="1183923"/>
            <a:ext cx="11586437" cy="21194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69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Quantifying data spread through arithmetic and geometric approaches.</a:t>
            </a:r>
            <a:endParaRPr lang="en-US" sz="1500" dirty="0"/>
          </a:p>
        </p:txBody>
      </p:sp>
      <p:sp>
        <p:nvSpPr>
          <p:cNvPr id="18" name="Text 3"/>
          <p:cNvSpPr/>
          <p:nvPr/>
        </p:nvSpPr>
        <p:spPr>
          <a:xfrm>
            <a:off x="953762" y="1698651"/>
            <a:ext cx="4487418" cy="242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07"/>
              </a:lnSpc>
              <a:buNone/>
            </a:pPr>
            <a:r>
              <a:rPr lang="en-US" sz="180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 (s²)</a:t>
            </a:r>
            <a:endParaRPr lang="en-US" sz="1800" dirty="0"/>
          </a:p>
        </p:txBody>
      </p:sp>
      <p:sp>
        <p:nvSpPr>
          <p:cNvPr id="19" name="Text 4"/>
          <p:cNvSpPr/>
          <p:nvPr/>
        </p:nvSpPr>
        <p:spPr>
          <a:xfrm>
            <a:off x="2462701" y="2334492"/>
            <a:ext cx="1624612" cy="54500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46"/>
              </a:lnSpc>
              <a:buNone/>
            </a:pPr>
            <a:r>
              <a:rPr lang="en-US" sz="2250" i="1" dirty="0">
                <a:solidFill>
                  <a:srgbClr val="333333"/>
                </a:solidFill>
              </a:rPr>
              <a:t>s² = </a:t>
            </a:r>
            <a:endParaRPr lang="en-US" sz="2250" dirty="0"/>
          </a:p>
        </p:txBody>
      </p:sp>
      <p:sp>
        <p:nvSpPr>
          <p:cNvPr id="20" name="Text 5"/>
          <p:cNvSpPr/>
          <p:nvPr/>
        </p:nvSpPr>
        <p:spPr>
          <a:xfrm>
            <a:off x="605563" y="3273115"/>
            <a:ext cx="5339007" cy="8359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Measures the </a:t>
            </a:r>
            <a:pPr indent="0" marL="0">
              <a:lnSpc>
                <a:spcPts val="2194"/>
              </a:lnSpc>
              <a:buNone/>
            </a:pPr>
            <a:r>
              <a:rPr lang="en-US" sz="135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squared deviation</a:t>
            </a:r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each data point from the mean. It uses </a:t>
            </a:r>
            <a:pPr indent="0" marL="0">
              <a:lnSpc>
                <a:spcPts val="2194"/>
              </a:lnSpc>
              <a:buNone/>
            </a:pPr>
            <a:r>
              <a:rPr lang="en-US" sz="135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n-1</a:t>
            </a:r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(Bessel's correction) for an unbiased sample estimate.</a:t>
            </a:r>
            <a:endParaRPr lang="en-US" sz="1350" dirty="0"/>
          </a:p>
        </p:txBody>
      </p:sp>
      <p:sp>
        <p:nvSpPr>
          <p:cNvPr id="21" name="Text 6"/>
          <p:cNvSpPr/>
          <p:nvPr/>
        </p:nvSpPr>
        <p:spPr>
          <a:xfrm>
            <a:off x="726675" y="4230188"/>
            <a:ext cx="5034207" cy="4708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563EB"/>
                </a:solidFill>
              </a:rPr>
              <a:t>var_v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 &lt;-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5803D"/>
                </a:solidFill>
              </a:rPr>
              <a:t>var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(x)</a:t>
            </a:r>
            <a:endParaRPr lang="en-US" sz="1200" dirty="0"/>
          </a:p>
        </p:txBody>
      </p:sp>
      <p:sp>
        <p:nvSpPr>
          <p:cNvPr id="22" name="Text 7"/>
          <p:cNvSpPr/>
          <p:nvPr/>
        </p:nvSpPr>
        <p:spPr>
          <a:xfrm>
            <a:off x="6565272" y="1698651"/>
            <a:ext cx="5626728" cy="242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07"/>
              </a:lnSpc>
              <a:buNone/>
            </a:pPr>
            <a:r>
              <a:rPr lang="en-US" sz="180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Deviation (s)</a:t>
            </a:r>
            <a:endParaRPr lang="en-US" sz="1800" dirty="0"/>
          </a:p>
        </p:txBody>
      </p:sp>
      <p:sp>
        <p:nvSpPr>
          <p:cNvPr id="23" name="Text 8"/>
          <p:cNvSpPr/>
          <p:nvPr/>
        </p:nvSpPr>
        <p:spPr>
          <a:xfrm>
            <a:off x="7703068" y="2334492"/>
            <a:ext cx="2427574" cy="54500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46"/>
              </a:lnSpc>
              <a:buNone/>
            </a:pPr>
            <a:r>
              <a:rPr lang="en-US" sz="2250" i="1" dirty="0">
                <a:solidFill>
                  <a:srgbClr val="333333"/>
                </a:solidFill>
              </a:rPr>
              <a:t>s = √s² = </a:t>
            </a:r>
            <a:pPr indent="0" marL="0">
              <a:lnSpc>
                <a:spcPts val="2384"/>
              </a:lnSpc>
              <a:buNone/>
            </a:pPr>
            <a:r>
              <a:rPr lang="en-US" sz="2700" i="1" dirty="0">
                <a:solidFill>
                  <a:srgbClr val="333333"/>
                </a:solidFill>
              </a:rPr>
              <a:t>√</a:t>
            </a:r>
            <a:pPr indent="0" marL="0">
              <a:lnSpc>
                <a:spcPts val="2146"/>
              </a:lnSpc>
              <a:buNone/>
            </a:pPr>
            <a:r>
              <a:rPr lang="en-US" sz="2250" i="1" dirty="0">
                <a:solidFill>
                  <a:srgbClr val="333333"/>
                </a:solidFill>
              </a:rPr>
              <a:t> </a:t>
            </a:r>
            <a:endParaRPr lang="en-US" sz="2250" dirty="0"/>
          </a:p>
        </p:txBody>
      </p:sp>
      <p:sp>
        <p:nvSpPr>
          <p:cNvPr id="24" name="Text 9"/>
          <p:cNvSpPr/>
          <p:nvPr/>
        </p:nvSpPr>
        <p:spPr>
          <a:xfrm>
            <a:off x="6247351" y="3273115"/>
            <a:ext cx="5339007" cy="8359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square root of variance. It is the most common measure of spread because it is expressed in the </a:t>
            </a:r>
            <a:pPr indent="0" marL="0">
              <a:lnSpc>
                <a:spcPts val="2194"/>
              </a:lnSpc>
              <a:buNone/>
            </a:pPr>
            <a:r>
              <a:rPr lang="en-US" sz="135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units</a:t>
            </a:r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 the original data.</a:t>
            </a:r>
            <a:endParaRPr lang="en-US" sz="1350" dirty="0"/>
          </a:p>
        </p:txBody>
      </p:sp>
      <p:sp>
        <p:nvSpPr>
          <p:cNvPr id="25" name="Text 10"/>
          <p:cNvSpPr/>
          <p:nvPr/>
        </p:nvSpPr>
        <p:spPr>
          <a:xfrm>
            <a:off x="6368464" y="4230188"/>
            <a:ext cx="5034207" cy="4708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563EB"/>
                </a:solidFill>
              </a:rPr>
              <a:t>sd_v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 &lt;-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5803D"/>
                </a:solidFill>
              </a:rPr>
              <a:t>sd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(x)</a:t>
            </a:r>
            <a:endParaRPr lang="en-US" sz="1200" dirty="0"/>
          </a:p>
        </p:txBody>
      </p:sp>
      <p:sp>
        <p:nvSpPr>
          <p:cNvPr id="26" name="Text 11"/>
          <p:cNvSpPr/>
          <p:nvPr/>
        </p:nvSpPr>
        <p:spPr>
          <a:xfrm>
            <a:off x="1264113" y="5401574"/>
            <a:ext cx="10090192" cy="22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Decision Logic</a:t>
            </a:r>
            <a:endParaRPr lang="en-US" sz="1200" dirty="0"/>
          </a:p>
        </p:txBody>
      </p:sp>
      <p:sp>
        <p:nvSpPr>
          <p:cNvPr id="27" name="Text 12"/>
          <p:cNvSpPr/>
          <p:nvPr/>
        </p:nvSpPr>
        <p:spPr>
          <a:xfrm>
            <a:off x="1264113" y="5630198"/>
            <a:ext cx="10927887" cy="22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Deviation is used as the primary dispersion measure for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symmetric, normal data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For skewed data, the system recommends IQR.</a:t>
            </a:r>
            <a:endParaRPr lang="en-US" sz="1200" dirty="0"/>
          </a:p>
        </p:txBody>
      </p:sp>
      <p:sp>
        <p:nvSpPr>
          <p:cNvPr id="28" name="Text 13"/>
          <p:cNvSpPr/>
          <p:nvPr/>
        </p:nvSpPr>
        <p:spPr>
          <a:xfrm>
            <a:off x="605563" y="6282715"/>
            <a:ext cx="5695569" cy="1211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54"/>
              </a:lnSpc>
              <a:buNone/>
            </a:pPr>
            <a:r>
              <a:rPr lang="en-US" sz="900" b="1" spc="91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STATISTICAL ANALYSIS SYSTEM</a:t>
            </a:r>
            <a:endParaRPr lang="en-US" sz="900" dirty="0"/>
          </a:p>
        </p:txBody>
      </p:sp>
      <p:sp>
        <p:nvSpPr>
          <p:cNvPr id="29" name="Text 14"/>
          <p:cNvSpPr/>
          <p:nvPr/>
        </p:nvSpPr>
        <p:spPr>
          <a:xfrm>
            <a:off x="9139032" y="6282715"/>
            <a:ext cx="3052968" cy="1211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54"/>
              </a:lnSpc>
              <a:buNone/>
            </a:pPr>
            <a:r>
              <a:rPr lang="en-US" sz="900" b="1" spc="91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SCIENTIFIC COMPUTATION PROJECT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8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005" y="1535599"/>
            <a:ext cx="3434924" cy="417659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07" y="1805201"/>
            <a:ext cx="404403" cy="40440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607" y="3175985"/>
            <a:ext cx="2895720" cy="45350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8531" y="1535599"/>
            <a:ext cx="3434924" cy="4176592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133" y="1805201"/>
            <a:ext cx="404403" cy="404403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8721" y="1916701"/>
            <a:ext cx="143226" cy="181402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8133" y="3175985"/>
            <a:ext cx="2895720" cy="704809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83057" y="1535599"/>
            <a:ext cx="3434924" cy="4176592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52659" y="1805201"/>
            <a:ext cx="404403" cy="404403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57972" y="1915385"/>
            <a:ext cx="193776" cy="18403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52659" y="3175985"/>
            <a:ext cx="2895720" cy="45350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4005" y="5981794"/>
            <a:ext cx="10843975" cy="370703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674005" y="505504"/>
            <a:ext cx="10843975" cy="1685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27"/>
              </a:lnSpc>
              <a:buNone/>
            </a:pPr>
            <a:r>
              <a:rPr lang="en-US" sz="1050" b="1" spc="237" kern="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MEASURES OF SPREAD &amp; PRECISION</a:t>
            </a:r>
            <a:endParaRPr lang="en-US" sz="1050" dirty="0"/>
          </a:p>
        </p:txBody>
      </p:sp>
      <p:sp>
        <p:nvSpPr>
          <p:cNvPr id="16" name="Text 1"/>
          <p:cNvSpPr/>
          <p:nvPr/>
        </p:nvSpPr>
        <p:spPr>
          <a:xfrm>
            <a:off x="674005" y="741405"/>
            <a:ext cx="11517995" cy="4571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Statistical Analysis: IQR, CV, and SE</a:t>
            </a:r>
            <a:endParaRPr lang="en-US" sz="3600" dirty="0"/>
          </a:p>
        </p:txBody>
      </p:sp>
      <p:sp>
        <p:nvSpPr>
          <p:cNvPr id="17" name="Text 2"/>
          <p:cNvSpPr/>
          <p:nvPr/>
        </p:nvSpPr>
        <p:spPr>
          <a:xfrm>
            <a:off x="1482811" y="1872602"/>
            <a:ext cx="930401" cy="2696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23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IQR</a:t>
            </a:r>
            <a:endParaRPr lang="en-US" sz="1800" dirty="0"/>
          </a:p>
        </p:txBody>
      </p:sp>
      <p:sp>
        <p:nvSpPr>
          <p:cNvPr id="18" name="Text 3"/>
          <p:cNvSpPr/>
          <p:nvPr/>
        </p:nvSpPr>
        <p:spPr>
          <a:xfrm>
            <a:off x="943607" y="2344405"/>
            <a:ext cx="3437323" cy="1685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27"/>
              </a:lnSpc>
              <a:buNone/>
            </a:pPr>
            <a:r>
              <a:rPr lang="en-US" sz="1050" b="1" spc="47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INTERQUARTILE RANGE</a:t>
            </a:r>
            <a:endParaRPr lang="en-US" sz="1050" dirty="0"/>
          </a:p>
        </p:txBody>
      </p:sp>
      <p:sp>
        <p:nvSpPr>
          <p:cNvPr id="19" name="Text 4"/>
          <p:cNvSpPr/>
          <p:nvPr/>
        </p:nvSpPr>
        <p:spPr>
          <a:xfrm>
            <a:off x="943607" y="2706683"/>
            <a:ext cx="2895720" cy="34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b="1" i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IQR = Q</a:t>
            </a:r>
            <a:pPr indent="0" marL="0">
              <a:lnSpc>
                <a:spcPts val="2700"/>
              </a:lnSpc>
              <a:buNone/>
            </a:pPr>
            <a:r>
              <a:rPr lang="en-US" sz="1350" b="1" i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pPr indent="0" marL="0">
              <a:lnSpc>
                <a:spcPts val="2700"/>
              </a:lnSpc>
              <a:buNone/>
            </a:pPr>
            <a:r>
              <a:rPr lang="en-US" sz="1800" b="1" i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Q</a:t>
            </a:r>
            <a:pPr indent="0" marL="0">
              <a:lnSpc>
                <a:spcPts val="2700"/>
              </a:lnSpc>
              <a:buNone/>
            </a:pPr>
            <a:r>
              <a:rPr lang="en-US" sz="1350" b="1" i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Text 5"/>
          <p:cNvSpPr/>
          <p:nvPr/>
        </p:nvSpPr>
        <p:spPr>
          <a:xfrm>
            <a:off x="1044708" y="3175985"/>
            <a:ext cx="3142162" cy="45350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1E293B"/>
                </a:solidFill>
              </a:rPr>
              <a:t>iqr_v &lt;- IQR(x)</a:t>
            </a:r>
            <a:endParaRPr lang="en-US" sz="1320" dirty="0"/>
          </a:p>
        </p:txBody>
      </p:sp>
      <p:sp>
        <p:nvSpPr>
          <p:cNvPr id="21" name="Text 6"/>
          <p:cNvSpPr/>
          <p:nvPr/>
        </p:nvSpPr>
        <p:spPr>
          <a:xfrm>
            <a:off x="943607" y="3831692"/>
            <a:ext cx="2895720" cy="81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Measures the spread of the middle 50% of the data.</a:t>
            </a:r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 against outliers and skewness.</a:t>
            </a:r>
            <a:endParaRPr lang="en-US" sz="1200" dirty="0"/>
          </a:p>
        </p:txBody>
      </p:sp>
      <p:sp>
        <p:nvSpPr>
          <p:cNvPr id="22" name="Text 7"/>
          <p:cNvSpPr/>
          <p:nvPr/>
        </p:nvSpPr>
        <p:spPr>
          <a:xfrm>
            <a:off x="5187337" y="1872602"/>
            <a:ext cx="620267" cy="2696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23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</a:t>
            </a:r>
            <a:endParaRPr lang="en-US" sz="1800" dirty="0"/>
          </a:p>
        </p:txBody>
      </p:sp>
      <p:sp>
        <p:nvSpPr>
          <p:cNvPr id="23" name="Text 8"/>
          <p:cNvSpPr/>
          <p:nvPr/>
        </p:nvSpPr>
        <p:spPr>
          <a:xfrm>
            <a:off x="4648133" y="2344405"/>
            <a:ext cx="4341882" cy="1685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27"/>
              </a:lnSpc>
              <a:buNone/>
            </a:pPr>
            <a:r>
              <a:rPr lang="en-US" sz="1050" b="1" spc="47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COEFFICIENT OF VARIATION</a:t>
            </a:r>
            <a:endParaRPr lang="en-US" sz="1050" dirty="0"/>
          </a:p>
        </p:txBody>
      </p:sp>
      <p:sp>
        <p:nvSpPr>
          <p:cNvPr id="24" name="Text 9"/>
          <p:cNvSpPr/>
          <p:nvPr/>
        </p:nvSpPr>
        <p:spPr>
          <a:xfrm>
            <a:off x="4648133" y="2706683"/>
            <a:ext cx="6822940" cy="34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b="1" i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 = (s / x̄) × 100%</a:t>
            </a:r>
            <a:endParaRPr lang="en-US" sz="1800" dirty="0"/>
          </a:p>
        </p:txBody>
      </p:sp>
      <p:sp>
        <p:nvSpPr>
          <p:cNvPr id="25" name="Text 10"/>
          <p:cNvSpPr/>
          <p:nvPr/>
        </p:nvSpPr>
        <p:spPr>
          <a:xfrm>
            <a:off x="4749233" y="3175985"/>
            <a:ext cx="2667120" cy="70480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1E293B"/>
                </a:solidFill>
              </a:rPr>
              <a:t>cv_v &lt;- (sd_v / mean_v) * 100</a:t>
            </a:r>
            <a:endParaRPr lang="en-US" sz="1320" dirty="0"/>
          </a:p>
        </p:txBody>
      </p:sp>
      <p:sp>
        <p:nvSpPr>
          <p:cNvPr id="26" name="Text 11"/>
          <p:cNvSpPr/>
          <p:nvPr/>
        </p:nvSpPr>
        <p:spPr>
          <a:xfrm>
            <a:off x="4648133" y="4082996"/>
            <a:ext cx="2895720" cy="10578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Expresses relative variability as a percentage.</a:t>
            </a:r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Allows comparison between datasets with different units.</a:t>
            </a:r>
            <a:endParaRPr lang="en-US" sz="1200" dirty="0"/>
          </a:p>
        </p:txBody>
      </p:sp>
      <p:sp>
        <p:nvSpPr>
          <p:cNvPr id="27" name="Text 12"/>
          <p:cNvSpPr/>
          <p:nvPr/>
        </p:nvSpPr>
        <p:spPr>
          <a:xfrm>
            <a:off x="8891862" y="1872602"/>
            <a:ext cx="620267" cy="2696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23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</a:t>
            </a:r>
            <a:endParaRPr lang="en-US" sz="1800" dirty="0"/>
          </a:p>
        </p:txBody>
      </p:sp>
      <p:sp>
        <p:nvSpPr>
          <p:cNvPr id="28" name="Text 13"/>
          <p:cNvSpPr/>
          <p:nvPr/>
        </p:nvSpPr>
        <p:spPr>
          <a:xfrm>
            <a:off x="8352659" y="2344405"/>
            <a:ext cx="2895720" cy="1685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27"/>
              </a:lnSpc>
              <a:buNone/>
            </a:pPr>
            <a:r>
              <a:rPr lang="en-US" sz="1050" b="1" spc="47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ERROR</a:t>
            </a:r>
            <a:endParaRPr lang="en-US" sz="1050" dirty="0"/>
          </a:p>
        </p:txBody>
      </p:sp>
      <p:sp>
        <p:nvSpPr>
          <p:cNvPr id="29" name="Text 14"/>
          <p:cNvSpPr/>
          <p:nvPr/>
        </p:nvSpPr>
        <p:spPr>
          <a:xfrm>
            <a:off x="8352659" y="2706683"/>
            <a:ext cx="3411470" cy="34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b="1" i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= s / √n</a:t>
            </a:r>
            <a:endParaRPr lang="en-US" sz="1800" dirty="0"/>
          </a:p>
        </p:txBody>
      </p:sp>
      <p:sp>
        <p:nvSpPr>
          <p:cNvPr id="30" name="Text 15"/>
          <p:cNvSpPr/>
          <p:nvPr/>
        </p:nvSpPr>
        <p:spPr>
          <a:xfrm>
            <a:off x="8453760" y="3175985"/>
            <a:ext cx="3738240" cy="45350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1E293B"/>
                </a:solidFill>
              </a:rPr>
              <a:t>se_v &lt;- sd_v / sqrt(n)</a:t>
            </a:r>
            <a:endParaRPr lang="en-US" sz="1320" dirty="0"/>
          </a:p>
        </p:txBody>
      </p:sp>
      <p:sp>
        <p:nvSpPr>
          <p:cNvPr id="31" name="Text 16"/>
          <p:cNvSpPr/>
          <p:nvPr/>
        </p:nvSpPr>
        <p:spPr>
          <a:xfrm>
            <a:off x="8352659" y="3831692"/>
            <a:ext cx="2895720" cy="13054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Measures the precision of the sample mean as an estimate of the population mean.</a:t>
            </a:r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Smaller SE indicates a more reliable estimate.</a:t>
            </a:r>
            <a:endParaRPr lang="en-US" sz="1200" dirty="0"/>
          </a:p>
        </p:txBody>
      </p:sp>
      <p:sp>
        <p:nvSpPr>
          <p:cNvPr id="32" name="Text 17"/>
          <p:cNvSpPr/>
          <p:nvPr/>
        </p:nvSpPr>
        <p:spPr>
          <a:xfrm>
            <a:off x="674005" y="6183995"/>
            <a:ext cx="3316715" cy="1685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27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Q1, Q3:</a:t>
            </a:r>
            <a:pPr indent="0" marL="0">
              <a:lnSpc>
                <a:spcPts val="1327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Quartiles</a:t>
            </a:r>
            <a:endParaRPr lang="en-US" sz="1050" dirty="0"/>
          </a:p>
        </p:txBody>
      </p:sp>
      <p:sp>
        <p:nvSpPr>
          <p:cNvPr id="33" name="Text 18"/>
          <p:cNvSpPr/>
          <p:nvPr/>
        </p:nvSpPr>
        <p:spPr>
          <a:xfrm>
            <a:off x="1996740" y="6183995"/>
            <a:ext cx="3799147" cy="1685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27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s:</a:t>
            </a:r>
            <a:pPr indent="0" marL="0">
              <a:lnSpc>
                <a:spcPts val="1327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Deviation</a:t>
            </a:r>
            <a:endParaRPr lang="en-US" sz="1050" dirty="0"/>
          </a:p>
        </p:txBody>
      </p:sp>
      <p:sp>
        <p:nvSpPr>
          <p:cNvPr id="34" name="Text 19"/>
          <p:cNvSpPr/>
          <p:nvPr/>
        </p:nvSpPr>
        <p:spPr>
          <a:xfrm>
            <a:off x="3639627" y="6183995"/>
            <a:ext cx="3437323" cy="1685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27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x̄:</a:t>
            </a:r>
            <a:pPr indent="0" marL="0">
              <a:lnSpc>
                <a:spcPts val="1327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Arithmetic Mean</a:t>
            </a:r>
            <a:endParaRPr lang="en-US" sz="1050" dirty="0"/>
          </a:p>
        </p:txBody>
      </p:sp>
      <p:sp>
        <p:nvSpPr>
          <p:cNvPr id="35" name="Text 20"/>
          <p:cNvSpPr/>
          <p:nvPr/>
        </p:nvSpPr>
        <p:spPr>
          <a:xfrm>
            <a:off x="5114012" y="6183995"/>
            <a:ext cx="2532765" cy="1685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27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n:</a:t>
            </a:r>
            <a:pPr indent="0" marL="0">
              <a:lnSpc>
                <a:spcPts val="1327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Size</a:t>
            </a:r>
            <a:endParaRPr lang="en-US" sz="1050" dirty="0"/>
          </a:p>
        </p:txBody>
      </p:sp>
      <p:sp>
        <p:nvSpPr>
          <p:cNvPr id="36" name="Text 21"/>
          <p:cNvSpPr/>
          <p:nvPr/>
        </p:nvSpPr>
        <p:spPr>
          <a:xfrm>
            <a:off x="9209513" y="6183995"/>
            <a:ext cx="2982487" cy="16850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27"/>
              </a:lnSpc>
              <a:buNone/>
            </a:pPr>
            <a:r>
              <a:rPr lang="en-US" sz="1050" i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Black Knight | Scientific Computation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1473150"/>
            <a:ext cx="6238874" cy="16954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" y="1757288"/>
            <a:ext cx="190500" cy="161851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3359051"/>
            <a:ext cx="6238874" cy="16319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500" y="3835301"/>
            <a:ext cx="217909" cy="2920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7937" y="3835301"/>
            <a:ext cx="169416" cy="29207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5500" y="4279801"/>
            <a:ext cx="362893" cy="5206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7937" y="4279801"/>
            <a:ext cx="211336" cy="29207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91375" y="1473150"/>
            <a:ext cx="4365624" cy="245616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81875" y="1663650"/>
            <a:ext cx="3984624" cy="215801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75999" y="1663650"/>
            <a:ext cx="190500" cy="152301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91375" y="4119810"/>
            <a:ext cx="4365624" cy="17558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81875" y="4343797"/>
            <a:ext cx="111125" cy="161603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5000" y="6129610"/>
            <a:ext cx="10922000" cy="3175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635000" y="476250"/>
            <a:ext cx="1092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b="1" spc="252" kern="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INFERENCE STATISTICS</a:t>
            </a:r>
            <a:endParaRPr lang="en-US" sz="1050" dirty="0"/>
          </a:p>
        </p:txBody>
      </p:sp>
      <p:sp>
        <p:nvSpPr>
          <p:cNvPr id="17" name="Text 1"/>
          <p:cNvSpPr/>
          <p:nvPr/>
        </p:nvSpPr>
        <p:spPr>
          <a:xfrm>
            <a:off x="635000" y="698500"/>
            <a:ext cx="11557000" cy="4571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CONFIDENCE INTERVAL (CI)</a:t>
            </a:r>
            <a:endParaRPr lang="en-US" sz="3600" dirty="0"/>
          </a:p>
        </p:txBody>
      </p:sp>
      <p:sp>
        <p:nvSpPr>
          <p:cNvPr id="18" name="Text 2"/>
          <p:cNvSpPr/>
          <p:nvPr/>
        </p:nvSpPr>
        <p:spPr>
          <a:xfrm>
            <a:off x="1143000" y="1727150"/>
            <a:ext cx="5730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50"/>
              </a:lnSpc>
              <a:buNone/>
            </a:pPr>
            <a:r>
              <a:rPr lang="en-US" sz="135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MATHEMATICAL FORMULA</a:t>
            </a:r>
            <a:endParaRPr lang="en-US" sz="1350" dirty="0"/>
          </a:p>
        </p:txBody>
      </p:sp>
      <p:sp>
        <p:nvSpPr>
          <p:cNvPr id="19" name="Text 3"/>
          <p:cNvSpPr/>
          <p:nvPr/>
        </p:nvSpPr>
        <p:spPr>
          <a:xfrm>
            <a:off x="889000" y="2266900"/>
            <a:ext cx="5730875" cy="4571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i="1" dirty="0">
                <a:solidFill>
                  <a:srgbClr val="333333"/>
                </a:solidFill>
              </a:rPr>
              <a:t>CI = x̄ ± t</a:t>
            </a:r>
            <a:pPr algn="ctr" indent="0" marL="0">
              <a:lnSpc>
                <a:spcPts val="2000"/>
              </a:lnSpc>
              <a:buNone/>
            </a:pPr>
            <a:r>
              <a:rPr lang="en-US" sz="1800" i="1" dirty="0">
                <a:solidFill>
                  <a:srgbClr val="333333"/>
                </a:solidFill>
              </a:rPr>
              <a:t>α/2, n-1</a:t>
            </a:r>
            <a:pPr algn="ctr" indent="0" marL="0">
              <a:lnSpc>
                <a:spcPts val="3600"/>
              </a:lnSpc>
              <a:buNone/>
            </a:pPr>
            <a:r>
              <a:rPr lang="en-US" sz="3600" i="1" dirty="0">
                <a:solidFill>
                  <a:srgbClr val="333333"/>
                </a:solidFill>
              </a:rPr>
              <a:t> × (s / √n)</a:t>
            </a:r>
            <a:endParaRPr lang="en-US" sz="3600" dirty="0"/>
          </a:p>
        </p:txBody>
      </p:sp>
      <p:sp>
        <p:nvSpPr>
          <p:cNvPr id="20" name="Text 4"/>
          <p:cNvSpPr/>
          <p:nvPr/>
        </p:nvSpPr>
        <p:spPr>
          <a:xfrm>
            <a:off x="825500" y="3549551"/>
            <a:ext cx="5857874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b="1" spc="101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 ANALYSIS</a:t>
            </a:r>
            <a:endParaRPr lang="en-US" sz="1050" dirty="0"/>
          </a:p>
        </p:txBody>
      </p:sp>
      <p:sp>
        <p:nvSpPr>
          <p:cNvPr id="21" name="Text 5"/>
          <p:cNvSpPr/>
          <p:nvPr/>
        </p:nvSpPr>
        <p:spPr>
          <a:xfrm>
            <a:off x="889000" y="3835301"/>
            <a:ext cx="131948" cy="292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i="1" dirty="0">
                <a:solidFill>
                  <a:srgbClr val="2E7D32"/>
                </a:solidFill>
              </a:rPr>
              <a:t>x̄</a:t>
            </a:r>
            <a:endParaRPr lang="en-US" sz="1200" dirty="0"/>
          </a:p>
        </p:txBody>
      </p:sp>
      <p:sp>
        <p:nvSpPr>
          <p:cNvPr id="22" name="Text 6"/>
          <p:cNvSpPr/>
          <p:nvPr/>
        </p:nvSpPr>
        <p:spPr>
          <a:xfrm>
            <a:off x="1138659" y="3835301"/>
            <a:ext cx="2552279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Mean: The point estimate of the population.</a:t>
            </a:r>
            <a:endParaRPr lang="en-US" sz="1050" dirty="0"/>
          </a:p>
        </p:txBody>
      </p:sp>
      <p:sp>
        <p:nvSpPr>
          <p:cNvPr id="23" name="Text 7"/>
          <p:cNvSpPr/>
          <p:nvPr/>
        </p:nvSpPr>
        <p:spPr>
          <a:xfrm>
            <a:off x="3881438" y="3835301"/>
            <a:ext cx="22042" cy="292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i="1" dirty="0">
                <a:solidFill>
                  <a:srgbClr val="2E7D32"/>
                </a:solidFill>
              </a:rPr>
              <a:t>t</a:t>
            </a:r>
            <a:endParaRPr lang="en-US" sz="1200" dirty="0"/>
          </a:p>
        </p:txBody>
      </p:sp>
      <p:sp>
        <p:nvSpPr>
          <p:cNvPr id="24" name="Text 8"/>
          <p:cNvSpPr/>
          <p:nvPr/>
        </p:nvSpPr>
        <p:spPr>
          <a:xfrm>
            <a:off x="4082603" y="3835301"/>
            <a:ext cx="2600771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Value: Based on t-distribution with n-1 df.</a:t>
            </a:r>
            <a:endParaRPr lang="en-US" sz="1050" dirty="0"/>
          </a:p>
        </p:txBody>
      </p:sp>
      <p:sp>
        <p:nvSpPr>
          <p:cNvPr id="25" name="Text 9"/>
          <p:cNvSpPr/>
          <p:nvPr/>
        </p:nvSpPr>
        <p:spPr>
          <a:xfrm>
            <a:off x="889000" y="4279801"/>
            <a:ext cx="210493" cy="520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i="1" dirty="0">
                <a:solidFill>
                  <a:srgbClr val="2E7D32"/>
                </a:solidFill>
              </a:rPr>
              <a:t>s / √n</a:t>
            </a:r>
            <a:endParaRPr lang="en-US" sz="1200" dirty="0"/>
          </a:p>
        </p:txBody>
      </p:sp>
      <p:sp>
        <p:nvSpPr>
          <p:cNvPr id="26" name="Text 10"/>
          <p:cNvSpPr/>
          <p:nvPr/>
        </p:nvSpPr>
        <p:spPr>
          <a:xfrm>
            <a:off x="1283643" y="4279801"/>
            <a:ext cx="240729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Error (SE): Measures precision of the estimate.</a:t>
            </a:r>
            <a:endParaRPr lang="en-US" sz="1050" dirty="0"/>
          </a:p>
        </p:txBody>
      </p:sp>
      <p:sp>
        <p:nvSpPr>
          <p:cNvPr id="27" name="Text 11"/>
          <p:cNvSpPr/>
          <p:nvPr/>
        </p:nvSpPr>
        <p:spPr>
          <a:xfrm>
            <a:off x="3881438" y="4279801"/>
            <a:ext cx="61200" cy="292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i="1" dirty="0">
                <a:solidFill>
                  <a:srgbClr val="2E7D32"/>
                </a:solidFill>
              </a:rPr>
              <a:t>α</a:t>
            </a:r>
            <a:endParaRPr lang="en-US" sz="1200" dirty="0"/>
          </a:p>
        </p:txBody>
      </p:sp>
      <p:sp>
        <p:nvSpPr>
          <p:cNvPr id="28" name="Text 12"/>
          <p:cNvSpPr/>
          <p:nvPr/>
        </p:nvSpPr>
        <p:spPr>
          <a:xfrm>
            <a:off x="4124523" y="4279801"/>
            <a:ext cx="2558851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Significance Level: Typically 0.05 for 95% confidence.</a:t>
            </a:r>
            <a:endParaRPr lang="en-US" sz="1050" dirty="0"/>
          </a:p>
        </p:txBody>
      </p:sp>
      <p:sp>
        <p:nvSpPr>
          <p:cNvPr id="29" name="Text 13"/>
          <p:cNvSpPr/>
          <p:nvPr/>
        </p:nvSpPr>
        <p:spPr>
          <a:xfrm>
            <a:off x="7381875" y="1676301"/>
            <a:ext cx="2633472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00"/>
              </a:lnSpc>
              <a:buNone/>
            </a:pPr>
            <a:r>
              <a:rPr lang="en-US" sz="900" spc="-43" kern="0" dirty="0">
                <a:solidFill>
                  <a:srgbClr val="9CA3AF"/>
                </a:solidFill>
              </a:rPr>
              <a:t>R IMPLEMENTATION</a:t>
            </a:r>
            <a:endParaRPr lang="en-US" sz="900" dirty="0"/>
          </a:p>
        </p:txBody>
      </p:sp>
      <p:sp>
        <p:nvSpPr>
          <p:cNvPr id="30" name="Text 14"/>
          <p:cNvSpPr/>
          <p:nvPr/>
        </p:nvSpPr>
        <p:spPr>
          <a:xfrm>
            <a:off x="7381875" y="2038201"/>
            <a:ext cx="4810125" cy="15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6B7280"/>
                </a:solidFill>
              </a:rPr>
              <a:t># Calculate t-critical value</a:t>
            </a:r>
            <a:endParaRPr lang="en-US" sz="1050" dirty="0"/>
          </a:p>
        </p:txBody>
      </p:sp>
      <p:sp>
        <p:nvSpPr>
          <p:cNvPr id="31" name="Text 15"/>
          <p:cNvSpPr/>
          <p:nvPr/>
        </p:nvSpPr>
        <p:spPr>
          <a:xfrm>
            <a:off x="9620126" y="2254746"/>
            <a:ext cx="2112264" cy="150812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706"/>
              </a:lnSpc>
              <a:buNone/>
            </a:pPr>
            <a:endParaRPr lang="en-US" sz="1050" dirty="0"/>
          </a:p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t_crit &lt;- </a:t>
            </a:r>
            <a:endParaRPr lang="en-US" sz="1050" dirty="0"/>
          </a:p>
        </p:txBody>
      </p:sp>
      <p:sp>
        <p:nvSpPr>
          <p:cNvPr id="32" name="Text 16"/>
          <p:cNvSpPr/>
          <p:nvPr/>
        </p:nvSpPr>
        <p:spPr>
          <a:xfrm>
            <a:off x="8181330" y="2254746"/>
            <a:ext cx="384048" cy="15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93C5FD"/>
                </a:solidFill>
              </a:rPr>
              <a:t>qt</a:t>
            </a:r>
            <a:endParaRPr lang="en-US" sz="1050" dirty="0"/>
          </a:p>
        </p:txBody>
      </p:sp>
      <p:sp>
        <p:nvSpPr>
          <p:cNvPr id="33" name="Text 17"/>
          <p:cNvSpPr/>
          <p:nvPr/>
        </p:nvSpPr>
        <p:spPr>
          <a:xfrm>
            <a:off x="8341320" y="2254746"/>
            <a:ext cx="192024" cy="150812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(</a:t>
            </a:r>
            <a:endParaRPr lang="en-US" sz="1050" dirty="0"/>
          </a:p>
        </p:txBody>
      </p:sp>
      <p:sp>
        <p:nvSpPr>
          <p:cNvPr id="34" name="Text 18"/>
          <p:cNvSpPr/>
          <p:nvPr/>
        </p:nvSpPr>
        <p:spPr>
          <a:xfrm>
            <a:off x="8421315" y="2254746"/>
            <a:ext cx="1152144" cy="15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FDBA74"/>
                </a:solidFill>
              </a:rPr>
              <a:t>.975</a:t>
            </a:r>
            <a:endParaRPr lang="en-US" sz="1050" dirty="0"/>
          </a:p>
        </p:txBody>
      </p:sp>
      <p:sp>
        <p:nvSpPr>
          <p:cNvPr id="35" name="Text 19"/>
          <p:cNvSpPr/>
          <p:nvPr/>
        </p:nvSpPr>
        <p:spPr>
          <a:xfrm>
            <a:off x="8741172" y="2254746"/>
            <a:ext cx="2112264" cy="150812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, df = n - </a:t>
            </a:r>
            <a:endParaRPr lang="en-US" sz="1050" dirty="0"/>
          </a:p>
        </p:txBody>
      </p:sp>
      <p:sp>
        <p:nvSpPr>
          <p:cNvPr id="36" name="Text 20"/>
          <p:cNvSpPr/>
          <p:nvPr/>
        </p:nvSpPr>
        <p:spPr>
          <a:xfrm>
            <a:off x="9620498" y="2254746"/>
            <a:ext cx="320040" cy="15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FDBA74"/>
                </a:solidFill>
              </a:rPr>
              <a:t>1</a:t>
            </a:r>
            <a:endParaRPr lang="en-US" sz="1050" dirty="0"/>
          </a:p>
        </p:txBody>
      </p:sp>
      <p:sp>
        <p:nvSpPr>
          <p:cNvPr id="37" name="Text 21"/>
          <p:cNvSpPr/>
          <p:nvPr/>
        </p:nvSpPr>
        <p:spPr>
          <a:xfrm>
            <a:off x="9700493" y="2254746"/>
            <a:ext cx="576072" cy="150812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)
</a:t>
            </a:r>
            <a:endParaRPr lang="en-US" sz="1050" dirty="0"/>
          </a:p>
        </p:txBody>
      </p:sp>
      <p:sp>
        <p:nvSpPr>
          <p:cNvPr id="38" name="Text 22"/>
          <p:cNvSpPr/>
          <p:nvPr/>
        </p:nvSpPr>
        <p:spPr>
          <a:xfrm>
            <a:off x="7381875" y="2687836"/>
            <a:ext cx="4800600" cy="15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6B7280"/>
                </a:solidFill>
              </a:rPr>
              <a:t># Compute 95% CI bounds</a:t>
            </a:r>
            <a:endParaRPr lang="en-US" sz="1050" dirty="0"/>
          </a:p>
        </p:txBody>
      </p:sp>
      <p:sp>
        <p:nvSpPr>
          <p:cNvPr id="39" name="Text 23"/>
          <p:cNvSpPr/>
          <p:nvPr/>
        </p:nvSpPr>
        <p:spPr>
          <a:xfrm>
            <a:off x="9220398" y="2904381"/>
            <a:ext cx="1344168" cy="150812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706"/>
              </a:lnSpc>
              <a:buNone/>
            </a:pPr>
            <a:endParaRPr lang="en-US" sz="1050" dirty="0"/>
          </a:p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ci &lt;- </a:t>
            </a:r>
            <a:endParaRPr lang="en-US" sz="1050" dirty="0"/>
          </a:p>
        </p:txBody>
      </p:sp>
      <p:sp>
        <p:nvSpPr>
          <p:cNvPr id="40" name="Text 24"/>
          <p:cNvSpPr/>
          <p:nvPr/>
        </p:nvSpPr>
        <p:spPr>
          <a:xfrm>
            <a:off x="7861597" y="2904381"/>
            <a:ext cx="192024" cy="15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93C5FD"/>
                </a:solidFill>
              </a:rPr>
              <a:t>c</a:t>
            </a:r>
            <a:endParaRPr lang="en-US" sz="1050" dirty="0"/>
          </a:p>
        </p:txBody>
      </p:sp>
      <p:sp>
        <p:nvSpPr>
          <p:cNvPr id="41" name="Text 25"/>
          <p:cNvSpPr/>
          <p:nvPr/>
        </p:nvSpPr>
        <p:spPr>
          <a:xfrm>
            <a:off x="7941593" y="2904381"/>
            <a:ext cx="2078509" cy="800447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(</a:t>
            </a:r>
            <a:endParaRPr lang="en-US" sz="1050" dirty="0"/>
          </a:p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  mean_v - t_crit * se_v, </a:t>
            </a:r>
            <a:endParaRPr lang="en-US" sz="1050" dirty="0"/>
          </a:p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  mean_v + t_crit * se_v</a:t>
            </a:r>
            <a:endParaRPr lang="en-US" sz="1050" dirty="0"/>
          </a:p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)</a:t>
            </a:r>
            <a:endParaRPr lang="en-US" sz="1050" dirty="0"/>
          </a:p>
        </p:txBody>
      </p:sp>
      <p:sp>
        <p:nvSpPr>
          <p:cNvPr id="42" name="Text 26"/>
          <p:cNvSpPr/>
          <p:nvPr/>
        </p:nvSpPr>
        <p:spPr>
          <a:xfrm>
            <a:off x="7556500" y="4310310"/>
            <a:ext cx="3984624" cy="2285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43" name="Text 27"/>
          <p:cNvSpPr/>
          <p:nvPr/>
        </p:nvSpPr>
        <p:spPr>
          <a:xfrm>
            <a:off x="7381875" y="4602386"/>
            <a:ext cx="3984624" cy="108272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uses the </a:t>
            </a:r>
            <a:pPr indent="0" marL="0">
              <a:lnSpc>
                <a:spcPts val="1706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t-distribution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because it accounts for the additional uncertainty introduced when the population standard deviation is unknown and estimated from a sample. We are 95% confident the true population mean lies within this generated range.</a:t>
            </a:r>
            <a:endParaRPr lang="en-US" sz="1050" dirty="0"/>
          </a:p>
        </p:txBody>
      </p:sp>
      <p:sp>
        <p:nvSpPr>
          <p:cNvPr id="44" name="Text 28"/>
          <p:cNvSpPr/>
          <p:nvPr/>
        </p:nvSpPr>
        <p:spPr>
          <a:xfrm>
            <a:off x="635000" y="6320110"/>
            <a:ext cx="3511296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00"/>
              </a:lnSpc>
              <a:buNone/>
            </a:pPr>
            <a:r>
              <a:rPr lang="en-US" sz="900" b="1" spc="86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95% CONFIDENCE LEVEL</a:t>
            </a:r>
            <a:endParaRPr lang="en-US" sz="900" dirty="0"/>
          </a:p>
        </p:txBody>
      </p:sp>
      <p:sp>
        <p:nvSpPr>
          <p:cNvPr id="45" name="Text 29"/>
          <p:cNvSpPr/>
          <p:nvPr/>
        </p:nvSpPr>
        <p:spPr>
          <a:xfrm>
            <a:off x="2538512" y="6320110"/>
            <a:ext cx="329184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00"/>
              </a:lnSpc>
              <a:buNone/>
            </a:pPr>
            <a:r>
              <a:rPr lang="en-US" sz="900" b="1" spc="86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T-DISTRIBUTION LOGIC</a:t>
            </a:r>
            <a:endParaRPr lang="en-US" sz="900" dirty="0"/>
          </a:p>
        </p:txBody>
      </p:sp>
      <p:sp>
        <p:nvSpPr>
          <p:cNvPr id="46" name="Text 30"/>
          <p:cNvSpPr/>
          <p:nvPr/>
        </p:nvSpPr>
        <p:spPr>
          <a:xfrm>
            <a:off x="8667750" y="6320110"/>
            <a:ext cx="3524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Statistical Analysis System | Team Black Knight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34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86" y="364949"/>
            <a:ext cx="364949" cy="3041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186" y="1338146"/>
            <a:ext cx="5518072" cy="2144551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661" y="1528224"/>
            <a:ext cx="228093" cy="22809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661" y="1885570"/>
            <a:ext cx="5153123" cy="456186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661" y="2737118"/>
            <a:ext cx="1656883" cy="56310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86781" y="2737118"/>
            <a:ext cx="1656883" cy="56310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34901" y="2737118"/>
            <a:ext cx="1656883" cy="56310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7557" y="1338146"/>
            <a:ext cx="5518191" cy="2144551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032" y="1528224"/>
            <a:ext cx="228093" cy="228093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032" y="1885570"/>
            <a:ext cx="5153242" cy="456186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032" y="2737118"/>
            <a:ext cx="1656883" cy="56310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48152" y="2737118"/>
            <a:ext cx="1656882" cy="563105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96272" y="2737118"/>
            <a:ext cx="1656883" cy="563105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6186" y="3725996"/>
            <a:ext cx="11279562" cy="2314195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655705" y="3853586"/>
            <a:ext cx="159666" cy="10977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6186" y="6203658"/>
            <a:ext cx="11279562" cy="350218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912373" y="304124"/>
            <a:ext cx="5412680" cy="15206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97"/>
              </a:lnSpc>
              <a:buNone/>
            </a:pPr>
            <a:r>
              <a:rPr lang="en-US" sz="1050" b="1" spc="105" kern="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DISTRIBUTION SHAPE ANALYSIS</a:t>
            </a:r>
            <a:endParaRPr lang="en-US" sz="1050" dirty="0"/>
          </a:p>
        </p:txBody>
      </p:sp>
      <p:sp>
        <p:nvSpPr>
          <p:cNvPr id="20" name="Text 1"/>
          <p:cNvSpPr/>
          <p:nvPr/>
        </p:nvSpPr>
        <p:spPr>
          <a:xfrm>
            <a:off x="456186" y="517011"/>
            <a:ext cx="11735814" cy="30412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395"/>
              </a:lnSpc>
              <a:buNone/>
            </a:pPr>
            <a:r>
              <a:rPr lang="en-US" sz="27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Statistical Analysis: Skewness &amp; Kurtosis</a:t>
            </a:r>
            <a:endParaRPr lang="en-US" sz="2700" dirty="0"/>
          </a:p>
        </p:txBody>
      </p:sp>
      <p:sp>
        <p:nvSpPr>
          <p:cNvPr id="21" name="Text 2"/>
          <p:cNvSpPr/>
          <p:nvPr/>
        </p:nvSpPr>
        <p:spPr>
          <a:xfrm>
            <a:off x="456186" y="881960"/>
            <a:ext cx="11735814" cy="21288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76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Measuring symmetry and peakedness to identify deviations from normal distribution.</a:t>
            </a:r>
            <a:endParaRPr lang="en-US" sz="1350" dirty="0"/>
          </a:p>
        </p:txBody>
      </p:sp>
      <p:sp>
        <p:nvSpPr>
          <p:cNvPr id="22" name="Text 3"/>
          <p:cNvSpPr/>
          <p:nvPr/>
        </p:nvSpPr>
        <p:spPr>
          <a:xfrm>
            <a:off x="957991" y="1520621"/>
            <a:ext cx="6529585" cy="24329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6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Skewness (Symmetry)</a:t>
            </a:r>
            <a:endParaRPr lang="en-US" sz="1800" dirty="0"/>
          </a:p>
        </p:txBody>
      </p:sp>
      <p:sp>
        <p:nvSpPr>
          <p:cNvPr id="23" name="Text 4"/>
          <p:cNvSpPr/>
          <p:nvPr/>
        </p:nvSpPr>
        <p:spPr>
          <a:xfrm>
            <a:off x="638661" y="1885570"/>
            <a:ext cx="3773397" cy="45618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76"/>
              </a:lnSpc>
              <a:buNone/>
            </a:pPr>
            <a:r>
              <a:rPr lang="en-US" sz="1500" i="1" dirty="0">
                <a:solidFill>
                  <a:srgbClr val="333333"/>
                </a:solidFill>
              </a:rPr>
              <a:t>Skewness = (1/n) × ∑[(x</a:t>
            </a:r>
            <a:pPr algn="ctr" indent="0" marL="0">
              <a:lnSpc>
                <a:spcPts val="1676"/>
              </a:lnSpc>
              <a:buNone/>
            </a:pPr>
            <a:r>
              <a:rPr lang="en-US" sz="1125" i="1" dirty="0">
                <a:solidFill>
                  <a:srgbClr val="333333"/>
                </a:solidFill>
              </a:rPr>
              <a:t>i</a:t>
            </a:r>
            <a:pPr algn="ctr" indent="0" marL="0">
              <a:lnSpc>
                <a:spcPts val="1676"/>
              </a:lnSpc>
              <a:buNone/>
            </a:pPr>
            <a:r>
              <a:rPr lang="en-US" sz="1500" i="1" dirty="0">
                <a:solidFill>
                  <a:srgbClr val="333333"/>
                </a:solidFill>
              </a:rPr>
              <a:t> - x̄)/s]</a:t>
            </a:r>
            <a:endParaRPr lang="en-US" sz="1500" dirty="0"/>
          </a:p>
        </p:txBody>
      </p:sp>
      <p:sp>
        <p:nvSpPr>
          <p:cNvPr id="24" name="Text 5"/>
          <p:cNvSpPr/>
          <p:nvPr/>
        </p:nvSpPr>
        <p:spPr>
          <a:xfrm>
            <a:off x="638661" y="2524231"/>
            <a:ext cx="5153123" cy="121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58"/>
              </a:lnSpc>
              <a:buNone/>
            </a:pPr>
            <a:r>
              <a:rPr lang="en-US" sz="900" b="1" spc="9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INTERPRETATION GUIDE</a:t>
            </a:r>
            <a:endParaRPr lang="en-US" sz="900" dirty="0"/>
          </a:p>
        </p:txBody>
      </p:sp>
      <p:sp>
        <p:nvSpPr>
          <p:cNvPr id="25" name="Text 6"/>
          <p:cNvSpPr/>
          <p:nvPr/>
        </p:nvSpPr>
        <p:spPr>
          <a:xfrm>
            <a:off x="729898" y="2828355"/>
            <a:ext cx="1474408" cy="15206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97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 -0.5</a:t>
            </a:r>
            <a:endParaRPr lang="en-US" sz="1050" dirty="0"/>
          </a:p>
        </p:txBody>
      </p:sp>
      <p:sp>
        <p:nvSpPr>
          <p:cNvPr id="26" name="Text 7"/>
          <p:cNvSpPr/>
          <p:nvPr/>
        </p:nvSpPr>
        <p:spPr>
          <a:xfrm>
            <a:off x="1121101" y="3033639"/>
            <a:ext cx="691883" cy="1444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958"/>
              </a:lnSpc>
              <a:buNone/>
            </a:pPr>
            <a:r>
              <a:rPr lang="en-US" sz="900" dirty="0">
                <a:solidFill>
                  <a:srgbClr val="D84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Left-Skewed</a:t>
            </a:r>
            <a:endParaRPr lang="en-US" sz="900" dirty="0"/>
          </a:p>
        </p:txBody>
      </p:sp>
      <p:sp>
        <p:nvSpPr>
          <p:cNvPr id="27" name="Text 8"/>
          <p:cNvSpPr/>
          <p:nvPr/>
        </p:nvSpPr>
        <p:spPr>
          <a:xfrm>
            <a:off x="2478018" y="2828355"/>
            <a:ext cx="1474408" cy="15206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97"/>
              </a:lnSpc>
              <a:buNone/>
            </a:pPr>
            <a:r>
              <a:rPr lang="en-US" sz="105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|S| &lt; 0.5</a:t>
            </a:r>
            <a:endParaRPr lang="en-US" sz="1050" dirty="0"/>
          </a:p>
        </p:txBody>
      </p:sp>
      <p:sp>
        <p:nvSpPr>
          <p:cNvPr id="28" name="Text 9"/>
          <p:cNvSpPr/>
          <p:nvPr/>
        </p:nvSpPr>
        <p:spPr>
          <a:xfrm>
            <a:off x="2922443" y="3033639"/>
            <a:ext cx="585439" cy="1444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958"/>
              </a:lnSpc>
              <a:buNone/>
            </a:pPr>
            <a:r>
              <a:rPr lang="en-US" sz="90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Symmetric</a:t>
            </a:r>
            <a:endParaRPr lang="en-US" sz="900" dirty="0"/>
          </a:p>
        </p:txBody>
      </p:sp>
      <p:sp>
        <p:nvSpPr>
          <p:cNvPr id="29" name="Text 10"/>
          <p:cNvSpPr/>
          <p:nvPr/>
        </p:nvSpPr>
        <p:spPr>
          <a:xfrm>
            <a:off x="4226138" y="2828355"/>
            <a:ext cx="1474408" cy="15206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97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 0.5</a:t>
            </a:r>
            <a:endParaRPr lang="en-US" sz="1050" dirty="0"/>
          </a:p>
        </p:txBody>
      </p:sp>
      <p:sp>
        <p:nvSpPr>
          <p:cNvPr id="30" name="Text 11"/>
          <p:cNvSpPr/>
          <p:nvPr/>
        </p:nvSpPr>
        <p:spPr>
          <a:xfrm>
            <a:off x="4579326" y="3033639"/>
            <a:ext cx="767913" cy="1444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958"/>
              </a:lnSpc>
              <a:buNone/>
            </a:pPr>
            <a:r>
              <a:rPr lang="en-US" sz="900" dirty="0">
                <a:solidFill>
                  <a:srgbClr val="D84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Right-Skewed</a:t>
            </a:r>
            <a:endParaRPr lang="en-US" sz="900" dirty="0"/>
          </a:p>
        </p:txBody>
      </p:sp>
      <p:sp>
        <p:nvSpPr>
          <p:cNvPr id="31" name="Text 12"/>
          <p:cNvSpPr/>
          <p:nvPr/>
        </p:nvSpPr>
        <p:spPr>
          <a:xfrm>
            <a:off x="6719363" y="1520621"/>
            <a:ext cx="5472637" cy="24329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6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Kurtosis (Peakedness)</a:t>
            </a:r>
            <a:endParaRPr lang="en-US" sz="1800" dirty="0"/>
          </a:p>
        </p:txBody>
      </p:sp>
      <p:sp>
        <p:nvSpPr>
          <p:cNvPr id="32" name="Text 13"/>
          <p:cNvSpPr/>
          <p:nvPr/>
        </p:nvSpPr>
        <p:spPr>
          <a:xfrm>
            <a:off x="6400032" y="1885570"/>
            <a:ext cx="4848442" cy="45618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76"/>
              </a:lnSpc>
              <a:buNone/>
            </a:pPr>
            <a:r>
              <a:rPr lang="en-US" sz="1500" i="1" dirty="0">
                <a:solidFill>
                  <a:srgbClr val="333333"/>
                </a:solidFill>
              </a:rPr>
              <a:t>Kurtosis = (1/n) × ∑[(x</a:t>
            </a:r>
            <a:pPr algn="ctr" indent="0" marL="0">
              <a:lnSpc>
                <a:spcPts val="1676"/>
              </a:lnSpc>
              <a:buNone/>
            </a:pPr>
            <a:r>
              <a:rPr lang="en-US" sz="1125" i="1" dirty="0">
                <a:solidFill>
                  <a:srgbClr val="333333"/>
                </a:solidFill>
              </a:rPr>
              <a:t>i</a:t>
            </a:r>
            <a:pPr algn="ctr" indent="0" marL="0">
              <a:lnSpc>
                <a:spcPts val="1676"/>
              </a:lnSpc>
              <a:buNone/>
            </a:pPr>
            <a:r>
              <a:rPr lang="en-US" sz="1500" i="1" dirty="0">
                <a:solidFill>
                  <a:srgbClr val="333333"/>
                </a:solidFill>
              </a:rPr>
              <a:t> - x̄)/s]</a:t>
            </a:r>
            <a:pPr algn="ctr" indent="0" marL="0">
              <a:lnSpc>
                <a:spcPts val="1676"/>
              </a:lnSpc>
              <a:buNone/>
            </a:pPr>
            <a:r>
              <a:rPr lang="en-US" sz="1500" i="1" dirty="0">
                <a:solidFill>
                  <a:srgbClr val="333333"/>
                </a:solidFill>
              </a:rPr>
              <a:t> - 3</a:t>
            </a:r>
            <a:endParaRPr lang="en-US" sz="1500" dirty="0"/>
          </a:p>
        </p:txBody>
      </p:sp>
      <p:sp>
        <p:nvSpPr>
          <p:cNvPr id="33" name="Text 14"/>
          <p:cNvSpPr/>
          <p:nvPr/>
        </p:nvSpPr>
        <p:spPr>
          <a:xfrm>
            <a:off x="6400032" y="2524231"/>
            <a:ext cx="5153242" cy="121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58"/>
              </a:lnSpc>
              <a:buNone/>
            </a:pPr>
            <a:r>
              <a:rPr lang="en-US" sz="900" b="1" spc="9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INTERPRETATION GUIDE</a:t>
            </a:r>
            <a:endParaRPr lang="en-US" sz="900" dirty="0"/>
          </a:p>
        </p:txBody>
      </p:sp>
      <p:sp>
        <p:nvSpPr>
          <p:cNvPr id="34" name="Text 15"/>
          <p:cNvSpPr/>
          <p:nvPr/>
        </p:nvSpPr>
        <p:spPr>
          <a:xfrm>
            <a:off x="6491269" y="2828355"/>
            <a:ext cx="1474408" cy="15206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97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 -0.5</a:t>
            </a:r>
            <a:endParaRPr lang="en-US" sz="1050" dirty="0"/>
          </a:p>
        </p:txBody>
      </p:sp>
      <p:sp>
        <p:nvSpPr>
          <p:cNvPr id="35" name="Text 16"/>
          <p:cNvSpPr/>
          <p:nvPr/>
        </p:nvSpPr>
        <p:spPr>
          <a:xfrm>
            <a:off x="6939496" y="3033639"/>
            <a:ext cx="577836" cy="1444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958"/>
              </a:lnSpc>
              <a:buNone/>
            </a:pPr>
            <a:r>
              <a:rPr lang="en-US" sz="900" dirty="0">
                <a:solidFill>
                  <a:srgbClr val="D84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Platykurtic</a:t>
            </a:r>
            <a:endParaRPr lang="en-US" sz="900" dirty="0"/>
          </a:p>
        </p:txBody>
      </p:sp>
      <p:sp>
        <p:nvSpPr>
          <p:cNvPr id="36" name="Text 17"/>
          <p:cNvSpPr/>
          <p:nvPr/>
        </p:nvSpPr>
        <p:spPr>
          <a:xfrm>
            <a:off x="8239389" y="2828355"/>
            <a:ext cx="1474408" cy="15206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97"/>
              </a:lnSpc>
              <a:buNone/>
            </a:pPr>
            <a:r>
              <a:rPr lang="en-US" sz="105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|K| &lt; 0.5</a:t>
            </a:r>
            <a:endParaRPr lang="en-US" sz="1050" dirty="0"/>
          </a:p>
        </p:txBody>
      </p:sp>
      <p:sp>
        <p:nvSpPr>
          <p:cNvPr id="37" name="Text 18"/>
          <p:cNvSpPr/>
          <p:nvPr/>
        </p:nvSpPr>
        <p:spPr>
          <a:xfrm>
            <a:off x="8668608" y="3033639"/>
            <a:ext cx="615851" cy="1444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958"/>
              </a:lnSpc>
              <a:buNone/>
            </a:pPr>
            <a:r>
              <a:rPr lang="en-US" sz="90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Mesokurtic</a:t>
            </a:r>
            <a:endParaRPr lang="en-US" sz="900" dirty="0"/>
          </a:p>
        </p:txBody>
      </p:sp>
      <p:sp>
        <p:nvSpPr>
          <p:cNvPr id="38" name="Text 19"/>
          <p:cNvSpPr/>
          <p:nvPr/>
        </p:nvSpPr>
        <p:spPr>
          <a:xfrm>
            <a:off x="9987509" y="2828355"/>
            <a:ext cx="1474409" cy="15206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97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 0.5</a:t>
            </a:r>
            <a:endParaRPr lang="en-US" sz="1050" dirty="0"/>
          </a:p>
        </p:txBody>
      </p:sp>
      <p:sp>
        <p:nvSpPr>
          <p:cNvPr id="39" name="Text 20"/>
          <p:cNvSpPr/>
          <p:nvPr/>
        </p:nvSpPr>
        <p:spPr>
          <a:xfrm>
            <a:off x="10416728" y="3033639"/>
            <a:ext cx="615851" cy="1444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958"/>
              </a:lnSpc>
              <a:buNone/>
            </a:pPr>
            <a:r>
              <a:rPr lang="en-US" sz="900" dirty="0">
                <a:solidFill>
                  <a:srgbClr val="D84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Leptokurtic</a:t>
            </a:r>
            <a:endParaRPr lang="en-US" sz="900" dirty="0"/>
          </a:p>
        </p:txBody>
      </p:sp>
      <p:sp>
        <p:nvSpPr>
          <p:cNvPr id="40" name="Text 21"/>
          <p:cNvSpPr/>
          <p:nvPr/>
        </p:nvSpPr>
        <p:spPr>
          <a:xfrm>
            <a:off x="9876195" y="3847646"/>
            <a:ext cx="2315805" cy="121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58"/>
              </a:lnSpc>
              <a:buNone/>
            </a:pPr>
            <a:r>
              <a:rPr lang="en-US" sz="900" spc="90" kern="0" dirty="0">
                <a:solidFill>
                  <a:srgbClr val="9CA3AF"/>
                </a:solidFill>
              </a:rPr>
              <a:t>R CODE IMPLEMENTATION</a:t>
            </a:r>
            <a:endParaRPr lang="en-US" sz="900" dirty="0"/>
          </a:p>
        </p:txBody>
      </p:sp>
      <p:sp>
        <p:nvSpPr>
          <p:cNvPr id="41" name="Text 22"/>
          <p:cNvSpPr/>
          <p:nvPr/>
        </p:nvSpPr>
        <p:spPr>
          <a:xfrm>
            <a:off x="638661" y="3946486"/>
            <a:ext cx="11553339" cy="1976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34D399"/>
                </a:solidFill>
              </a:rPr>
              <a:t># Using the e1071 package for accurate moments</a:t>
            </a:r>
            <a:endParaRPr lang="en-US" sz="1350" dirty="0"/>
          </a:p>
        </p:txBody>
      </p:sp>
      <p:sp>
        <p:nvSpPr>
          <p:cNvPr id="42" name="Text 23"/>
          <p:cNvSpPr/>
          <p:nvPr/>
        </p:nvSpPr>
        <p:spPr>
          <a:xfrm>
            <a:off x="5370880" y="4224950"/>
            <a:ext cx="5326761" cy="197681"/>
          </a:xfrm>
          <a:prstGeom prst="rect">
            <a:avLst/>
          </a:prstGeom>
          <a:noFill/>
          <a:ln/>
        </p:spPr>
        <p:txBody>
          <a:bodyPr wrap="none" lIns="0" tIns="0" rIns="0" bIns="0" rtlCol="0" anchor="t" vert="horz"/>
          <a:lstStyle/>
          <a:p>
            <a:pPr indent="0" marL="0">
              <a:lnSpc>
                <a:spcPts val="2194"/>
              </a:lnSpc>
              <a:buNone/>
            </a:pPr>
            <a:endParaRPr lang="en-US" sz="1350" dirty="0"/>
          </a:p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E2E8F0"/>
                </a:solidFill>
              </a:rPr>
              <a:t>skew_v &lt;- e1071::</a:t>
            </a:r>
            <a:endParaRPr lang="en-US" sz="1350" dirty="0"/>
          </a:p>
        </p:txBody>
      </p:sp>
      <p:sp>
        <p:nvSpPr>
          <p:cNvPr id="43" name="Text 24"/>
          <p:cNvSpPr/>
          <p:nvPr/>
        </p:nvSpPr>
        <p:spPr>
          <a:xfrm>
            <a:off x="2387612" y="4224950"/>
            <a:ext cx="2061972" cy="1976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7DD3FC"/>
                </a:solidFill>
              </a:rPr>
              <a:t>skewness</a:t>
            </a:r>
            <a:endParaRPr lang="en-US" sz="1350" dirty="0"/>
          </a:p>
        </p:txBody>
      </p:sp>
      <p:sp>
        <p:nvSpPr>
          <p:cNvPr id="44" name="Text 25"/>
          <p:cNvSpPr/>
          <p:nvPr/>
        </p:nvSpPr>
        <p:spPr>
          <a:xfrm>
            <a:off x="3210649" y="4224950"/>
            <a:ext cx="2880626" cy="476144"/>
          </a:xfrm>
          <a:prstGeom prst="rect">
            <a:avLst/>
          </a:prstGeom>
          <a:noFill/>
          <a:ln/>
        </p:spPr>
        <p:txBody>
          <a:bodyPr wrap="none" lIns="0" tIns="0" rIns="0" bIns="0" rtlCol="0" anchor="t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E2E8F0"/>
                </a:solidFill>
              </a:rPr>
              <a:t>(x)</a:t>
            </a:r>
            <a:endParaRPr lang="en-US" sz="1350" dirty="0"/>
          </a:p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E2E8F0"/>
                </a:solidFill>
              </a:rPr>
              <a:t>kurt_v &lt;- e1071::</a:t>
            </a:r>
            <a:endParaRPr lang="en-US" sz="1350" dirty="0"/>
          </a:p>
        </p:txBody>
      </p:sp>
      <p:sp>
        <p:nvSpPr>
          <p:cNvPr id="45" name="Text 26"/>
          <p:cNvSpPr/>
          <p:nvPr/>
        </p:nvSpPr>
        <p:spPr>
          <a:xfrm>
            <a:off x="2387612" y="4503413"/>
            <a:ext cx="2061972" cy="1976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7DD3FC"/>
                </a:solidFill>
              </a:rPr>
              <a:t>kurtosis</a:t>
            </a:r>
            <a:endParaRPr lang="en-US" sz="1350" dirty="0"/>
          </a:p>
        </p:txBody>
      </p:sp>
      <p:sp>
        <p:nvSpPr>
          <p:cNvPr id="46" name="Text 27"/>
          <p:cNvSpPr/>
          <p:nvPr/>
        </p:nvSpPr>
        <p:spPr>
          <a:xfrm>
            <a:off x="3210649" y="4503413"/>
            <a:ext cx="1288732" cy="197681"/>
          </a:xfrm>
          <a:prstGeom prst="rect">
            <a:avLst/>
          </a:prstGeom>
          <a:noFill/>
          <a:ln/>
        </p:spPr>
        <p:txBody>
          <a:bodyPr wrap="none" lIns="0" tIns="0" rIns="0" bIns="0" rtlCol="0" anchor="t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E2E8F0"/>
                </a:solidFill>
              </a:rPr>
              <a:t>(x)
</a:t>
            </a:r>
            <a:endParaRPr lang="en-US" sz="1350" dirty="0"/>
          </a:p>
        </p:txBody>
      </p:sp>
      <p:sp>
        <p:nvSpPr>
          <p:cNvPr id="47" name="Text 28"/>
          <p:cNvSpPr/>
          <p:nvPr/>
        </p:nvSpPr>
        <p:spPr>
          <a:xfrm>
            <a:off x="638661" y="5060341"/>
            <a:ext cx="9450705" cy="1976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34D399"/>
                </a:solidFill>
              </a:rPr>
              <a:t># Smart logic for distribution shape</a:t>
            </a:r>
            <a:endParaRPr lang="en-US" sz="1350" dirty="0"/>
          </a:p>
        </p:txBody>
      </p:sp>
      <p:sp>
        <p:nvSpPr>
          <p:cNvPr id="48" name="Text 29"/>
          <p:cNvSpPr/>
          <p:nvPr/>
        </p:nvSpPr>
        <p:spPr>
          <a:xfrm>
            <a:off x="4342085" y="5338805"/>
            <a:ext cx="3608451" cy="197680"/>
          </a:xfrm>
          <a:prstGeom prst="rect">
            <a:avLst/>
          </a:prstGeom>
          <a:noFill/>
          <a:ln/>
        </p:spPr>
        <p:txBody>
          <a:bodyPr wrap="none" lIns="0" tIns="0" rIns="0" bIns="0" rtlCol="0" anchor="t" vert="horz"/>
          <a:lstStyle/>
          <a:p>
            <a:pPr indent="0" marL="0">
              <a:lnSpc>
                <a:spcPts val="2194"/>
              </a:lnSpc>
              <a:buNone/>
            </a:pPr>
            <a:endParaRPr lang="en-US" sz="1350" dirty="0"/>
          </a:p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E2E8F0"/>
                </a:solidFill>
              </a:rPr>
              <a:t>is_skewed &lt;- </a:t>
            </a:r>
            <a:endParaRPr lang="en-US" sz="1350" dirty="0"/>
          </a:p>
        </p:txBody>
      </p:sp>
      <p:sp>
        <p:nvSpPr>
          <p:cNvPr id="49" name="Text 30"/>
          <p:cNvSpPr/>
          <p:nvPr/>
        </p:nvSpPr>
        <p:spPr>
          <a:xfrm>
            <a:off x="1976094" y="5338805"/>
            <a:ext cx="773240" cy="197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7DD3FC"/>
                </a:solidFill>
              </a:rPr>
              <a:t>abs</a:t>
            </a:r>
            <a:endParaRPr lang="en-US" sz="1350" dirty="0"/>
          </a:p>
        </p:txBody>
      </p:sp>
      <p:sp>
        <p:nvSpPr>
          <p:cNvPr id="50" name="Text 31"/>
          <p:cNvSpPr/>
          <p:nvPr/>
        </p:nvSpPr>
        <p:spPr>
          <a:xfrm>
            <a:off x="2284733" y="5338805"/>
            <a:ext cx="2835211" cy="197680"/>
          </a:xfrm>
          <a:prstGeom prst="rect">
            <a:avLst/>
          </a:prstGeom>
          <a:noFill/>
          <a:ln/>
        </p:spPr>
        <p:txBody>
          <a:bodyPr wrap="none" lIns="0" tIns="0" rIns="0" bIns="0" rtlCol="0" anchor="t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E2E8F0"/>
                </a:solidFill>
              </a:rPr>
              <a:t>(skew_v) &gt; </a:t>
            </a:r>
            <a:endParaRPr lang="en-US" sz="1350" dirty="0"/>
          </a:p>
        </p:txBody>
      </p:sp>
      <p:sp>
        <p:nvSpPr>
          <p:cNvPr id="51" name="Text 32"/>
          <p:cNvSpPr/>
          <p:nvPr/>
        </p:nvSpPr>
        <p:spPr>
          <a:xfrm>
            <a:off x="3416407" y="5338805"/>
            <a:ext cx="1116902" cy="197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FDBA74"/>
                </a:solidFill>
              </a:rPr>
              <a:t>0.5</a:t>
            </a:r>
            <a:endParaRPr lang="en-US" sz="1350" dirty="0"/>
          </a:p>
        </p:txBody>
      </p:sp>
      <p:sp>
        <p:nvSpPr>
          <p:cNvPr id="52" name="Text 33"/>
          <p:cNvSpPr/>
          <p:nvPr/>
        </p:nvSpPr>
        <p:spPr>
          <a:xfrm>
            <a:off x="3725046" y="5617269"/>
            <a:ext cx="3608451" cy="197680"/>
          </a:xfrm>
          <a:prstGeom prst="rect">
            <a:avLst/>
          </a:prstGeom>
          <a:noFill/>
          <a:ln/>
        </p:spPr>
        <p:txBody>
          <a:bodyPr wrap="none" lIns="0" tIns="0" rIns="0" bIns="0" rtlCol="0" anchor="t" vert="horz"/>
          <a:lstStyle/>
          <a:p>
            <a:pPr indent="0" marL="0">
              <a:lnSpc>
                <a:spcPts val="2194"/>
              </a:lnSpc>
              <a:buNone/>
            </a:pPr>
            <a:endParaRPr lang="en-US" sz="1350" dirty="0"/>
          </a:p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E2E8F0"/>
                </a:solidFill>
              </a:rPr>
              <a:t>is_normal &lt;- </a:t>
            </a:r>
            <a:endParaRPr lang="en-US" sz="1350" dirty="0"/>
          </a:p>
        </p:txBody>
      </p:sp>
      <p:sp>
        <p:nvSpPr>
          <p:cNvPr id="53" name="Text 34"/>
          <p:cNvSpPr/>
          <p:nvPr/>
        </p:nvSpPr>
        <p:spPr>
          <a:xfrm>
            <a:off x="1976094" y="5617269"/>
            <a:ext cx="773240" cy="197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7DD3FC"/>
                </a:solidFill>
              </a:rPr>
              <a:t>abs</a:t>
            </a:r>
            <a:endParaRPr lang="en-US" sz="1350" dirty="0"/>
          </a:p>
        </p:txBody>
      </p:sp>
      <p:sp>
        <p:nvSpPr>
          <p:cNvPr id="54" name="Text 35"/>
          <p:cNvSpPr/>
          <p:nvPr/>
        </p:nvSpPr>
        <p:spPr>
          <a:xfrm>
            <a:off x="2284733" y="5617269"/>
            <a:ext cx="2835211" cy="197680"/>
          </a:xfrm>
          <a:prstGeom prst="rect">
            <a:avLst/>
          </a:prstGeom>
          <a:noFill/>
          <a:ln/>
        </p:spPr>
        <p:txBody>
          <a:bodyPr wrap="none" lIns="0" tIns="0" rIns="0" bIns="0" rtlCol="0" anchor="t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E2E8F0"/>
                </a:solidFill>
              </a:rPr>
              <a:t>(skew_v) &lt; </a:t>
            </a:r>
            <a:endParaRPr lang="en-US" sz="1350" dirty="0"/>
          </a:p>
        </p:txBody>
      </p:sp>
      <p:sp>
        <p:nvSpPr>
          <p:cNvPr id="55" name="Text 36"/>
          <p:cNvSpPr/>
          <p:nvPr/>
        </p:nvSpPr>
        <p:spPr>
          <a:xfrm>
            <a:off x="3416407" y="5617269"/>
            <a:ext cx="1116902" cy="197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FDBA74"/>
                </a:solidFill>
              </a:rPr>
              <a:t>0.5</a:t>
            </a:r>
            <a:endParaRPr lang="en-US" sz="1350" dirty="0"/>
          </a:p>
        </p:txBody>
      </p:sp>
      <p:sp>
        <p:nvSpPr>
          <p:cNvPr id="56" name="Text 37"/>
          <p:cNvSpPr/>
          <p:nvPr/>
        </p:nvSpPr>
        <p:spPr>
          <a:xfrm>
            <a:off x="3725046" y="5617269"/>
            <a:ext cx="1030986" cy="197680"/>
          </a:xfrm>
          <a:prstGeom prst="rect">
            <a:avLst/>
          </a:prstGeom>
          <a:noFill/>
          <a:ln/>
        </p:spPr>
        <p:txBody>
          <a:bodyPr wrap="none" lIns="0" tIns="0" rIns="0" bIns="0" rtlCol="0" anchor="t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E2E8F0"/>
                </a:solidFill>
              </a:rPr>
              <a:t> &amp;&amp; </a:t>
            </a:r>
            <a:endParaRPr lang="en-US" sz="1350" dirty="0"/>
          </a:p>
        </p:txBody>
      </p:sp>
      <p:sp>
        <p:nvSpPr>
          <p:cNvPr id="57" name="Text 38"/>
          <p:cNvSpPr/>
          <p:nvPr/>
        </p:nvSpPr>
        <p:spPr>
          <a:xfrm>
            <a:off x="4136564" y="5617269"/>
            <a:ext cx="773240" cy="197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7DD3FC"/>
                </a:solidFill>
              </a:rPr>
              <a:t>abs</a:t>
            </a:r>
            <a:endParaRPr lang="en-US" sz="1350" dirty="0"/>
          </a:p>
        </p:txBody>
      </p:sp>
      <p:sp>
        <p:nvSpPr>
          <p:cNvPr id="58" name="Text 39"/>
          <p:cNvSpPr/>
          <p:nvPr/>
        </p:nvSpPr>
        <p:spPr>
          <a:xfrm>
            <a:off x="4445203" y="5617269"/>
            <a:ext cx="2835211" cy="197680"/>
          </a:xfrm>
          <a:prstGeom prst="rect">
            <a:avLst/>
          </a:prstGeom>
          <a:noFill/>
          <a:ln/>
        </p:spPr>
        <p:txBody>
          <a:bodyPr wrap="none" lIns="0" tIns="0" rIns="0" bIns="0" rtlCol="0" anchor="t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E2E8F0"/>
                </a:solidFill>
              </a:rPr>
              <a:t>(kurt_v) &lt; </a:t>
            </a:r>
            <a:endParaRPr lang="en-US" sz="1350" dirty="0"/>
          </a:p>
        </p:txBody>
      </p:sp>
      <p:sp>
        <p:nvSpPr>
          <p:cNvPr id="59" name="Text 40"/>
          <p:cNvSpPr/>
          <p:nvPr/>
        </p:nvSpPr>
        <p:spPr>
          <a:xfrm>
            <a:off x="5576877" y="5617269"/>
            <a:ext cx="1116902" cy="197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FDBA74"/>
                </a:solidFill>
              </a:rPr>
              <a:t>0.5</a:t>
            </a:r>
            <a:endParaRPr lang="en-US" sz="1350" dirty="0"/>
          </a:p>
        </p:txBody>
      </p:sp>
      <p:sp>
        <p:nvSpPr>
          <p:cNvPr id="60" name="Text 41"/>
          <p:cNvSpPr/>
          <p:nvPr/>
        </p:nvSpPr>
        <p:spPr>
          <a:xfrm>
            <a:off x="456186" y="6378767"/>
            <a:ext cx="3780274" cy="121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58"/>
              </a:lnSpc>
              <a:buNone/>
            </a:pPr>
            <a:r>
              <a:rPr lang="en-US" sz="900" b="1" spc="9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SCIENTIFIC COMPUTATION</a:t>
            </a:r>
            <a:endParaRPr lang="en-US" sz="900" dirty="0"/>
          </a:p>
        </p:txBody>
      </p:sp>
      <p:sp>
        <p:nvSpPr>
          <p:cNvPr id="61" name="Text 42"/>
          <p:cNvSpPr/>
          <p:nvPr/>
        </p:nvSpPr>
        <p:spPr>
          <a:xfrm>
            <a:off x="2357556" y="6325308"/>
            <a:ext cx="229107" cy="22856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200" dirty="0"/>
          </a:p>
        </p:txBody>
      </p:sp>
      <p:sp>
        <p:nvSpPr>
          <p:cNvPr id="62" name="Text 43"/>
          <p:cNvSpPr/>
          <p:nvPr/>
        </p:nvSpPr>
        <p:spPr>
          <a:xfrm>
            <a:off x="2532428" y="6378767"/>
            <a:ext cx="2921121" cy="121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58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Black Knight</a:t>
            </a:r>
            <a:endParaRPr lang="en-US" sz="900" dirty="0"/>
          </a:p>
        </p:txBody>
      </p:sp>
      <p:sp>
        <p:nvSpPr>
          <p:cNvPr id="63" name="Text 44"/>
          <p:cNvSpPr/>
          <p:nvPr/>
        </p:nvSpPr>
        <p:spPr>
          <a:xfrm>
            <a:off x="10169508" y="6378767"/>
            <a:ext cx="2022492" cy="121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58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Supervisor: Dr. Gamal Mousa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3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292" y="1689754"/>
            <a:ext cx="5379311" cy="2420589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08" y="1919071"/>
            <a:ext cx="171987" cy="22931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608" y="2320375"/>
            <a:ext cx="4920678" cy="694332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608" y="3186695"/>
            <a:ext cx="4920678" cy="694332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292" y="4282331"/>
            <a:ext cx="5379311" cy="1304462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79" y="4454319"/>
            <a:ext cx="150489" cy="160454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9248" y="1689754"/>
            <a:ext cx="5379423" cy="3054009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39248" y="1689754"/>
            <a:ext cx="5379423" cy="326731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1236" y="1775748"/>
            <a:ext cx="193486" cy="154744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02708" y="1810123"/>
            <a:ext cx="85995" cy="85994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31699" y="1810123"/>
            <a:ext cx="85994" cy="85994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360690" y="1810123"/>
            <a:ext cx="85994" cy="85994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39248" y="2016486"/>
            <a:ext cx="5379423" cy="2727278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39248" y="4915751"/>
            <a:ext cx="5379423" cy="859937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23687" y="5231062"/>
            <a:ext cx="659285" cy="229316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97631" y="5288391"/>
            <a:ext cx="57329" cy="114658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07932" y="5288391"/>
            <a:ext cx="57329" cy="114658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79920" y="5231062"/>
            <a:ext cx="1298080" cy="229316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874947" y="5231062"/>
            <a:ext cx="659285" cy="229316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3292" y="6112721"/>
            <a:ext cx="11045379" cy="31531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573292" y="429969"/>
            <a:ext cx="11045379" cy="1433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9"/>
              </a:lnSpc>
              <a:buNone/>
            </a:pPr>
            <a:r>
              <a:rPr lang="en-US" sz="1050" b="1" spc="223" kern="0" dirty="0">
                <a:solidFill>
                  <a:srgbClr val="D84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METHODOLOGY</a:t>
            </a:r>
            <a:endParaRPr lang="en-US" sz="1050" dirty="0"/>
          </a:p>
        </p:txBody>
      </p:sp>
      <p:sp>
        <p:nvSpPr>
          <p:cNvPr id="24" name="Text 1"/>
          <p:cNvSpPr/>
          <p:nvPr/>
        </p:nvSpPr>
        <p:spPr>
          <a:xfrm>
            <a:off x="573292" y="630621"/>
            <a:ext cx="11618708" cy="45717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Outliers Detection</a:t>
            </a:r>
            <a:endParaRPr lang="en-US" sz="3600" dirty="0"/>
          </a:p>
        </p:txBody>
      </p:sp>
      <p:sp>
        <p:nvSpPr>
          <p:cNvPr id="25" name="Text 2"/>
          <p:cNvSpPr/>
          <p:nvPr/>
        </p:nvSpPr>
        <p:spPr>
          <a:xfrm>
            <a:off x="573292" y="1202457"/>
            <a:ext cx="11618708" cy="20065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8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 of Tukey’s IQR Fence method to identify extreme values.</a:t>
            </a:r>
            <a:endParaRPr lang="en-US" sz="1500" dirty="0"/>
          </a:p>
        </p:txBody>
      </p:sp>
      <p:sp>
        <p:nvSpPr>
          <p:cNvPr id="26" name="Text 3"/>
          <p:cNvSpPr/>
          <p:nvPr/>
        </p:nvSpPr>
        <p:spPr>
          <a:xfrm>
            <a:off x="1060589" y="1933403"/>
            <a:ext cx="5773095" cy="20065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80"/>
              </a:lnSpc>
              <a:buNone/>
            </a:pPr>
            <a:r>
              <a:rPr lang="en-US" sz="1500" b="1" spc="80" kern="0" dirty="0">
                <a:solidFill>
                  <a:srgbClr val="D84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MATHEMATICAL FENCES</a:t>
            </a:r>
            <a:endParaRPr lang="en-US" sz="1500" dirty="0"/>
          </a:p>
        </p:txBody>
      </p:sp>
      <p:sp>
        <p:nvSpPr>
          <p:cNvPr id="27" name="Text 4"/>
          <p:cNvSpPr/>
          <p:nvPr/>
        </p:nvSpPr>
        <p:spPr>
          <a:xfrm>
            <a:off x="917266" y="2435033"/>
            <a:ext cx="4691361" cy="1433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9"/>
              </a:lnSpc>
              <a:buNone/>
            </a:pPr>
            <a:r>
              <a:rPr lang="en-US" sz="10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BOUNDARY</a:t>
            </a:r>
            <a:endParaRPr lang="en-US" sz="1050" dirty="0"/>
          </a:p>
        </p:txBody>
      </p:sp>
      <p:sp>
        <p:nvSpPr>
          <p:cNvPr id="28" name="Text 5"/>
          <p:cNvSpPr/>
          <p:nvPr/>
        </p:nvSpPr>
        <p:spPr>
          <a:xfrm>
            <a:off x="917266" y="2556858"/>
            <a:ext cx="11274734" cy="3511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31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Fence = Q1 - 1.5 × IQR</a:t>
            </a:r>
            <a:endParaRPr lang="en-US" sz="2250" dirty="0"/>
          </a:p>
        </p:txBody>
      </p:sp>
      <p:sp>
        <p:nvSpPr>
          <p:cNvPr id="29" name="Text 6"/>
          <p:cNvSpPr/>
          <p:nvPr/>
        </p:nvSpPr>
        <p:spPr>
          <a:xfrm>
            <a:off x="917266" y="3301353"/>
            <a:ext cx="4691361" cy="1433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9"/>
              </a:lnSpc>
              <a:buNone/>
            </a:pPr>
            <a:r>
              <a:rPr lang="en-US" sz="10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UPPER BOUNDARY</a:t>
            </a:r>
            <a:endParaRPr lang="en-US" sz="1050" dirty="0"/>
          </a:p>
        </p:txBody>
      </p:sp>
      <p:sp>
        <p:nvSpPr>
          <p:cNvPr id="30" name="Text 7"/>
          <p:cNvSpPr/>
          <p:nvPr/>
        </p:nvSpPr>
        <p:spPr>
          <a:xfrm>
            <a:off x="917266" y="3423178"/>
            <a:ext cx="11274734" cy="3511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31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Upper Fence = Q3 + 1.5 × IQR</a:t>
            </a:r>
            <a:endParaRPr lang="en-US" sz="2250" dirty="0"/>
          </a:p>
        </p:txBody>
      </p:sp>
      <p:sp>
        <p:nvSpPr>
          <p:cNvPr id="31" name="Text 8"/>
          <p:cNvSpPr/>
          <p:nvPr/>
        </p:nvSpPr>
        <p:spPr>
          <a:xfrm>
            <a:off x="981762" y="4462828"/>
            <a:ext cx="3261291" cy="1433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9"/>
              </a:lnSpc>
              <a:buNone/>
            </a:pPr>
            <a:r>
              <a:rPr lang="en-US" sz="1050" b="1" spc="28" kern="0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1.5 × IQR?</a:t>
            </a:r>
            <a:endParaRPr lang="en-US" sz="1050" dirty="0"/>
          </a:p>
        </p:txBody>
      </p:sp>
      <p:sp>
        <p:nvSpPr>
          <p:cNvPr id="32" name="Text 9"/>
          <p:cNvSpPr/>
          <p:nvPr/>
        </p:nvSpPr>
        <p:spPr>
          <a:xfrm>
            <a:off x="745279" y="4672102"/>
            <a:ext cx="5035336" cy="74270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Developed by </a:t>
            </a:r>
            <a:pPr indent="0" marL="0">
              <a:lnSpc>
                <a:spcPts val="1950"/>
              </a:lnSpc>
              <a:buNone/>
            </a:pPr>
            <a:r>
              <a:rPr lang="en-US" sz="1200" b="1" i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John Tukey (1977)</a:t>
            </a:r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This factor identifies values beyond </a:t>
            </a:r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±2.7σ</a:t>
            </a:r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a normal distribution, capturing the most extreme </a:t>
            </a:r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D84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0.35%</a:t>
            </a:r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data points.</a:t>
            </a:r>
            <a:endParaRPr lang="en-US" sz="1200" dirty="0"/>
          </a:p>
        </p:txBody>
      </p:sp>
      <p:sp>
        <p:nvSpPr>
          <p:cNvPr id="33" name="Text 10"/>
          <p:cNvSpPr/>
          <p:nvPr/>
        </p:nvSpPr>
        <p:spPr>
          <a:xfrm>
            <a:off x="6662051" y="1781459"/>
            <a:ext cx="3615779" cy="1433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9"/>
              </a:lnSpc>
              <a:buNone/>
            </a:pPr>
            <a:r>
              <a:rPr lang="en-US" sz="1050" dirty="0">
                <a:solidFill>
                  <a:srgbClr val="D1D5DB"/>
                </a:solidFill>
              </a:rPr>
              <a:t>detection_logic.R</a:t>
            </a:r>
            <a:endParaRPr lang="en-US" sz="1050" dirty="0"/>
          </a:p>
        </p:txBody>
      </p:sp>
      <p:sp>
        <p:nvSpPr>
          <p:cNvPr id="34" name="Text 11"/>
          <p:cNvSpPr/>
          <p:nvPr/>
        </p:nvSpPr>
        <p:spPr>
          <a:xfrm>
            <a:off x="6411236" y="2016486"/>
            <a:ext cx="4922223" cy="27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C084FC"/>
                </a:solidFill>
              </a:rPr>
              <a:t># Calculate Quartiles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D4D4D4"/>
                </a:solidFill>
              </a:rPr>
              <a:t>
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D4D4D4"/>
                </a:solidFill>
              </a:rPr>
              <a:t>q1 &lt;- 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93C5FD"/>
                </a:solidFill>
              </a:rPr>
              <a:t>quantile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D4D4D4"/>
                </a:solidFill>
              </a:rPr>
              <a:t>(x, 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FDBA74"/>
                </a:solidFill>
              </a:rPr>
              <a:t>.25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D4D4D4"/>
                </a:solidFill>
              </a:rPr>
              <a:t>)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D4D4D4"/>
                </a:solidFill>
              </a:rPr>
              <a:t>
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D4D4D4"/>
                </a:solidFill>
              </a:rPr>
              <a:t>q3 &lt;- 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93C5FD"/>
                </a:solidFill>
              </a:rPr>
              <a:t>quantile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D4D4D4"/>
                </a:solidFill>
              </a:rPr>
              <a:t>(x, 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FDBA74"/>
                </a:solidFill>
              </a:rPr>
              <a:t>.75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D4D4D4"/>
                </a:solidFill>
              </a:rPr>
              <a:t>)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D4D4D4"/>
                </a:solidFill>
              </a:rPr>
              <a:t>
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D4D4D4"/>
                </a:solidFill>
              </a:rPr>
              <a:t>iqr_v &lt;- 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93C5FD"/>
                </a:solidFill>
              </a:rPr>
              <a:t>IQR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D4D4D4"/>
                </a:solidFill>
              </a:rPr>
              <a:t>(x)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D4D4D4"/>
                </a:solidFill>
              </a:rPr>
              <a:t>
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D4D4D4"/>
                </a:solidFill>
              </a:rPr>
              <a:t>
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C084FC"/>
                </a:solidFill>
              </a:rPr>
              <a:t># Define Boundaries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D4D4D4"/>
                </a:solidFill>
              </a:rPr>
              <a:t>
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D4D4D4"/>
                </a:solidFill>
              </a:rPr>
              <a:t>lower_f &lt;- q1 - 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FDBA74"/>
                </a:solidFill>
              </a:rPr>
              <a:t>1.5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D4D4D4"/>
                </a:solidFill>
              </a:rPr>
              <a:t> * iqr_v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D4D4D4"/>
                </a:solidFill>
              </a:rPr>
              <a:t>
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D4D4D4"/>
                </a:solidFill>
              </a:rPr>
              <a:t>upper_f &lt;- q3 + 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FDBA74"/>
                </a:solidFill>
              </a:rPr>
              <a:t>1.5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D4D4D4"/>
                </a:solidFill>
              </a:rPr>
              <a:t> * iqr_v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D4D4D4"/>
                </a:solidFill>
              </a:rPr>
              <a:t>
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D4D4D4"/>
                </a:solidFill>
              </a:rPr>
              <a:t>
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C084FC"/>
                </a:solidFill>
              </a:rPr>
              <a:t># Extract Outliers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D4D4D4"/>
                </a:solidFill>
              </a:rPr>
              <a:t>
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D4D4D4"/>
                </a:solidFill>
              </a:rPr>
              <a:t>outliers &lt;- x[x &lt; lower_f | x &gt; upper_f]</a:t>
            </a:r>
            <a:endParaRPr lang="en-US" sz="1050" dirty="0"/>
          </a:p>
        </p:txBody>
      </p:sp>
      <p:sp>
        <p:nvSpPr>
          <p:cNvPr id="35" name="Text 12"/>
          <p:cNvSpPr/>
          <p:nvPr/>
        </p:nvSpPr>
        <p:spPr>
          <a:xfrm>
            <a:off x="7323687" y="5231062"/>
            <a:ext cx="430685" cy="22931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903"/>
              </a:lnSpc>
              <a:buNone/>
            </a:pPr>
            <a:r>
              <a:rPr lang="en-US" sz="900" b="1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OUTLIER</a:t>
            </a:r>
            <a:endParaRPr lang="en-US" sz="900" dirty="0"/>
          </a:p>
        </p:txBody>
      </p:sp>
      <p:sp>
        <p:nvSpPr>
          <p:cNvPr id="36" name="Text 13"/>
          <p:cNvSpPr/>
          <p:nvPr/>
        </p:nvSpPr>
        <p:spPr>
          <a:xfrm>
            <a:off x="8279920" y="5231062"/>
            <a:ext cx="993280" cy="22931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903"/>
              </a:lnSpc>
              <a:buNone/>
            </a:pPr>
            <a:r>
              <a:rPr lang="en-US" sz="900" b="1" spc="96" kern="0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 RANGE</a:t>
            </a:r>
            <a:endParaRPr lang="en-US" sz="900" dirty="0"/>
          </a:p>
        </p:txBody>
      </p:sp>
      <p:sp>
        <p:nvSpPr>
          <p:cNvPr id="37" name="Text 14"/>
          <p:cNvSpPr/>
          <p:nvPr/>
        </p:nvSpPr>
        <p:spPr>
          <a:xfrm>
            <a:off x="9874947" y="5231062"/>
            <a:ext cx="430685" cy="22931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903"/>
              </a:lnSpc>
              <a:buNone/>
            </a:pPr>
            <a:r>
              <a:rPr lang="en-US" sz="900" b="1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OUTLIER</a:t>
            </a:r>
            <a:endParaRPr lang="en-US" sz="900" dirty="0"/>
          </a:p>
        </p:txBody>
      </p:sp>
      <p:sp>
        <p:nvSpPr>
          <p:cNvPr id="38" name="Text 15"/>
          <p:cNvSpPr/>
          <p:nvPr/>
        </p:nvSpPr>
        <p:spPr>
          <a:xfrm>
            <a:off x="573292" y="6284708"/>
            <a:ext cx="7018865" cy="1433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9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STATISTICAL ANALYSIS SYSTEM</a:t>
            </a:r>
            <a:endParaRPr lang="en-US" sz="1050" dirty="0"/>
          </a:p>
        </p:txBody>
      </p:sp>
      <p:sp>
        <p:nvSpPr>
          <p:cNvPr id="39" name="Text 16"/>
          <p:cNvSpPr/>
          <p:nvPr/>
        </p:nvSpPr>
        <p:spPr>
          <a:xfrm>
            <a:off x="10206941" y="6284708"/>
            <a:ext cx="1985059" cy="1433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9"/>
              </a:lnSpc>
              <a:buNone/>
            </a:pPr>
            <a:r>
              <a:rPr lang="en-US" sz="105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BLACK KNIGHT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43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43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160" y="332107"/>
            <a:ext cx="11195622" cy="730634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160" y="1311821"/>
            <a:ext cx="3621129" cy="1516534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213" y="1477874"/>
            <a:ext cx="398528" cy="398528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996" y="1586457"/>
            <a:ext cx="190961" cy="181361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85342" y="1311821"/>
            <a:ext cx="3621129" cy="1516534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51395" y="1477874"/>
            <a:ext cx="398528" cy="398528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55179" y="1586457"/>
            <a:ext cx="190961" cy="181361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72524" y="1311821"/>
            <a:ext cx="3621259" cy="1516534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38577" y="1477874"/>
            <a:ext cx="398528" cy="398528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17453" y="1585679"/>
            <a:ext cx="240777" cy="182918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8160" y="2994408"/>
            <a:ext cx="3621129" cy="1516663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4213" y="3160461"/>
            <a:ext cx="398528" cy="398528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7996" y="3269044"/>
            <a:ext cx="190961" cy="181361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85342" y="2994408"/>
            <a:ext cx="3621129" cy="1516663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51395" y="3160461"/>
            <a:ext cx="398528" cy="398528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55179" y="3269044"/>
            <a:ext cx="190961" cy="181361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72524" y="2994408"/>
            <a:ext cx="3621259" cy="1516663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38577" y="3160461"/>
            <a:ext cx="398528" cy="398528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17453" y="3268266"/>
            <a:ext cx="240777" cy="182918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98160" y="4677124"/>
            <a:ext cx="3621129" cy="1516663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64213" y="4843177"/>
            <a:ext cx="398528" cy="398528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67996" y="4951761"/>
            <a:ext cx="190961" cy="181361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285342" y="4677124"/>
            <a:ext cx="3621129" cy="1516663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451395" y="4843177"/>
            <a:ext cx="398528" cy="398528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542724" y="4949166"/>
            <a:ext cx="215869" cy="186421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072524" y="4677124"/>
            <a:ext cx="3621259" cy="1516663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238577" y="4843177"/>
            <a:ext cx="398528" cy="398528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329907" y="4949166"/>
            <a:ext cx="215869" cy="186421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498160" y="332107"/>
            <a:ext cx="3487989" cy="16605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08"/>
              </a:lnSpc>
              <a:buNone/>
            </a:pPr>
            <a:r>
              <a:rPr lang="en-US" sz="1050" b="1" spc="193" kern="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VISUALIZATION SUITE</a:t>
            </a:r>
            <a:endParaRPr lang="en-US" sz="1050" dirty="0"/>
          </a:p>
        </p:txBody>
      </p:sp>
      <p:sp>
        <p:nvSpPr>
          <p:cNvPr id="33" name="Text 1"/>
          <p:cNvSpPr/>
          <p:nvPr/>
        </p:nvSpPr>
        <p:spPr>
          <a:xfrm>
            <a:off x="498160" y="531370"/>
            <a:ext cx="7080885" cy="33210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615"/>
              </a:lnSpc>
              <a:buNone/>
            </a:pPr>
            <a:r>
              <a:rPr lang="en-US" sz="27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GRAPHS OVERVIEW</a:t>
            </a:r>
            <a:endParaRPr lang="en-US" sz="2700" dirty="0"/>
          </a:p>
        </p:txBody>
      </p:sp>
      <p:sp>
        <p:nvSpPr>
          <p:cNvPr id="34" name="Text 2"/>
          <p:cNvSpPr/>
          <p:nvPr/>
        </p:nvSpPr>
        <p:spPr>
          <a:xfrm>
            <a:off x="9933618" y="634894"/>
            <a:ext cx="1455365" cy="23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308"/>
              </a:lnSpc>
              <a:buNone/>
            </a:pPr>
            <a:r>
              <a:rPr lang="en-US" sz="1050" b="1" dirty="0">
                <a:solidFill>
                  <a:srgbClr val="FFFFFF"/>
                </a:solidFill>
                <a:highlight>
                  <a:srgbClr val="2E7D32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9 INTERACTIVE PLOTS</a:t>
            </a:r>
            <a:endParaRPr lang="en-US" sz="1050" dirty="0"/>
          </a:p>
        </p:txBody>
      </p:sp>
      <p:sp>
        <p:nvSpPr>
          <p:cNvPr id="35" name="Text 3"/>
          <p:cNvSpPr/>
          <p:nvPr/>
        </p:nvSpPr>
        <p:spPr>
          <a:xfrm>
            <a:off x="664213" y="1976034"/>
            <a:ext cx="2989707" cy="23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31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Histogram</a:t>
            </a:r>
            <a:endParaRPr lang="en-US" sz="1350" dirty="0"/>
          </a:p>
        </p:txBody>
      </p:sp>
      <p:sp>
        <p:nvSpPr>
          <p:cNvPr id="36" name="Text 4"/>
          <p:cNvSpPr/>
          <p:nvPr/>
        </p:nvSpPr>
        <p:spPr>
          <a:xfrm>
            <a:off x="664213" y="2241719"/>
            <a:ext cx="3289022" cy="33210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08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Frequency distribution with Mean/Median lines and bin control.</a:t>
            </a:r>
            <a:endParaRPr lang="en-US" sz="1050" dirty="0"/>
          </a:p>
        </p:txBody>
      </p:sp>
      <p:sp>
        <p:nvSpPr>
          <p:cNvPr id="37" name="Text 5"/>
          <p:cNvSpPr/>
          <p:nvPr/>
        </p:nvSpPr>
        <p:spPr>
          <a:xfrm>
            <a:off x="4451395" y="1976034"/>
            <a:ext cx="2517648" cy="23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31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Boxplot</a:t>
            </a:r>
            <a:endParaRPr lang="en-US" sz="1350" dirty="0"/>
          </a:p>
        </p:txBody>
      </p:sp>
      <p:sp>
        <p:nvSpPr>
          <p:cNvPr id="38" name="Text 6"/>
          <p:cNvSpPr/>
          <p:nvPr/>
        </p:nvSpPr>
        <p:spPr>
          <a:xfrm>
            <a:off x="4451395" y="2241719"/>
            <a:ext cx="3289022" cy="33210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08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Five-number summary showing outliers, IQR, and Mean diamond.</a:t>
            </a:r>
            <a:endParaRPr lang="en-US" sz="1050" dirty="0"/>
          </a:p>
        </p:txBody>
      </p:sp>
      <p:sp>
        <p:nvSpPr>
          <p:cNvPr id="39" name="Text 7"/>
          <p:cNvSpPr/>
          <p:nvPr/>
        </p:nvSpPr>
        <p:spPr>
          <a:xfrm>
            <a:off x="8238577" y="1976034"/>
            <a:ext cx="3697795" cy="23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31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Density Plot</a:t>
            </a:r>
            <a:endParaRPr lang="en-US" sz="1350" dirty="0"/>
          </a:p>
        </p:txBody>
      </p:sp>
      <p:sp>
        <p:nvSpPr>
          <p:cNvPr id="40" name="Text 8"/>
          <p:cNvSpPr/>
          <p:nvPr/>
        </p:nvSpPr>
        <p:spPr>
          <a:xfrm>
            <a:off x="8238577" y="2241719"/>
            <a:ext cx="3289153" cy="33210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08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Smooth probability curve with adjustable bandwidth smoothness.</a:t>
            </a:r>
            <a:endParaRPr lang="en-US" sz="1050" dirty="0"/>
          </a:p>
        </p:txBody>
      </p:sp>
      <p:sp>
        <p:nvSpPr>
          <p:cNvPr id="41" name="Text 9"/>
          <p:cNvSpPr/>
          <p:nvPr/>
        </p:nvSpPr>
        <p:spPr>
          <a:xfrm>
            <a:off x="664213" y="3658621"/>
            <a:ext cx="2517648" cy="23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31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SD Plot</a:t>
            </a:r>
            <a:endParaRPr lang="en-US" sz="1350" dirty="0"/>
          </a:p>
        </p:txBody>
      </p:sp>
      <p:sp>
        <p:nvSpPr>
          <p:cNvPr id="42" name="Text 10"/>
          <p:cNvSpPr/>
          <p:nvPr/>
        </p:nvSpPr>
        <p:spPr>
          <a:xfrm>
            <a:off x="664213" y="3924306"/>
            <a:ext cx="3289022" cy="33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08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Highlighted standard deviation regions and percentage coverage.</a:t>
            </a:r>
            <a:endParaRPr lang="en-US" sz="1050" dirty="0"/>
          </a:p>
        </p:txBody>
      </p:sp>
      <p:sp>
        <p:nvSpPr>
          <p:cNvPr id="43" name="Text 11"/>
          <p:cNvSpPr/>
          <p:nvPr/>
        </p:nvSpPr>
        <p:spPr>
          <a:xfrm>
            <a:off x="4451395" y="3658621"/>
            <a:ext cx="3697795" cy="23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31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Normal Curve</a:t>
            </a:r>
            <a:endParaRPr lang="en-US" sz="1350" dirty="0"/>
          </a:p>
        </p:txBody>
      </p:sp>
      <p:sp>
        <p:nvSpPr>
          <p:cNvPr id="44" name="Text 12"/>
          <p:cNvSpPr/>
          <p:nvPr/>
        </p:nvSpPr>
        <p:spPr>
          <a:xfrm>
            <a:off x="4451395" y="3924306"/>
            <a:ext cx="3289022" cy="33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08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Theoretical vs. Empirical data comparison with 68-95-99.7 rule.</a:t>
            </a:r>
            <a:endParaRPr lang="en-US" sz="1050" dirty="0"/>
          </a:p>
        </p:txBody>
      </p:sp>
      <p:sp>
        <p:nvSpPr>
          <p:cNvPr id="45" name="Text 13"/>
          <p:cNvSpPr/>
          <p:nvPr/>
        </p:nvSpPr>
        <p:spPr>
          <a:xfrm>
            <a:off x="8238577" y="3658621"/>
            <a:ext cx="2753678" cy="23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31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Q-Q Plot</a:t>
            </a:r>
            <a:endParaRPr lang="en-US" sz="1350" dirty="0"/>
          </a:p>
        </p:txBody>
      </p:sp>
      <p:sp>
        <p:nvSpPr>
          <p:cNvPr id="46" name="Text 14"/>
          <p:cNvSpPr/>
          <p:nvPr/>
        </p:nvSpPr>
        <p:spPr>
          <a:xfrm>
            <a:off x="8238577" y="3924306"/>
            <a:ext cx="3289153" cy="33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08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Quantile-Quantile analysis with Shapiro-Wilk normality testing.</a:t>
            </a:r>
            <a:endParaRPr lang="en-US" sz="1050" dirty="0"/>
          </a:p>
        </p:txBody>
      </p:sp>
      <p:sp>
        <p:nvSpPr>
          <p:cNvPr id="47" name="Text 15"/>
          <p:cNvSpPr/>
          <p:nvPr/>
        </p:nvSpPr>
        <p:spPr>
          <a:xfrm>
            <a:off x="664213" y="5341337"/>
            <a:ext cx="1809559" cy="23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31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 ECDF</a:t>
            </a:r>
            <a:endParaRPr lang="en-US" sz="1350" dirty="0"/>
          </a:p>
        </p:txBody>
      </p:sp>
      <p:sp>
        <p:nvSpPr>
          <p:cNvPr id="48" name="Text 16"/>
          <p:cNvSpPr/>
          <p:nvPr/>
        </p:nvSpPr>
        <p:spPr>
          <a:xfrm>
            <a:off x="664213" y="5607022"/>
            <a:ext cx="3289022" cy="33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08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Empirical Cumulative Distribution for direct percentile reading.</a:t>
            </a:r>
            <a:endParaRPr lang="en-US" sz="1050" dirty="0"/>
          </a:p>
        </p:txBody>
      </p:sp>
      <p:sp>
        <p:nvSpPr>
          <p:cNvPr id="49" name="Text 17"/>
          <p:cNvSpPr/>
          <p:nvPr/>
        </p:nvSpPr>
        <p:spPr>
          <a:xfrm>
            <a:off x="4451395" y="5341337"/>
            <a:ext cx="3461766" cy="23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31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 Correlation</a:t>
            </a:r>
            <a:endParaRPr lang="en-US" sz="1350" dirty="0"/>
          </a:p>
        </p:txBody>
      </p:sp>
      <p:sp>
        <p:nvSpPr>
          <p:cNvPr id="50" name="Text 18"/>
          <p:cNvSpPr/>
          <p:nvPr/>
        </p:nvSpPr>
        <p:spPr>
          <a:xfrm>
            <a:off x="4451395" y="5607022"/>
            <a:ext cx="3289022" cy="33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08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Scatter plot with Pearson r, R², and significance testing.</a:t>
            </a:r>
            <a:endParaRPr lang="en-US" sz="1050" dirty="0"/>
          </a:p>
        </p:txBody>
      </p:sp>
      <p:sp>
        <p:nvSpPr>
          <p:cNvPr id="51" name="Text 19"/>
          <p:cNvSpPr/>
          <p:nvPr/>
        </p:nvSpPr>
        <p:spPr>
          <a:xfrm>
            <a:off x="8238577" y="5341337"/>
            <a:ext cx="3225736" cy="23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31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 Regression</a:t>
            </a:r>
            <a:endParaRPr lang="en-US" sz="1350" dirty="0"/>
          </a:p>
        </p:txBody>
      </p:sp>
      <p:sp>
        <p:nvSpPr>
          <p:cNvPr id="52" name="Text 20"/>
          <p:cNvSpPr/>
          <p:nvPr/>
        </p:nvSpPr>
        <p:spPr>
          <a:xfrm>
            <a:off x="8238577" y="5607022"/>
            <a:ext cx="3289153" cy="33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08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Linear modeling and n-point forecasting for future trends.</a:t>
            </a:r>
            <a:endParaRPr lang="en-US" sz="1050" dirty="0"/>
          </a:p>
        </p:txBody>
      </p:sp>
      <p:sp>
        <p:nvSpPr>
          <p:cNvPr id="53" name="Text 21"/>
          <p:cNvSpPr/>
          <p:nvPr/>
        </p:nvSpPr>
        <p:spPr>
          <a:xfrm>
            <a:off x="498160" y="6393051"/>
            <a:ext cx="4668150" cy="1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46"/>
              </a:lnSpc>
              <a:buNone/>
            </a:pPr>
            <a:r>
              <a:rPr lang="en-US" sz="900" spc="83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POWERED BY GGPLOT2 &amp; THEMATIC</a:t>
            </a:r>
            <a:endParaRPr lang="en-US" sz="900" dirty="0"/>
          </a:p>
        </p:txBody>
      </p:sp>
      <p:sp>
        <p:nvSpPr>
          <p:cNvPr id="54" name="Text 22"/>
          <p:cNvSpPr/>
          <p:nvPr/>
        </p:nvSpPr>
        <p:spPr>
          <a:xfrm>
            <a:off x="8382447" y="6393051"/>
            <a:ext cx="3809553" cy="1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46"/>
              </a:lnSpc>
              <a:buNone/>
            </a:pPr>
            <a:r>
              <a:rPr lang="en-US" sz="900" spc="83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SCIENTIFIC COMPUTATION • TEAM BLACK KNIGHT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86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87" y="1853913"/>
            <a:ext cx="3438408" cy="87313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984" y="2196642"/>
            <a:ext cx="187676" cy="187676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587" y="2914723"/>
            <a:ext cx="3438408" cy="873134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984" y="3257452"/>
            <a:ext cx="187676" cy="187676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587" y="3975534"/>
            <a:ext cx="3438408" cy="873134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984" y="4320339"/>
            <a:ext cx="164217" cy="183522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587" y="5036344"/>
            <a:ext cx="3438408" cy="1532444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76789" y="2272030"/>
            <a:ext cx="7189610" cy="3878641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27024" y="2522265"/>
            <a:ext cx="6670324" cy="3127936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82804" y="5822238"/>
            <a:ext cx="125117" cy="31279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78995" y="5822238"/>
            <a:ext cx="125117" cy="31279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625587" y="469190"/>
            <a:ext cx="10940811" cy="15639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1"/>
              </a:lnSpc>
              <a:buNone/>
            </a:pPr>
            <a:r>
              <a:rPr lang="en-US" sz="1050" b="1" spc="256" kern="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VISUALIZING DATA DISTRIBUTION</a:t>
            </a:r>
            <a:endParaRPr lang="en-US" sz="1050" dirty="0"/>
          </a:p>
        </p:txBody>
      </p:sp>
      <p:sp>
        <p:nvSpPr>
          <p:cNvPr id="15" name="Text 1"/>
          <p:cNvSpPr/>
          <p:nvPr/>
        </p:nvSpPr>
        <p:spPr>
          <a:xfrm>
            <a:off x="625587" y="688146"/>
            <a:ext cx="10940811" cy="5714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Graph: </a:t>
            </a:r>
            <a:pPr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Histogram</a:t>
            </a:r>
            <a:endParaRPr lang="en-US" sz="3600" dirty="0"/>
          </a:p>
        </p:txBody>
      </p:sp>
      <p:sp>
        <p:nvSpPr>
          <p:cNvPr id="16" name="Text 2"/>
          <p:cNvSpPr/>
          <p:nvPr/>
        </p:nvSpPr>
        <p:spPr>
          <a:xfrm>
            <a:off x="625587" y="1322164"/>
            <a:ext cx="11566413" cy="21895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24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Identifying data shape, skewness, and central tendency at a glance.</a:t>
            </a:r>
            <a:endParaRPr lang="en-US" sz="1500" dirty="0"/>
          </a:p>
        </p:txBody>
      </p:sp>
      <p:sp>
        <p:nvSpPr>
          <p:cNvPr id="17" name="Text 3"/>
          <p:cNvSpPr/>
          <p:nvPr/>
        </p:nvSpPr>
        <p:spPr>
          <a:xfrm>
            <a:off x="1063498" y="1947751"/>
            <a:ext cx="3118614" cy="22848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Frequency Bins</a:t>
            </a:r>
            <a:endParaRPr lang="en-US" sz="1200" dirty="0"/>
          </a:p>
        </p:txBody>
      </p:sp>
      <p:sp>
        <p:nvSpPr>
          <p:cNvPr id="18" name="Text 4"/>
          <p:cNvSpPr/>
          <p:nvPr/>
        </p:nvSpPr>
        <p:spPr>
          <a:xfrm>
            <a:off x="1063498" y="2207516"/>
            <a:ext cx="2267754" cy="39270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1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User-controlled bin counts to reveal granularity.</a:t>
            </a:r>
            <a:endParaRPr lang="en-US" sz="1050" dirty="0"/>
          </a:p>
        </p:txBody>
      </p:sp>
      <p:sp>
        <p:nvSpPr>
          <p:cNvPr id="19" name="Text 5"/>
          <p:cNvSpPr/>
          <p:nvPr/>
        </p:nvSpPr>
        <p:spPr>
          <a:xfrm>
            <a:off x="1063498" y="3008561"/>
            <a:ext cx="3341372" cy="22848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 Line (Red)</a:t>
            </a:r>
            <a:endParaRPr lang="en-US" sz="1200" dirty="0"/>
          </a:p>
        </p:txBody>
      </p:sp>
      <p:sp>
        <p:nvSpPr>
          <p:cNvPr id="20" name="Text 6"/>
          <p:cNvSpPr/>
          <p:nvPr/>
        </p:nvSpPr>
        <p:spPr>
          <a:xfrm>
            <a:off x="1063498" y="3268327"/>
            <a:ext cx="2510169" cy="3927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1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Visualizes the arithmetic average of the data.</a:t>
            </a:r>
            <a:endParaRPr lang="en-US" sz="1050" dirty="0"/>
          </a:p>
        </p:txBody>
      </p:sp>
      <p:sp>
        <p:nvSpPr>
          <p:cNvPr id="21" name="Text 7"/>
          <p:cNvSpPr/>
          <p:nvPr/>
        </p:nvSpPr>
        <p:spPr>
          <a:xfrm>
            <a:off x="1040039" y="4069372"/>
            <a:ext cx="4232404" cy="22848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Line (Green)</a:t>
            </a:r>
            <a:endParaRPr lang="en-US" sz="1200" dirty="0"/>
          </a:p>
        </p:txBody>
      </p:sp>
      <p:sp>
        <p:nvSpPr>
          <p:cNvPr id="22" name="Text 8"/>
          <p:cNvSpPr/>
          <p:nvPr/>
        </p:nvSpPr>
        <p:spPr>
          <a:xfrm>
            <a:off x="1040039" y="4329137"/>
            <a:ext cx="2533628" cy="3927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1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Shows the 50th percentile for skewness detection.</a:t>
            </a:r>
            <a:endParaRPr lang="en-US" sz="1050" dirty="0"/>
          </a:p>
        </p:txBody>
      </p:sp>
      <p:sp>
        <p:nvSpPr>
          <p:cNvPr id="23" name="Text 9"/>
          <p:cNvSpPr/>
          <p:nvPr/>
        </p:nvSpPr>
        <p:spPr>
          <a:xfrm>
            <a:off x="813263" y="5224020"/>
            <a:ext cx="3118614" cy="22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Insight</a:t>
            </a:r>
            <a:endParaRPr lang="en-US" sz="1200" dirty="0"/>
          </a:p>
        </p:txBody>
      </p:sp>
      <p:sp>
        <p:nvSpPr>
          <p:cNvPr id="24" name="Text 10"/>
          <p:cNvSpPr/>
          <p:nvPr/>
        </p:nvSpPr>
        <p:spPr>
          <a:xfrm>
            <a:off x="813263" y="5515065"/>
            <a:ext cx="3063056" cy="86604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comparing the gap between the </a:t>
            </a:r>
            <a:pPr indent="0" marL="0">
              <a:lnSpc>
                <a:spcPts val="1706"/>
              </a:lnSpc>
              <a:buNone/>
            </a:pPr>
            <a:r>
              <a:rPr lang="en-US" sz="1050" b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indent="0" marL="0">
              <a:lnSpc>
                <a:spcPts val="1706"/>
              </a:lnSpc>
              <a:buNone/>
            </a:pPr>
            <a:r>
              <a:rPr lang="en-US" sz="1050" b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lines, users can instantly determine if the distribution is symmetric, right-skewed, or left-skewed.</a:t>
            </a:r>
            <a:endParaRPr lang="en-US" sz="1050" dirty="0"/>
          </a:p>
        </p:txBody>
      </p:sp>
      <p:sp>
        <p:nvSpPr>
          <p:cNvPr id="25" name="Text 11"/>
          <p:cNvSpPr/>
          <p:nvPr/>
        </p:nvSpPr>
        <p:spPr>
          <a:xfrm>
            <a:off x="7070479" y="5775318"/>
            <a:ext cx="2283275" cy="12511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85"/>
              </a:lnSpc>
              <a:buNone/>
            </a:pPr>
            <a:r>
              <a:rPr lang="en-US" sz="900" b="1" spc="-44" kern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MEAN: 44.58</a:t>
            </a:r>
            <a:endParaRPr lang="en-US" sz="900" dirty="0"/>
          </a:p>
        </p:txBody>
      </p:sp>
      <p:sp>
        <p:nvSpPr>
          <p:cNvPr id="26" name="Text 12"/>
          <p:cNvSpPr/>
          <p:nvPr/>
        </p:nvSpPr>
        <p:spPr>
          <a:xfrm>
            <a:off x="8266671" y="5775318"/>
            <a:ext cx="2617412" cy="12511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85"/>
              </a:lnSpc>
              <a:buNone/>
            </a:pPr>
            <a:r>
              <a:rPr lang="en-US" sz="900" b="1" spc="-44" kern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MEDIAN: 42.50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85925"/>
            <a:ext cx="5372100" cy="4572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914525"/>
            <a:ext cx="190500" cy="190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295525"/>
            <a:ext cx="4972050" cy="31813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5686425"/>
            <a:ext cx="114300" cy="1143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5650" y="5686425"/>
            <a:ext cx="114300" cy="1143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0" y="1685925"/>
            <a:ext cx="5372100" cy="45720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8900" y="1914525"/>
            <a:ext cx="238125" cy="1905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8900" y="2295525"/>
            <a:ext cx="4972050" cy="31813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5724525"/>
            <a:ext cx="114300" cy="381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72550" y="5724525"/>
            <a:ext cx="114300" cy="381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6257925"/>
            <a:ext cx="11049000" cy="4191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571500" y="381000"/>
            <a:ext cx="1104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spc="168" kern="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ANALYSIS TOOLS</a:t>
            </a:r>
            <a:endParaRPr lang="en-US" sz="1050" dirty="0"/>
          </a:p>
        </p:txBody>
      </p:sp>
      <p:sp>
        <p:nvSpPr>
          <p:cNvPr id="15" name="Text 1"/>
          <p:cNvSpPr/>
          <p:nvPr/>
        </p:nvSpPr>
        <p:spPr>
          <a:xfrm>
            <a:off x="571500" y="609600"/>
            <a:ext cx="1162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375"/>
              </a:lnSpc>
              <a:buNone/>
            </a:pPr>
            <a:r>
              <a:rPr lang="en-US" sz="27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Graph: Boxplot and Density Plot</a:t>
            </a:r>
            <a:endParaRPr lang="en-US" sz="2700" dirty="0"/>
          </a:p>
        </p:txBody>
      </p:sp>
      <p:sp>
        <p:nvSpPr>
          <p:cNvPr id="16" name="Text 2"/>
          <p:cNvSpPr/>
          <p:nvPr/>
        </p:nvSpPr>
        <p:spPr>
          <a:xfrm>
            <a:off x="571500" y="1114425"/>
            <a:ext cx="1162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structural and distributional visualizations for identifying outliers and density patterns.</a:t>
            </a:r>
            <a:endParaRPr lang="en-US" sz="1350" dirty="0"/>
          </a:p>
        </p:txBody>
      </p:sp>
      <p:sp>
        <p:nvSpPr>
          <p:cNvPr id="17" name="Text 3"/>
          <p:cNvSpPr/>
          <p:nvPr/>
        </p:nvSpPr>
        <p:spPr>
          <a:xfrm>
            <a:off x="1066800" y="1876425"/>
            <a:ext cx="4114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Boxplot (Whiskers)</a:t>
            </a:r>
            <a:endParaRPr lang="en-US" sz="1500" dirty="0"/>
          </a:p>
        </p:txBody>
      </p:sp>
      <p:sp>
        <p:nvSpPr>
          <p:cNvPr id="18" name="Text 4"/>
          <p:cNvSpPr/>
          <p:nvPr/>
        </p:nvSpPr>
        <p:spPr>
          <a:xfrm>
            <a:off x="952500" y="5648325"/>
            <a:ext cx="30403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Five-Number Summary</a:t>
            </a:r>
            <a:endParaRPr lang="en-US" sz="1050" dirty="0"/>
          </a:p>
        </p:txBody>
      </p:sp>
      <p:sp>
        <p:nvSpPr>
          <p:cNvPr id="19" name="Text 5"/>
          <p:cNvSpPr/>
          <p:nvPr/>
        </p:nvSpPr>
        <p:spPr>
          <a:xfrm>
            <a:off x="3486150" y="5648325"/>
            <a:ext cx="2720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Outlier Detection</a:t>
            </a:r>
            <a:endParaRPr lang="en-US" sz="1050" dirty="0"/>
          </a:p>
        </p:txBody>
      </p:sp>
      <p:sp>
        <p:nvSpPr>
          <p:cNvPr id="20" name="Text 6"/>
          <p:cNvSpPr/>
          <p:nvPr/>
        </p:nvSpPr>
        <p:spPr>
          <a:xfrm>
            <a:off x="762000" y="5915025"/>
            <a:ext cx="90525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Displays Quartiles, Median, and extreme values via Tukey's method.</a:t>
            </a:r>
            <a:endParaRPr lang="en-US" sz="900" dirty="0"/>
          </a:p>
        </p:txBody>
      </p:sp>
      <p:sp>
        <p:nvSpPr>
          <p:cNvPr id="21" name="Text 7"/>
          <p:cNvSpPr/>
          <p:nvPr/>
        </p:nvSpPr>
        <p:spPr>
          <a:xfrm>
            <a:off x="6791325" y="1876425"/>
            <a:ext cx="2743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Density Plot</a:t>
            </a:r>
            <a:endParaRPr lang="en-US" sz="1500" dirty="0"/>
          </a:p>
        </p:txBody>
      </p:sp>
      <p:sp>
        <p:nvSpPr>
          <p:cNvPr id="22" name="Text 8"/>
          <p:cNvSpPr/>
          <p:nvPr/>
        </p:nvSpPr>
        <p:spPr>
          <a:xfrm>
            <a:off x="6629400" y="5648325"/>
            <a:ext cx="2720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Probability Curve</a:t>
            </a:r>
            <a:endParaRPr lang="en-US" sz="1050" dirty="0"/>
          </a:p>
        </p:txBody>
      </p:sp>
      <p:sp>
        <p:nvSpPr>
          <p:cNvPr id="23" name="Text 9"/>
          <p:cNvSpPr/>
          <p:nvPr/>
        </p:nvSpPr>
        <p:spPr>
          <a:xfrm>
            <a:off x="9163050" y="5648325"/>
            <a:ext cx="2720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Mean/Median Lines</a:t>
            </a:r>
            <a:endParaRPr lang="en-US" sz="1050" dirty="0"/>
          </a:p>
        </p:txBody>
      </p:sp>
      <p:sp>
        <p:nvSpPr>
          <p:cNvPr id="24" name="Text 10"/>
          <p:cNvSpPr/>
          <p:nvPr/>
        </p:nvSpPr>
        <p:spPr>
          <a:xfrm>
            <a:off x="6438900" y="5915025"/>
            <a:ext cx="575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Visualizes smooth probability distribution with bandwidth control.</a:t>
            </a:r>
            <a:endParaRPr lang="en-US" sz="900" dirty="0"/>
          </a:p>
        </p:txBody>
      </p:sp>
      <p:sp>
        <p:nvSpPr>
          <p:cNvPr id="25" name="Text 11"/>
          <p:cNvSpPr/>
          <p:nvPr/>
        </p:nvSpPr>
        <p:spPr>
          <a:xfrm>
            <a:off x="571500" y="6486525"/>
            <a:ext cx="52806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STATISTICAL ANALYSIS SYSTEM</a:t>
            </a:r>
            <a:endParaRPr lang="en-US" sz="1050" dirty="0"/>
          </a:p>
        </p:txBody>
      </p:sp>
      <p:sp>
        <p:nvSpPr>
          <p:cNvPr id="26" name="Text 12"/>
          <p:cNvSpPr/>
          <p:nvPr/>
        </p:nvSpPr>
        <p:spPr>
          <a:xfrm>
            <a:off x="8896350" y="6486525"/>
            <a:ext cx="3295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Black Knight • Scientific Computation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71500"/>
            <a:ext cx="10668000" cy="800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828800"/>
            <a:ext cx="3352800" cy="35814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2133600"/>
            <a:ext cx="457200" cy="4572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1100" y="2247900"/>
            <a:ext cx="228600" cy="2286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9600" y="1828800"/>
            <a:ext cx="3352800" cy="35814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24400" y="2133600"/>
            <a:ext cx="457200" cy="4572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0125" y="2247900"/>
            <a:ext cx="285750" cy="2286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24400" y="3981450"/>
            <a:ext cx="2743200" cy="1143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24400" y="4438650"/>
            <a:ext cx="2743200" cy="1143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24400" y="4895850"/>
            <a:ext cx="2743200" cy="1143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77200" y="1828800"/>
            <a:ext cx="3352800" cy="35814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82000" y="2133600"/>
            <a:ext cx="457200" cy="4572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96300" y="2247900"/>
            <a:ext cx="228600" cy="2286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82000" y="4591050"/>
            <a:ext cx="133350" cy="1333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2000" y="5867400"/>
            <a:ext cx="10668000" cy="4191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1066800" y="571500"/>
            <a:ext cx="1112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Normality Analysis Tools</a:t>
            </a:r>
            <a:endParaRPr lang="en-US" sz="3600" dirty="0"/>
          </a:p>
        </p:txBody>
      </p:sp>
      <p:sp>
        <p:nvSpPr>
          <p:cNvPr id="19" name="Text 1"/>
          <p:cNvSpPr/>
          <p:nvPr/>
        </p:nvSpPr>
        <p:spPr>
          <a:xfrm>
            <a:off x="1066800" y="1104900"/>
            <a:ext cx="11125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SD Plot, Normal Curve, and Q-Q Plot Implementation</a:t>
            </a:r>
            <a:endParaRPr lang="en-US" sz="1500" dirty="0"/>
          </a:p>
        </p:txBody>
      </p:sp>
      <p:sp>
        <p:nvSpPr>
          <p:cNvPr id="20" name="Text 2"/>
          <p:cNvSpPr/>
          <p:nvPr/>
        </p:nvSpPr>
        <p:spPr>
          <a:xfrm>
            <a:off x="1676400" y="2209800"/>
            <a:ext cx="19202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SD Plot</a:t>
            </a:r>
            <a:endParaRPr lang="en-US" sz="1800" dirty="0"/>
          </a:p>
        </p:txBody>
      </p:sp>
      <p:sp>
        <p:nvSpPr>
          <p:cNvPr id="21" name="Text 3"/>
          <p:cNvSpPr/>
          <p:nvPr/>
        </p:nvSpPr>
        <p:spPr>
          <a:xfrm>
            <a:off x="1066800" y="2819400"/>
            <a:ext cx="27432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Visualizes data spread by highlighting Standard Deviation regions over a standard histogram.</a:t>
            </a:r>
            <a:endParaRPr lang="en-US" sz="1200" dirty="0"/>
          </a:p>
        </p:txBody>
      </p:sp>
      <p:sp>
        <p:nvSpPr>
          <p:cNvPr id="22" name="Text 4"/>
          <p:cNvSpPr/>
          <p:nvPr/>
        </p:nvSpPr>
        <p:spPr>
          <a:xfrm>
            <a:off x="1066800" y="371475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Shaded regions for Mean ± k×SD</a:t>
            </a:r>
            <a:endParaRPr lang="en-US" sz="1050" dirty="0"/>
          </a:p>
        </p:txBody>
      </p:sp>
      <p:sp>
        <p:nvSpPr>
          <p:cNvPr id="23" name="Text 5"/>
          <p:cNvSpPr/>
          <p:nvPr/>
        </p:nvSpPr>
        <p:spPr>
          <a:xfrm>
            <a:off x="1066800" y="405765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User-controlled "k" multiplier</a:t>
            </a:r>
            <a:endParaRPr lang="en-US" sz="1050" dirty="0"/>
          </a:p>
        </p:txBody>
      </p:sp>
      <p:sp>
        <p:nvSpPr>
          <p:cNvPr id="24" name="Text 6"/>
          <p:cNvSpPr/>
          <p:nvPr/>
        </p:nvSpPr>
        <p:spPr>
          <a:xfrm>
            <a:off x="1066800" y="440055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Calculates % of data within region</a:t>
            </a:r>
            <a:endParaRPr lang="en-US" sz="1050" dirty="0"/>
          </a:p>
        </p:txBody>
      </p:sp>
      <p:sp>
        <p:nvSpPr>
          <p:cNvPr id="25" name="Text 7"/>
          <p:cNvSpPr/>
          <p:nvPr/>
        </p:nvSpPr>
        <p:spPr>
          <a:xfrm>
            <a:off x="5334000" y="2209800"/>
            <a:ext cx="32918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 Curve</a:t>
            </a:r>
            <a:endParaRPr lang="en-US" sz="1800" dirty="0"/>
          </a:p>
        </p:txBody>
      </p:sp>
      <p:sp>
        <p:nvSpPr>
          <p:cNvPr id="26" name="Text 8"/>
          <p:cNvSpPr/>
          <p:nvPr/>
        </p:nvSpPr>
        <p:spPr>
          <a:xfrm>
            <a:off x="4724400" y="2819400"/>
            <a:ext cx="27432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Theoretical distribution overlaid on actual data to demonstrate the </a:t>
            </a:r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Empirical Rule</a:t>
            </a:r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 dirty="0"/>
          </a:p>
        </p:txBody>
      </p:sp>
      <p:sp>
        <p:nvSpPr>
          <p:cNvPr id="27" name="Text 9"/>
          <p:cNvSpPr/>
          <p:nvPr/>
        </p:nvSpPr>
        <p:spPr>
          <a:xfrm>
            <a:off x="4724400" y="3790950"/>
            <a:ext cx="5029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±1σ</a:t>
            </a:r>
            <a:endParaRPr lang="en-US" sz="900" dirty="0"/>
          </a:p>
        </p:txBody>
      </p:sp>
      <p:sp>
        <p:nvSpPr>
          <p:cNvPr id="28" name="Text 10"/>
          <p:cNvSpPr/>
          <p:nvPr/>
        </p:nvSpPr>
        <p:spPr>
          <a:xfrm>
            <a:off x="7086600" y="3790950"/>
            <a:ext cx="9601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68.2%</a:t>
            </a:r>
            <a:endParaRPr lang="en-US" sz="900" dirty="0"/>
          </a:p>
        </p:txBody>
      </p:sp>
      <p:sp>
        <p:nvSpPr>
          <p:cNvPr id="29" name="Text 11"/>
          <p:cNvSpPr/>
          <p:nvPr/>
        </p:nvSpPr>
        <p:spPr>
          <a:xfrm>
            <a:off x="4724400" y="4248150"/>
            <a:ext cx="5029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±2σ</a:t>
            </a:r>
            <a:endParaRPr lang="en-US" sz="900" dirty="0"/>
          </a:p>
        </p:txBody>
      </p:sp>
      <p:sp>
        <p:nvSpPr>
          <p:cNvPr id="30" name="Text 12"/>
          <p:cNvSpPr/>
          <p:nvPr/>
        </p:nvSpPr>
        <p:spPr>
          <a:xfrm>
            <a:off x="7096125" y="4248150"/>
            <a:ext cx="9601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95.4%</a:t>
            </a:r>
            <a:endParaRPr lang="en-US" sz="900" dirty="0"/>
          </a:p>
        </p:txBody>
      </p:sp>
      <p:sp>
        <p:nvSpPr>
          <p:cNvPr id="31" name="Text 13"/>
          <p:cNvSpPr/>
          <p:nvPr/>
        </p:nvSpPr>
        <p:spPr>
          <a:xfrm>
            <a:off x="4724400" y="4705350"/>
            <a:ext cx="5029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±3σ</a:t>
            </a:r>
            <a:endParaRPr lang="en-US" sz="900" dirty="0"/>
          </a:p>
        </p:txBody>
      </p:sp>
      <p:sp>
        <p:nvSpPr>
          <p:cNvPr id="32" name="Text 14"/>
          <p:cNvSpPr/>
          <p:nvPr/>
        </p:nvSpPr>
        <p:spPr>
          <a:xfrm>
            <a:off x="7096125" y="4705350"/>
            <a:ext cx="9601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99.7%</a:t>
            </a:r>
            <a:endParaRPr lang="en-US" sz="900" dirty="0"/>
          </a:p>
        </p:txBody>
      </p:sp>
      <p:sp>
        <p:nvSpPr>
          <p:cNvPr id="33" name="Text 15"/>
          <p:cNvSpPr/>
          <p:nvPr/>
        </p:nvSpPr>
        <p:spPr>
          <a:xfrm>
            <a:off x="8991600" y="2209800"/>
            <a:ext cx="21945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Q-Q Plot</a:t>
            </a:r>
            <a:endParaRPr lang="en-US" sz="1800" dirty="0"/>
          </a:p>
        </p:txBody>
      </p:sp>
      <p:sp>
        <p:nvSpPr>
          <p:cNvPr id="34" name="Text 16"/>
          <p:cNvSpPr/>
          <p:nvPr/>
        </p:nvSpPr>
        <p:spPr>
          <a:xfrm>
            <a:off x="8382000" y="2819400"/>
            <a:ext cx="27432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ultimate diagnostic tool for checking if data follows a normal distribution.</a:t>
            </a:r>
            <a:endParaRPr lang="en-US" sz="1200" dirty="0"/>
          </a:p>
        </p:txBody>
      </p:sp>
      <p:sp>
        <p:nvSpPr>
          <p:cNvPr id="35" name="Text 17"/>
          <p:cNvSpPr/>
          <p:nvPr/>
        </p:nvSpPr>
        <p:spPr>
          <a:xfrm>
            <a:off x="8382000" y="3714750"/>
            <a:ext cx="2743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Compares Sample vs. Theoretical Quantiles</a:t>
            </a:r>
            <a:endParaRPr lang="en-US" sz="1050" dirty="0"/>
          </a:p>
        </p:txBody>
      </p:sp>
      <p:sp>
        <p:nvSpPr>
          <p:cNvPr id="36" name="Text 18"/>
          <p:cNvSpPr/>
          <p:nvPr/>
        </p:nvSpPr>
        <p:spPr>
          <a:xfrm>
            <a:off x="8382000" y="421005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Linearity indicates Normal Distribution</a:t>
            </a:r>
            <a:endParaRPr lang="en-US" sz="1050" dirty="0"/>
          </a:p>
        </p:txBody>
      </p:sp>
      <p:sp>
        <p:nvSpPr>
          <p:cNvPr id="37" name="Text 19"/>
          <p:cNvSpPr/>
          <p:nvPr/>
        </p:nvSpPr>
        <p:spPr>
          <a:xfrm>
            <a:off x="8629650" y="4552950"/>
            <a:ext cx="3562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D84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Includes Shapiro-Wilk Test p-value</a:t>
            </a:r>
            <a:endParaRPr lang="en-US" sz="1050" dirty="0"/>
          </a:p>
        </p:txBody>
      </p:sp>
      <p:sp>
        <p:nvSpPr>
          <p:cNvPr id="38" name="Text 20"/>
          <p:cNvSpPr/>
          <p:nvPr/>
        </p:nvSpPr>
        <p:spPr>
          <a:xfrm>
            <a:off x="762000" y="6096000"/>
            <a:ext cx="25603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spc="84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ANALYTICS</a:t>
            </a:r>
            <a:endParaRPr lang="en-US" sz="1050" dirty="0"/>
          </a:p>
        </p:txBody>
      </p:sp>
      <p:sp>
        <p:nvSpPr>
          <p:cNvPr id="39" name="Text 21"/>
          <p:cNvSpPr/>
          <p:nvPr/>
        </p:nvSpPr>
        <p:spPr>
          <a:xfrm>
            <a:off x="2556570" y="6096000"/>
            <a:ext cx="1600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spc="84" kern="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050" dirty="0"/>
          </a:p>
        </p:txBody>
      </p:sp>
      <p:sp>
        <p:nvSpPr>
          <p:cNvPr id="40" name="Text 22"/>
          <p:cNvSpPr/>
          <p:nvPr/>
        </p:nvSpPr>
        <p:spPr>
          <a:xfrm>
            <a:off x="2922389" y="60960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spc="84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NORMALITY TESTS</a:t>
            </a:r>
            <a:endParaRPr lang="en-US" sz="1050" dirty="0"/>
          </a:p>
        </p:txBody>
      </p:sp>
      <p:sp>
        <p:nvSpPr>
          <p:cNvPr id="41" name="Text 23"/>
          <p:cNvSpPr/>
          <p:nvPr/>
        </p:nvSpPr>
        <p:spPr>
          <a:xfrm>
            <a:off x="8953500" y="6096000"/>
            <a:ext cx="323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Scientific Computation • Black Knight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09700"/>
            <a:ext cx="3479750" cy="4610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1657350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590800"/>
            <a:ext cx="3019425" cy="2667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5448300"/>
            <a:ext cx="104775" cy="1143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5676900"/>
            <a:ext cx="104775" cy="1143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6050" y="1409700"/>
            <a:ext cx="3479750" cy="46101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4650" y="1657350"/>
            <a:ext cx="285750" cy="2286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84650" y="2667000"/>
            <a:ext cx="3022550" cy="28194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37050" y="2819400"/>
            <a:ext cx="2717750" cy="2286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73776" y="3200400"/>
            <a:ext cx="581025" cy="21907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69001" y="3571875"/>
            <a:ext cx="685800" cy="21907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16651" y="3943350"/>
            <a:ext cx="438150" cy="219075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84650" y="5676900"/>
            <a:ext cx="114300" cy="1143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40601" y="1409700"/>
            <a:ext cx="3479899" cy="46101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69201" y="1657350"/>
            <a:ext cx="228600" cy="2286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69201" y="2476500"/>
            <a:ext cx="3022699" cy="27813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69201" y="5448300"/>
            <a:ext cx="104775" cy="1143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69201" y="5676900"/>
            <a:ext cx="104775" cy="1143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1500" y="6324600"/>
            <a:ext cx="11049000" cy="3810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042220" y="6610350"/>
            <a:ext cx="38100" cy="381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571500" y="381000"/>
            <a:ext cx="1162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Graph: ECDF, Correlation, and Regression</a:t>
            </a:r>
            <a:endParaRPr lang="en-US" sz="2700" dirty="0"/>
          </a:p>
        </p:txBody>
      </p:sp>
      <p:sp>
        <p:nvSpPr>
          <p:cNvPr id="24" name="Text 1"/>
          <p:cNvSpPr/>
          <p:nvPr/>
        </p:nvSpPr>
        <p:spPr>
          <a:xfrm>
            <a:off x="571500" y="838200"/>
            <a:ext cx="1162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visualizations for cumulative distribution, relationship analysis, and linear forecasting.</a:t>
            </a:r>
            <a:endParaRPr lang="en-US" sz="1500" dirty="0"/>
          </a:p>
        </p:txBody>
      </p:sp>
      <p:sp>
        <p:nvSpPr>
          <p:cNvPr id="25" name="Text 2"/>
          <p:cNvSpPr/>
          <p:nvPr/>
        </p:nvSpPr>
        <p:spPr>
          <a:xfrm>
            <a:off x="1143000" y="1638300"/>
            <a:ext cx="289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 ECDF Plot</a:t>
            </a:r>
            <a:endParaRPr lang="en-US" sz="1500" dirty="0"/>
          </a:p>
        </p:txBody>
      </p:sp>
      <p:sp>
        <p:nvSpPr>
          <p:cNvPr id="26" name="Text 3"/>
          <p:cNvSpPr/>
          <p:nvPr/>
        </p:nvSpPr>
        <p:spPr>
          <a:xfrm>
            <a:off x="800100" y="2057400"/>
            <a:ext cx="3022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Empirical Cumulative Distribution Function showing $F(x) = P(X \le x)$.</a:t>
            </a:r>
            <a:endParaRPr lang="en-US" sz="1050" dirty="0"/>
          </a:p>
        </p:txBody>
      </p:sp>
      <p:sp>
        <p:nvSpPr>
          <p:cNvPr id="27" name="Text 4"/>
          <p:cNvSpPr/>
          <p:nvPr/>
        </p:nvSpPr>
        <p:spPr>
          <a:xfrm>
            <a:off x="981075" y="5410200"/>
            <a:ext cx="6172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percentile reading (P25, P50, P75)</a:t>
            </a:r>
            <a:endParaRPr lang="en-US" sz="900" dirty="0"/>
          </a:p>
        </p:txBody>
      </p:sp>
      <p:sp>
        <p:nvSpPr>
          <p:cNvPr id="28" name="Text 5"/>
          <p:cNvSpPr/>
          <p:nvPr/>
        </p:nvSpPr>
        <p:spPr>
          <a:xfrm>
            <a:off x="981075" y="5638800"/>
            <a:ext cx="4800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Visualizes probability accumulation</a:t>
            </a:r>
            <a:endParaRPr lang="en-US" sz="900" dirty="0"/>
          </a:p>
        </p:txBody>
      </p:sp>
      <p:sp>
        <p:nvSpPr>
          <p:cNvPr id="29" name="Text 6"/>
          <p:cNvSpPr/>
          <p:nvPr/>
        </p:nvSpPr>
        <p:spPr>
          <a:xfrm>
            <a:off x="4984700" y="1638300"/>
            <a:ext cx="335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 Correlation</a:t>
            </a:r>
            <a:endParaRPr lang="en-US" sz="1500" dirty="0"/>
          </a:p>
        </p:txBody>
      </p:sp>
      <p:sp>
        <p:nvSpPr>
          <p:cNvPr id="30" name="Text 7"/>
          <p:cNvSpPr/>
          <p:nvPr/>
        </p:nvSpPr>
        <p:spPr>
          <a:xfrm>
            <a:off x="4584650" y="2057400"/>
            <a:ext cx="3022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Scatter Plot analysis between two variables (X and Y).</a:t>
            </a:r>
            <a:endParaRPr lang="en-US" sz="1050" dirty="0"/>
          </a:p>
        </p:txBody>
      </p:sp>
      <p:sp>
        <p:nvSpPr>
          <p:cNvPr id="31" name="Text 8"/>
          <p:cNvSpPr/>
          <p:nvPr/>
        </p:nvSpPr>
        <p:spPr>
          <a:xfrm>
            <a:off x="4737050" y="2819400"/>
            <a:ext cx="8229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</a:t>
            </a:r>
            <a:endParaRPr lang="en-US" sz="900" dirty="0"/>
          </a:p>
        </p:txBody>
      </p:sp>
      <p:sp>
        <p:nvSpPr>
          <p:cNvPr id="32" name="Text 9"/>
          <p:cNvSpPr/>
          <p:nvPr/>
        </p:nvSpPr>
        <p:spPr>
          <a:xfrm>
            <a:off x="6502301" y="2819400"/>
            <a:ext cx="19202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</a:t>
            </a:r>
            <a:endParaRPr lang="en-US" sz="900" dirty="0"/>
          </a:p>
        </p:txBody>
      </p:sp>
      <p:sp>
        <p:nvSpPr>
          <p:cNvPr id="33" name="Text 10"/>
          <p:cNvSpPr/>
          <p:nvPr/>
        </p:nvSpPr>
        <p:spPr>
          <a:xfrm>
            <a:off x="4737050" y="3214688"/>
            <a:ext cx="32537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Pearson $|r| &gt; 0.7$</a:t>
            </a:r>
            <a:endParaRPr lang="en-US" sz="1050" dirty="0"/>
          </a:p>
        </p:txBody>
      </p:sp>
      <p:sp>
        <p:nvSpPr>
          <p:cNvPr id="34" name="Text 11"/>
          <p:cNvSpPr/>
          <p:nvPr/>
        </p:nvSpPr>
        <p:spPr>
          <a:xfrm>
            <a:off x="6949976" y="3200400"/>
            <a:ext cx="50591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580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</a:t>
            </a:r>
            <a:endParaRPr lang="en-US" sz="750" dirty="0"/>
          </a:p>
        </p:txBody>
      </p:sp>
      <p:sp>
        <p:nvSpPr>
          <p:cNvPr id="35" name="Text 12"/>
          <p:cNvSpPr/>
          <p:nvPr/>
        </p:nvSpPr>
        <p:spPr>
          <a:xfrm>
            <a:off x="4737050" y="3586163"/>
            <a:ext cx="49072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Pearson $|r| \in [0.4, 0.7]$</a:t>
            </a:r>
            <a:endParaRPr lang="en-US" sz="1050" dirty="0"/>
          </a:p>
        </p:txBody>
      </p:sp>
      <p:sp>
        <p:nvSpPr>
          <p:cNvPr id="36" name="Text 13"/>
          <p:cNvSpPr/>
          <p:nvPr/>
        </p:nvSpPr>
        <p:spPr>
          <a:xfrm>
            <a:off x="6845201" y="3571875"/>
            <a:ext cx="7112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A1620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MODERATE</a:t>
            </a:r>
            <a:endParaRPr lang="en-US" sz="750" dirty="0"/>
          </a:p>
        </p:txBody>
      </p:sp>
      <p:sp>
        <p:nvSpPr>
          <p:cNvPr id="37" name="Text 14"/>
          <p:cNvSpPr/>
          <p:nvPr/>
        </p:nvSpPr>
        <p:spPr>
          <a:xfrm>
            <a:off x="4737050" y="3957638"/>
            <a:ext cx="32537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Pearson $|r| &lt; 0.4$</a:t>
            </a:r>
            <a:endParaRPr lang="en-US" sz="1050" dirty="0"/>
          </a:p>
        </p:txBody>
      </p:sp>
      <p:sp>
        <p:nvSpPr>
          <p:cNvPr id="38" name="Text 15"/>
          <p:cNvSpPr/>
          <p:nvPr/>
        </p:nvSpPr>
        <p:spPr>
          <a:xfrm>
            <a:off x="7092851" y="3943350"/>
            <a:ext cx="29817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</a:t>
            </a:r>
            <a:endParaRPr lang="en-US" sz="750" dirty="0"/>
          </a:p>
        </p:txBody>
      </p:sp>
      <p:sp>
        <p:nvSpPr>
          <p:cNvPr id="39" name="Text 16"/>
          <p:cNvSpPr/>
          <p:nvPr/>
        </p:nvSpPr>
        <p:spPr>
          <a:xfrm>
            <a:off x="4775150" y="5638800"/>
            <a:ext cx="571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Includes $R^2$ and significance (p-value)</a:t>
            </a:r>
            <a:endParaRPr lang="en-US" sz="900" dirty="0"/>
          </a:p>
        </p:txBody>
      </p:sp>
      <p:sp>
        <p:nvSpPr>
          <p:cNvPr id="40" name="Text 17"/>
          <p:cNvSpPr/>
          <p:nvPr/>
        </p:nvSpPr>
        <p:spPr>
          <a:xfrm>
            <a:off x="8712101" y="1638300"/>
            <a:ext cx="3124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 Regression</a:t>
            </a:r>
            <a:endParaRPr lang="en-US" sz="1500" dirty="0"/>
          </a:p>
        </p:txBody>
      </p:sp>
      <p:sp>
        <p:nvSpPr>
          <p:cNvPr id="41" name="Text 18"/>
          <p:cNvSpPr/>
          <p:nvPr/>
        </p:nvSpPr>
        <p:spPr>
          <a:xfrm>
            <a:off x="8369201" y="2057400"/>
            <a:ext cx="38227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Linear modeling and predictive forecasting.</a:t>
            </a:r>
            <a:endParaRPr lang="en-US" sz="1050" dirty="0"/>
          </a:p>
        </p:txBody>
      </p:sp>
      <p:sp>
        <p:nvSpPr>
          <p:cNvPr id="42" name="Text 19"/>
          <p:cNvSpPr/>
          <p:nvPr/>
        </p:nvSpPr>
        <p:spPr>
          <a:xfrm>
            <a:off x="8559701" y="3371850"/>
            <a:ext cx="2641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spc="72" kern="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LINEAR EQUATION</a:t>
            </a:r>
            <a:endParaRPr lang="en-US" sz="900" dirty="0"/>
          </a:p>
        </p:txBody>
      </p:sp>
      <p:sp>
        <p:nvSpPr>
          <p:cNvPr id="43" name="Text 20"/>
          <p:cNvSpPr/>
          <p:nvPr/>
        </p:nvSpPr>
        <p:spPr>
          <a:xfrm>
            <a:off x="8559701" y="3600450"/>
            <a:ext cx="26416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$Y = b_0 + b_1X$</a:t>
            </a:r>
            <a:endParaRPr lang="en-US" sz="1800" dirty="0"/>
          </a:p>
        </p:txBody>
      </p:sp>
      <p:sp>
        <p:nvSpPr>
          <p:cNvPr id="44" name="Text 21"/>
          <p:cNvSpPr/>
          <p:nvPr/>
        </p:nvSpPr>
        <p:spPr>
          <a:xfrm>
            <a:off x="8559701" y="4057650"/>
            <a:ext cx="26416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A7F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Forecasts next $n$ points</a:t>
            </a:r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A7F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A7F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(User-controlled parameter)</a:t>
            </a:r>
            <a:endParaRPr lang="en-US" sz="900" dirty="0"/>
          </a:p>
        </p:txBody>
      </p:sp>
      <p:sp>
        <p:nvSpPr>
          <p:cNvPr id="45" name="Text 22"/>
          <p:cNvSpPr/>
          <p:nvPr/>
        </p:nvSpPr>
        <p:spPr>
          <a:xfrm>
            <a:off x="8550176" y="5410200"/>
            <a:ext cx="36418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 (Green) vs. Forecast (Orange)</a:t>
            </a:r>
            <a:endParaRPr lang="en-US" sz="900" dirty="0"/>
          </a:p>
        </p:txBody>
      </p:sp>
      <p:sp>
        <p:nvSpPr>
          <p:cNvPr id="46" name="Text 23"/>
          <p:cNvSpPr/>
          <p:nvPr/>
        </p:nvSpPr>
        <p:spPr>
          <a:xfrm>
            <a:off x="8550176" y="5638800"/>
            <a:ext cx="36418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model performance ($R^2$)</a:t>
            </a:r>
            <a:endParaRPr lang="en-US" sz="900" dirty="0"/>
          </a:p>
        </p:txBody>
      </p:sp>
      <p:sp>
        <p:nvSpPr>
          <p:cNvPr id="47" name="Text 24"/>
          <p:cNvSpPr/>
          <p:nvPr/>
        </p:nvSpPr>
        <p:spPr>
          <a:xfrm>
            <a:off x="571500" y="6553200"/>
            <a:ext cx="28803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spc="-36" kern="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DECISION ENGINE</a:t>
            </a:r>
            <a:endParaRPr lang="en-US" sz="900" dirty="0"/>
          </a:p>
        </p:txBody>
      </p:sp>
      <p:sp>
        <p:nvSpPr>
          <p:cNvPr id="48" name="Text 25"/>
          <p:cNvSpPr/>
          <p:nvPr/>
        </p:nvSpPr>
        <p:spPr>
          <a:xfrm>
            <a:off x="2232720" y="6553200"/>
            <a:ext cx="26060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Visualization Suite</a:t>
            </a:r>
            <a:endParaRPr lang="en-US" sz="900" dirty="0"/>
          </a:p>
        </p:txBody>
      </p:sp>
      <p:sp>
        <p:nvSpPr>
          <p:cNvPr id="49" name="Text 26"/>
          <p:cNvSpPr/>
          <p:nvPr/>
        </p:nvSpPr>
        <p:spPr>
          <a:xfrm>
            <a:off x="9286875" y="6553200"/>
            <a:ext cx="2905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Black Knight | Scientific Computation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24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982" y="3019134"/>
            <a:ext cx="334425" cy="43577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630" y="3178384"/>
            <a:ext cx="127130" cy="13374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982" y="3911878"/>
            <a:ext cx="313371" cy="435778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630" y="4082194"/>
            <a:ext cx="106077" cy="11161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982" y="4804622"/>
            <a:ext cx="336449" cy="435778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630" y="4962792"/>
            <a:ext cx="129154" cy="135902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9053" y="1562808"/>
            <a:ext cx="6161889" cy="4178554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08035" y="1839201"/>
            <a:ext cx="1416515" cy="20729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15446" y="2253790"/>
            <a:ext cx="1777525" cy="695706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31168" y="2253790"/>
            <a:ext cx="1777525" cy="695706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46890" y="2253790"/>
            <a:ext cx="1777525" cy="695706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15446" y="3225889"/>
            <a:ext cx="5609104" cy="1409901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22741" y="3469352"/>
            <a:ext cx="129559" cy="169372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15446" y="4912183"/>
            <a:ext cx="5609104" cy="552786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15446" y="5050379"/>
            <a:ext cx="2666355" cy="207295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58194" y="5050379"/>
            <a:ext cx="2666355" cy="207295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0982" y="5890625"/>
            <a:ext cx="10809960" cy="449138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690982" y="518237"/>
            <a:ext cx="10809960" cy="1727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0"/>
              </a:lnSpc>
              <a:buNone/>
            </a:pPr>
            <a:r>
              <a:rPr lang="en-US" sz="1050" b="1" spc="232" kern="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ANALYSIS</a:t>
            </a:r>
            <a:endParaRPr lang="en-US" sz="1050" dirty="0"/>
          </a:p>
        </p:txBody>
      </p:sp>
      <p:sp>
        <p:nvSpPr>
          <p:cNvPr id="21" name="Text 1"/>
          <p:cNvSpPr/>
          <p:nvPr/>
        </p:nvSpPr>
        <p:spPr>
          <a:xfrm>
            <a:off x="690982" y="760081"/>
            <a:ext cx="10809960" cy="457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Report</a:t>
            </a:r>
            <a:endParaRPr lang="en-US" sz="3600" dirty="0"/>
          </a:p>
        </p:txBody>
      </p:sp>
      <p:sp>
        <p:nvSpPr>
          <p:cNvPr id="22" name="Text 2"/>
          <p:cNvSpPr/>
          <p:nvPr/>
        </p:nvSpPr>
        <p:spPr>
          <a:xfrm>
            <a:off x="690982" y="1813964"/>
            <a:ext cx="4302580" cy="92877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38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Smart Report translates complex statistical properties into clear, actionable insights and expert recommendations.</a:t>
            </a:r>
            <a:endParaRPr lang="en-US" sz="1500" dirty="0"/>
          </a:p>
        </p:txBody>
      </p:sp>
      <p:sp>
        <p:nvSpPr>
          <p:cNvPr id="23" name="Text 3"/>
          <p:cNvSpPr/>
          <p:nvPr/>
        </p:nvSpPr>
        <p:spPr>
          <a:xfrm>
            <a:off x="1163603" y="3019134"/>
            <a:ext cx="3829959" cy="22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Logic</a:t>
            </a:r>
            <a:endParaRPr lang="en-US" sz="1200" dirty="0"/>
          </a:p>
        </p:txBody>
      </p:sp>
      <p:sp>
        <p:nvSpPr>
          <p:cNvPr id="24" name="Text 4"/>
          <p:cNvSpPr/>
          <p:nvPr/>
        </p:nvSpPr>
        <p:spPr>
          <a:xfrm>
            <a:off x="1163603" y="3247617"/>
            <a:ext cx="3829959" cy="45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Instantly evaluates skewness and identifies outliers using the IQR Fence method.</a:t>
            </a:r>
            <a:endParaRPr lang="en-US" sz="1200" dirty="0"/>
          </a:p>
        </p:txBody>
      </p:sp>
      <p:sp>
        <p:nvSpPr>
          <p:cNvPr id="25" name="Text 5"/>
          <p:cNvSpPr/>
          <p:nvPr/>
        </p:nvSpPr>
        <p:spPr>
          <a:xfrm>
            <a:off x="1142550" y="3911878"/>
            <a:ext cx="5445238" cy="22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Plain-English Justification</a:t>
            </a:r>
            <a:endParaRPr lang="en-US" sz="1200" dirty="0"/>
          </a:p>
        </p:txBody>
      </p:sp>
      <p:sp>
        <p:nvSpPr>
          <p:cNvPr id="26" name="Text 6"/>
          <p:cNvSpPr/>
          <p:nvPr/>
        </p:nvSpPr>
        <p:spPr>
          <a:xfrm>
            <a:off x="1142550" y="4140361"/>
            <a:ext cx="3851012" cy="45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Explains *why* specific measures were chosen (e.g., "Median is used because data is skewed").</a:t>
            </a:r>
            <a:endParaRPr lang="en-US" sz="1200" dirty="0"/>
          </a:p>
        </p:txBody>
      </p:sp>
      <p:sp>
        <p:nvSpPr>
          <p:cNvPr id="27" name="Text 7"/>
          <p:cNvSpPr/>
          <p:nvPr/>
        </p:nvSpPr>
        <p:spPr>
          <a:xfrm>
            <a:off x="1165628" y="4804622"/>
            <a:ext cx="4436861" cy="22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Sections</a:t>
            </a:r>
            <a:endParaRPr lang="en-US" sz="1200" dirty="0"/>
          </a:p>
        </p:txBody>
      </p:sp>
      <p:sp>
        <p:nvSpPr>
          <p:cNvPr id="28" name="Text 8"/>
          <p:cNvSpPr/>
          <p:nvPr/>
        </p:nvSpPr>
        <p:spPr>
          <a:xfrm>
            <a:off x="1165628" y="5033104"/>
            <a:ext cx="3827934" cy="45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Includes Central Tendency, Dispersion, Shape, and Normality tests in one view.</a:t>
            </a:r>
            <a:endParaRPr lang="en-US" sz="1200" dirty="0"/>
          </a:p>
        </p:txBody>
      </p:sp>
      <p:sp>
        <p:nvSpPr>
          <p:cNvPr id="29" name="Text 9"/>
          <p:cNvSpPr/>
          <p:nvPr/>
        </p:nvSpPr>
        <p:spPr>
          <a:xfrm>
            <a:off x="5615446" y="1856475"/>
            <a:ext cx="3352866" cy="1727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0"/>
              </a:lnSpc>
              <a:buNone/>
            </a:pPr>
            <a:r>
              <a:rPr lang="en-US" sz="1050" b="1" spc="93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REPORT PREVIEW</a:t>
            </a:r>
            <a:endParaRPr lang="en-US" sz="1050" dirty="0"/>
          </a:p>
        </p:txBody>
      </p:sp>
      <p:sp>
        <p:nvSpPr>
          <p:cNvPr id="30" name="Text 10"/>
          <p:cNvSpPr/>
          <p:nvPr/>
        </p:nvSpPr>
        <p:spPr>
          <a:xfrm>
            <a:off x="9911683" y="1839201"/>
            <a:ext cx="2156391" cy="2072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88"/>
              </a:lnSpc>
              <a:buNone/>
            </a:pPr>
            <a:r>
              <a:rPr lang="en-US" sz="900" b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QUANTITATIVE DATA</a:t>
            </a:r>
            <a:endParaRPr lang="en-US" sz="900" dirty="0"/>
          </a:p>
        </p:txBody>
      </p:sp>
      <p:sp>
        <p:nvSpPr>
          <p:cNvPr id="31" name="Text 11"/>
          <p:cNvSpPr/>
          <p:nvPr/>
        </p:nvSpPr>
        <p:spPr>
          <a:xfrm>
            <a:off x="5753642" y="2391987"/>
            <a:ext cx="1501132" cy="14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CENTER</a:t>
            </a:r>
            <a:endParaRPr lang="en-US" sz="750" dirty="0"/>
          </a:p>
        </p:txBody>
      </p:sp>
      <p:sp>
        <p:nvSpPr>
          <p:cNvPr id="32" name="Text 12"/>
          <p:cNvSpPr/>
          <p:nvPr/>
        </p:nvSpPr>
        <p:spPr>
          <a:xfrm>
            <a:off x="5753642" y="2569456"/>
            <a:ext cx="1501132" cy="24184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04"/>
              </a:lnSpc>
              <a:buNone/>
            </a:pPr>
            <a:r>
              <a:rPr lang="en-US" sz="135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</a:t>
            </a:r>
            <a:endParaRPr lang="en-US" sz="1350" dirty="0"/>
          </a:p>
        </p:txBody>
      </p:sp>
      <p:sp>
        <p:nvSpPr>
          <p:cNvPr id="33" name="Text 13"/>
          <p:cNvSpPr/>
          <p:nvPr/>
        </p:nvSpPr>
        <p:spPr>
          <a:xfrm>
            <a:off x="7669364" y="2391987"/>
            <a:ext cx="1890716" cy="14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DISPERSION</a:t>
            </a:r>
            <a:endParaRPr lang="en-US" sz="750" dirty="0"/>
          </a:p>
        </p:txBody>
      </p:sp>
      <p:sp>
        <p:nvSpPr>
          <p:cNvPr id="34" name="Text 14"/>
          <p:cNvSpPr/>
          <p:nvPr/>
        </p:nvSpPr>
        <p:spPr>
          <a:xfrm>
            <a:off x="7669364" y="2569456"/>
            <a:ext cx="1501132" cy="24184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04"/>
              </a:lnSpc>
              <a:buNone/>
            </a:pPr>
            <a:r>
              <a:rPr lang="en-US" sz="135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IQR</a:t>
            </a:r>
            <a:endParaRPr lang="en-US" sz="1350" dirty="0"/>
          </a:p>
        </p:txBody>
      </p:sp>
      <p:sp>
        <p:nvSpPr>
          <p:cNvPr id="35" name="Text 15"/>
          <p:cNvSpPr/>
          <p:nvPr/>
        </p:nvSpPr>
        <p:spPr>
          <a:xfrm>
            <a:off x="9585086" y="2391987"/>
            <a:ext cx="1512573" cy="14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DISTRIBUTION</a:t>
            </a:r>
            <a:endParaRPr lang="en-US" sz="750" dirty="0"/>
          </a:p>
        </p:txBody>
      </p:sp>
      <p:sp>
        <p:nvSpPr>
          <p:cNvPr id="36" name="Text 16"/>
          <p:cNvSpPr/>
          <p:nvPr/>
        </p:nvSpPr>
        <p:spPr>
          <a:xfrm>
            <a:off x="9585086" y="2569456"/>
            <a:ext cx="2606914" cy="24184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04"/>
              </a:lnSpc>
              <a:buNone/>
            </a:pPr>
            <a:r>
              <a:rPr lang="en-US" sz="1350" b="1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Right-Skewed</a:t>
            </a:r>
            <a:endParaRPr lang="en-US" sz="1350" dirty="0"/>
          </a:p>
        </p:txBody>
      </p:sp>
      <p:sp>
        <p:nvSpPr>
          <p:cNvPr id="37" name="Text 17"/>
          <p:cNvSpPr/>
          <p:nvPr/>
        </p:nvSpPr>
        <p:spPr>
          <a:xfrm>
            <a:off x="6055947" y="3433183"/>
            <a:ext cx="4537710" cy="24184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04"/>
              </a:lnSpc>
              <a:buNone/>
            </a:pPr>
            <a:r>
              <a:rPr lang="en-US" sz="1350" b="1" spc="-30" kern="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RECOMMENDATION</a:t>
            </a:r>
            <a:endParaRPr lang="en-US" sz="1350" dirty="0"/>
          </a:p>
        </p:txBody>
      </p:sp>
      <p:sp>
        <p:nvSpPr>
          <p:cNvPr id="38" name="Text 18"/>
          <p:cNvSpPr/>
          <p:nvPr/>
        </p:nvSpPr>
        <p:spPr>
          <a:xfrm>
            <a:off x="5822741" y="3778675"/>
            <a:ext cx="5194513" cy="6498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data shows </a:t>
            </a:r>
            <a:pPr indent="0" marL="0">
              <a:lnSpc>
                <a:spcPts val="1706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Significant Skewness (1.42)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contains </a:t>
            </a:r>
            <a:pPr indent="0" marL="0">
              <a:lnSpc>
                <a:spcPts val="1706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Outliers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In this case, the </a:t>
            </a:r>
            <a:pPr indent="0" marL="0">
              <a:lnSpc>
                <a:spcPts val="1706"/>
              </a:lnSpc>
              <a:buNone/>
            </a:pPr>
            <a:r>
              <a:rPr lang="en-US" sz="1050" b="1" u="sng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the most reliable measure of central tendency as it is robust against extreme values. Pair it with the </a:t>
            </a:r>
            <a:pPr indent="0" marL="0">
              <a:lnSpc>
                <a:spcPts val="1706"/>
              </a:lnSpc>
              <a:buNone/>
            </a:pPr>
            <a:r>
              <a:rPr lang="en-US" sz="1050" b="1" u="sng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IQR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describe data spread.</a:t>
            </a:r>
            <a:endParaRPr lang="en-US" sz="1050" dirty="0"/>
          </a:p>
        </p:txBody>
      </p:sp>
      <p:sp>
        <p:nvSpPr>
          <p:cNvPr id="39" name="Text 19"/>
          <p:cNvSpPr/>
          <p:nvPr/>
        </p:nvSpPr>
        <p:spPr>
          <a:xfrm>
            <a:off x="5615446" y="5084929"/>
            <a:ext cx="2117593" cy="1381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88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Shapiro-Wilk W</a:t>
            </a:r>
            <a:endParaRPr lang="en-US" sz="900" dirty="0"/>
          </a:p>
        </p:txBody>
      </p:sp>
      <p:sp>
        <p:nvSpPr>
          <p:cNvPr id="40" name="Text 20"/>
          <p:cNvSpPr/>
          <p:nvPr/>
        </p:nvSpPr>
        <p:spPr>
          <a:xfrm>
            <a:off x="7939144" y="5084929"/>
            <a:ext cx="1159634" cy="1381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88"/>
              </a:lnSpc>
              <a:buNone/>
            </a:pPr>
            <a:r>
              <a:rPr lang="en-US" sz="900" b="1" dirty="0">
                <a:solidFill>
                  <a:srgbClr val="000000"/>
                </a:solidFill>
              </a:rPr>
              <a:t>0.842</a:t>
            </a:r>
            <a:endParaRPr lang="en-US" sz="900" dirty="0"/>
          </a:p>
        </p:txBody>
      </p:sp>
      <p:sp>
        <p:nvSpPr>
          <p:cNvPr id="41" name="Text 21"/>
          <p:cNvSpPr/>
          <p:nvPr/>
        </p:nvSpPr>
        <p:spPr>
          <a:xfrm>
            <a:off x="8558194" y="5084929"/>
            <a:ext cx="1210053" cy="1381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88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Skewness</a:t>
            </a:r>
            <a:endParaRPr lang="en-US" sz="900" dirty="0"/>
          </a:p>
        </p:txBody>
      </p:sp>
      <p:sp>
        <p:nvSpPr>
          <p:cNvPr id="42" name="Text 22"/>
          <p:cNvSpPr/>
          <p:nvPr/>
        </p:nvSpPr>
        <p:spPr>
          <a:xfrm>
            <a:off x="10950450" y="5084929"/>
            <a:ext cx="907540" cy="1381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88"/>
              </a:lnSpc>
              <a:buNone/>
            </a:pPr>
            <a:r>
              <a:rPr lang="en-US" sz="900" b="1" dirty="0">
                <a:solidFill>
                  <a:srgbClr val="000000"/>
                </a:solidFill>
              </a:rPr>
              <a:t>1.42</a:t>
            </a:r>
            <a:endParaRPr lang="en-US" sz="900" dirty="0"/>
          </a:p>
        </p:txBody>
      </p:sp>
      <p:sp>
        <p:nvSpPr>
          <p:cNvPr id="43" name="Text 23"/>
          <p:cNvSpPr/>
          <p:nvPr/>
        </p:nvSpPr>
        <p:spPr>
          <a:xfrm>
            <a:off x="5615446" y="5292223"/>
            <a:ext cx="1058796" cy="13819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88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p-value</a:t>
            </a:r>
            <a:endParaRPr lang="en-US" sz="900" dirty="0"/>
          </a:p>
        </p:txBody>
      </p:sp>
      <p:sp>
        <p:nvSpPr>
          <p:cNvPr id="44" name="Text 24"/>
          <p:cNvSpPr/>
          <p:nvPr/>
        </p:nvSpPr>
        <p:spPr>
          <a:xfrm>
            <a:off x="7870586" y="5292223"/>
            <a:ext cx="1210053" cy="13819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88"/>
              </a:lnSpc>
              <a:buNone/>
            </a:pPr>
            <a:r>
              <a:rPr lang="en-US" sz="900" b="1" dirty="0">
                <a:solidFill>
                  <a:srgbClr val="EF4444"/>
                </a:solidFill>
              </a:rPr>
              <a:t>&lt; 0.05</a:t>
            </a:r>
            <a:endParaRPr lang="en-US" sz="900" dirty="0"/>
          </a:p>
        </p:txBody>
      </p:sp>
      <p:sp>
        <p:nvSpPr>
          <p:cNvPr id="45" name="Text 25"/>
          <p:cNvSpPr/>
          <p:nvPr/>
        </p:nvSpPr>
        <p:spPr>
          <a:xfrm>
            <a:off x="8558194" y="5292223"/>
            <a:ext cx="1210053" cy="13819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88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Kurtosis</a:t>
            </a:r>
            <a:endParaRPr lang="en-US" sz="900" dirty="0"/>
          </a:p>
        </p:txBody>
      </p:sp>
      <p:sp>
        <p:nvSpPr>
          <p:cNvPr id="46" name="Text 26"/>
          <p:cNvSpPr/>
          <p:nvPr/>
        </p:nvSpPr>
        <p:spPr>
          <a:xfrm>
            <a:off x="10950450" y="5292223"/>
            <a:ext cx="907540" cy="13819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88"/>
              </a:lnSpc>
              <a:buNone/>
            </a:pPr>
            <a:r>
              <a:rPr lang="en-US" sz="900" b="1" dirty="0">
                <a:solidFill>
                  <a:srgbClr val="000000"/>
                </a:solidFill>
              </a:rPr>
              <a:t>2.15</a:t>
            </a:r>
            <a:endParaRPr lang="en-US" sz="900" dirty="0"/>
          </a:p>
        </p:txBody>
      </p:sp>
      <p:sp>
        <p:nvSpPr>
          <p:cNvPr id="47" name="Text 27"/>
          <p:cNvSpPr/>
          <p:nvPr/>
        </p:nvSpPr>
        <p:spPr>
          <a:xfrm>
            <a:off x="690982" y="6167018"/>
            <a:ext cx="5823399" cy="17274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0"/>
              </a:lnSpc>
              <a:buNone/>
            </a:pPr>
            <a:r>
              <a:rPr lang="en-US" sz="1050" spc="93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STATISTICAL ANALYSIS SYSTEM</a:t>
            </a:r>
            <a:endParaRPr lang="en-US" sz="1050" dirty="0"/>
          </a:p>
        </p:txBody>
      </p:sp>
      <p:sp>
        <p:nvSpPr>
          <p:cNvPr id="48" name="Text 28"/>
          <p:cNvSpPr/>
          <p:nvPr/>
        </p:nvSpPr>
        <p:spPr>
          <a:xfrm>
            <a:off x="8788837" y="6167018"/>
            <a:ext cx="3403163" cy="17274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Black Knight | Scientific Computation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894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894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2071" y="497810"/>
            <a:ext cx="2680933" cy="36700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0442" y="623479"/>
            <a:ext cx="112426" cy="14296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890" y="1141559"/>
            <a:ext cx="2120018" cy="828738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77279" y="1141559"/>
            <a:ext cx="2120153" cy="828738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5803" y="1141559"/>
            <a:ext cx="2120153" cy="82873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94327" y="1141559"/>
            <a:ext cx="2120153" cy="828738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52851" y="1141559"/>
            <a:ext cx="2120018" cy="828738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8890" y="2177853"/>
            <a:ext cx="3579668" cy="1657476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1854" y="2350816"/>
            <a:ext cx="3233740" cy="242149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1854" y="2367437"/>
            <a:ext cx="129723" cy="139587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8890" y="4042885"/>
            <a:ext cx="3579668" cy="1657476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1854" y="4215848"/>
            <a:ext cx="3233740" cy="242149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1854" y="4230848"/>
            <a:ext cx="112426" cy="142965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06114" y="2177853"/>
            <a:ext cx="3579667" cy="1140072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79077" y="2350816"/>
            <a:ext cx="3233740" cy="242149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79077" y="2369599"/>
            <a:ext cx="164315" cy="135263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306114" y="3525481"/>
            <a:ext cx="3579667" cy="1140072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79077" y="3698445"/>
            <a:ext cx="3233740" cy="242149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479077" y="3715065"/>
            <a:ext cx="129723" cy="139587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093337" y="2177853"/>
            <a:ext cx="3579668" cy="3711552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266301" y="2350816"/>
            <a:ext cx="3233740" cy="242149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266301" y="2368653"/>
            <a:ext cx="147019" cy="137154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266301" y="2731336"/>
            <a:ext cx="3233740" cy="242149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266301" y="3042670"/>
            <a:ext cx="3233740" cy="242149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66301" y="3354004"/>
            <a:ext cx="3233740" cy="242149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266301" y="3665338"/>
            <a:ext cx="3233740" cy="242149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266301" y="3976672"/>
            <a:ext cx="3233740" cy="242149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266301" y="4288007"/>
            <a:ext cx="3233740" cy="242149"/>
          </a:xfrm>
          <a:prstGeom prst="rect">
            <a:avLst/>
          </a:prstGeom>
        </p:spPr>
      </p:pic>
      <p:pic>
        <p:nvPicPr>
          <p:cNvPr id="32" name="Image 30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266301" y="4599341"/>
            <a:ext cx="3233740" cy="242149"/>
          </a:xfrm>
          <a:prstGeom prst="rect">
            <a:avLst/>
          </a:prstGeom>
        </p:spPr>
      </p:pic>
      <p:pic>
        <p:nvPicPr>
          <p:cNvPr id="33" name="Image 31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266301" y="4910675"/>
            <a:ext cx="3233740" cy="242149"/>
          </a:xfrm>
          <a:prstGeom prst="rect">
            <a:avLst/>
          </a:prstGeom>
        </p:spPr>
      </p:pic>
      <p:pic>
        <p:nvPicPr>
          <p:cNvPr id="34" name="Image 32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266301" y="5222009"/>
            <a:ext cx="3233740" cy="242149"/>
          </a:xfrm>
          <a:prstGeom prst="rect">
            <a:avLst/>
          </a:prstGeom>
        </p:spPr>
      </p:pic>
      <p:pic>
        <p:nvPicPr>
          <p:cNvPr id="35" name="Image 33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18890" y="6166146"/>
            <a:ext cx="11154115" cy="345927"/>
          </a:xfrm>
          <a:prstGeom prst="rect">
            <a:avLst/>
          </a:prstGeom>
        </p:spPr>
      </p:pic>
      <p:sp>
        <p:nvSpPr>
          <p:cNvPr id="36" name="Text 0"/>
          <p:cNvSpPr/>
          <p:nvPr/>
        </p:nvSpPr>
        <p:spPr>
          <a:xfrm>
            <a:off x="518890" y="345927"/>
            <a:ext cx="4107881" cy="1383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90"/>
              </a:lnSpc>
              <a:buNone/>
            </a:pPr>
            <a:r>
              <a:rPr lang="en-US" sz="900" b="1" spc="159" kern="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OUTPUT VIEW</a:t>
            </a:r>
            <a:endParaRPr lang="en-US" sz="900" dirty="0"/>
          </a:p>
        </p:txBody>
      </p:sp>
      <p:sp>
        <p:nvSpPr>
          <p:cNvPr id="37" name="Text 1"/>
          <p:cNvSpPr/>
          <p:nvPr/>
        </p:nvSpPr>
        <p:spPr>
          <a:xfrm>
            <a:off x="518890" y="518890"/>
            <a:ext cx="10876788" cy="34592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24"/>
              </a:lnSpc>
              <a:buNone/>
            </a:pPr>
            <a:r>
              <a:rPr lang="en-US" sz="27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Statistical Summary</a:t>
            </a:r>
            <a:endParaRPr lang="en-US" sz="2700" dirty="0"/>
          </a:p>
        </p:txBody>
      </p:sp>
      <p:sp>
        <p:nvSpPr>
          <p:cNvPr id="38" name="Text 2"/>
          <p:cNvSpPr/>
          <p:nvPr/>
        </p:nvSpPr>
        <p:spPr>
          <a:xfrm>
            <a:off x="9312054" y="601588"/>
            <a:ext cx="2879946" cy="16431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2"/>
              </a:lnSpc>
              <a:buNone/>
            </a:pPr>
            <a:r>
              <a:rPr lang="en-US" sz="1050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Report Generated</a:t>
            </a:r>
            <a:endParaRPr lang="en-US" sz="1050" dirty="0"/>
          </a:p>
        </p:txBody>
      </p:sp>
      <p:sp>
        <p:nvSpPr>
          <p:cNvPr id="39" name="Text 3"/>
          <p:cNvSpPr/>
          <p:nvPr/>
        </p:nvSpPr>
        <p:spPr>
          <a:xfrm>
            <a:off x="691854" y="1314522"/>
            <a:ext cx="1774091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spc="4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SIZE (N)</a:t>
            </a:r>
            <a:endParaRPr lang="en-US" sz="900" dirty="0"/>
          </a:p>
        </p:txBody>
      </p:sp>
      <p:sp>
        <p:nvSpPr>
          <p:cNvPr id="40" name="Text 4"/>
          <p:cNvSpPr/>
          <p:nvPr/>
        </p:nvSpPr>
        <p:spPr>
          <a:xfrm>
            <a:off x="691854" y="1520592"/>
            <a:ext cx="1774091" cy="2767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79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800" dirty="0"/>
          </a:p>
        </p:txBody>
      </p:sp>
      <p:sp>
        <p:nvSpPr>
          <p:cNvPr id="41" name="Text 5"/>
          <p:cNvSpPr/>
          <p:nvPr/>
        </p:nvSpPr>
        <p:spPr>
          <a:xfrm>
            <a:off x="2950243" y="1314522"/>
            <a:ext cx="1774226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spc="4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 TOTAL</a:t>
            </a:r>
            <a:endParaRPr lang="en-US" sz="900" dirty="0"/>
          </a:p>
        </p:txBody>
      </p:sp>
      <p:sp>
        <p:nvSpPr>
          <p:cNvPr id="42" name="Text 6"/>
          <p:cNvSpPr/>
          <p:nvPr/>
        </p:nvSpPr>
        <p:spPr>
          <a:xfrm>
            <a:off x="2950243" y="1520592"/>
            <a:ext cx="1774226" cy="2767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79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585</a:t>
            </a:r>
            <a:endParaRPr lang="en-US" sz="1800" dirty="0"/>
          </a:p>
        </p:txBody>
      </p:sp>
      <p:sp>
        <p:nvSpPr>
          <p:cNvPr id="43" name="Text 7"/>
          <p:cNvSpPr/>
          <p:nvPr/>
        </p:nvSpPr>
        <p:spPr>
          <a:xfrm>
            <a:off x="5208766" y="1314522"/>
            <a:ext cx="1774227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spc="4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MINIMUM</a:t>
            </a:r>
            <a:endParaRPr lang="en-US" sz="900" dirty="0"/>
          </a:p>
        </p:txBody>
      </p:sp>
      <p:sp>
        <p:nvSpPr>
          <p:cNvPr id="44" name="Text 8"/>
          <p:cNvSpPr/>
          <p:nvPr/>
        </p:nvSpPr>
        <p:spPr>
          <a:xfrm>
            <a:off x="5208766" y="1520592"/>
            <a:ext cx="1774227" cy="2767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79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800" dirty="0"/>
          </a:p>
        </p:txBody>
      </p:sp>
      <p:sp>
        <p:nvSpPr>
          <p:cNvPr id="45" name="Text 9"/>
          <p:cNvSpPr/>
          <p:nvPr/>
        </p:nvSpPr>
        <p:spPr>
          <a:xfrm>
            <a:off x="7467291" y="1314522"/>
            <a:ext cx="1774226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spc="4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MAXIMUM</a:t>
            </a:r>
            <a:endParaRPr lang="en-US" sz="900" dirty="0"/>
          </a:p>
        </p:txBody>
      </p:sp>
      <p:sp>
        <p:nvSpPr>
          <p:cNvPr id="46" name="Text 10"/>
          <p:cNvSpPr/>
          <p:nvPr/>
        </p:nvSpPr>
        <p:spPr>
          <a:xfrm>
            <a:off x="7467291" y="1520592"/>
            <a:ext cx="1774226" cy="2767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79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</a:t>
            </a:r>
            <a:endParaRPr lang="en-US" sz="1800" dirty="0"/>
          </a:p>
        </p:txBody>
      </p:sp>
      <p:sp>
        <p:nvSpPr>
          <p:cNvPr id="47" name="Text 11"/>
          <p:cNvSpPr/>
          <p:nvPr/>
        </p:nvSpPr>
        <p:spPr>
          <a:xfrm>
            <a:off x="9725814" y="1314522"/>
            <a:ext cx="1774092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spc="4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RANGE</a:t>
            </a:r>
            <a:endParaRPr lang="en-US" sz="900" dirty="0"/>
          </a:p>
        </p:txBody>
      </p:sp>
      <p:sp>
        <p:nvSpPr>
          <p:cNvPr id="48" name="Text 12"/>
          <p:cNvSpPr/>
          <p:nvPr/>
        </p:nvSpPr>
        <p:spPr>
          <a:xfrm>
            <a:off x="9725814" y="1520592"/>
            <a:ext cx="1774092" cy="2767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79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</a:t>
            </a:r>
            <a:endParaRPr lang="en-US" sz="1800" dirty="0"/>
          </a:p>
        </p:txBody>
      </p:sp>
      <p:sp>
        <p:nvSpPr>
          <p:cNvPr id="49" name="Text 13"/>
          <p:cNvSpPr/>
          <p:nvPr/>
        </p:nvSpPr>
        <p:spPr>
          <a:xfrm>
            <a:off x="890762" y="2350816"/>
            <a:ext cx="3233740" cy="2421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2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 Tendency</a:t>
            </a:r>
            <a:endParaRPr lang="en-US" sz="1050" dirty="0"/>
          </a:p>
        </p:txBody>
      </p:sp>
      <p:sp>
        <p:nvSpPr>
          <p:cNvPr id="50" name="Text 14"/>
          <p:cNvSpPr/>
          <p:nvPr/>
        </p:nvSpPr>
        <p:spPr>
          <a:xfrm>
            <a:off x="691854" y="2731336"/>
            <a:ext cx="1564914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spc="4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</a:t>
            </a:r>
            <a:endParaRPr lang="en-US" sz="900" dirty="0"/>
          </a:p>
        </p:txBody>
      </p:sp>
      <p:sp>
        <p:nvSpPr>
          <p:cNvPr id="51" name="Text 15"/>
          <p:cNvSpPr/>
          <p:nvPr/>
        </p:nvSpPr>
        <p:spPr>
          <a:xfrm>
            <a:off x="691854" y="2902813"/>
            <a:ext cx="1737265" cy="2421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07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48.75</a:t>
            </a:r>
            <a:endParaRPr lang="en-US" sz="1350" dirty="0"/>
          </a:p>
        </p:txBody>
      </p:sp>
      <p:sp>
        <p:nvSpPr>
          <p:cNvPr id="52" name="Text 16"/>
          <p:cNvSpPr/>
          <p:nvPr/>
        </p:nvSpPr>
        <p:spPr>
          <a:xfrm>
            <a:off x="2360545" y="2731336"/>
            <a:ext cx="1565049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spc="4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</a:t>
            </a:r>
            <a:endParaRPr lang="en-US" sz="900" dirty="0"/>
          </a:p>
        </p:txBody>
      </p:sp>
      <p:sp>
        <p:nvSpPr>
          <p:cNvPr id="53" name="Text 17"/>
          <p:cNvSpPr/>
          <p:nvPr/>
        </p:nvSpPr>
        <p:spPr>
          <a:xfrm>
            <a:off x="2360545" y="2902813"/>
            <a:ext cx="1737265" cy="2421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07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42.50</a:t>
            </a:r>
            <a:endParaRPr lang="en-US" sz="1350" dirty="0"/>
          </a:p>
        </p:txBody>
      </p:sp>
      <p:sp>
        <p:nvSpPr>
          <p:cNvPr id="54" name="Text 18"/>
          <p:cNvSpPr/>
          <p:nvPr/>
        </p:nvSpPr>
        <p:spPr>
          <a:xfrm>
            <a:off x="691854" y="3248739"/>
            <a:ext cx="3233740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spc="4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</a:t>
            </a:r>
            <a:endParaRPr lang="en-US" sz="900" dirty="0"/>
          </a:p>
        </p:txBody>
      </p:sp>
      <p:sp>
        <p:nvSpPr>
          <p:cNvPr id="55" name="Text 19"/>
          <p:cNvSpPr/>
          <p:nvPr/>
        </p:nvSpPr>
        <p:spPr>
          <a:xfrm>
            <a:off x="691854" y="3420217"/>
            <a:ext cx="3233740" cy="2421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07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350" dirty="0"/>
          </a:p>
        </p:txBody>
      </p:sp>
      <p:sp>
        <p:nvSpPr>
          <p:cNvPr id="56" name="Text 20"/>
          <p:cNvSpPr/>
          <p:nvPr/>
        </p:nvSpPr>
        <p:spPr>
          <a:xfrm>
            <a:off x="873465" y="4215848"/>
            <a:ext cx="3233740" cy="2421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2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Dispersion</a:t>
            </a:r>
            <a:endParaRPr lang="en-US" sz="1050" dirty="0"/>
          </a:p>
        </p:txBody>
      </p:sp>
      <p:sp>
        <p:nvSpPr>
          <p:cNvPr id="57" name="Text 21"/>
          <p:cNvSpPr/>
          <p:nvPr/>
        </p:nvSpPr>
        <p:spPr>
          <a:xfrm>
            <a:off x="691854" y="4596368"/>
            <a:ext cx="1564914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spc="4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STD. DEV</a:t>
            </a:r>
            <a:endParaRPr lang="en-US" sz="900" dirty="0"/>
          </a:p>
        </p:txBody>
      </p:sp>
      <p:sp>
        <p:nvSpPr>
          <p:cNvPr id="58" name="Text 22"/>
          <p:cNvSpPr/>
          <p:nvPr/>
        </p:nvSpPr>
        <p:spPr>
          <a:xfrm>
            <a:off x="691854" y="4767845"/>
            <a:ext cx="1737265" cy="2421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07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28.45</a:t>
            </a:r>
            <a:endParaRPr lang="en-US" sz="1350" dirty="0"/>
          </a:p>
        </p:txBody>
      </p:sp>
      <p:sp>
        <p:nvSpPr>
          <p:cNvPr id="59" name="Text 23"/>
          <p:cNvSpPr/>
          <p:nvPr/>
        </p:nvSpPr>
        <p:spPr>
          <a:xfrm>
            <a:off x="2360545" y="4596368"/>
            <a:ext cx="1565049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spc="4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</a:t>
            </a:r>
            <a:endParaRPr lang="en-US" sz="900" dirty="0"/>
          </a:p>
        </p:txBody>
      </p:sp>
      <p:sp>
        <p:nvSpPr>
          <p:cNvPr id="60" name="Text 24"/>
          <p:cNvSpPr/>
          <p:nvPr/>
        </p:nvSpPr>
        <p:spPr>
          <a:xfrm>
            <a:off x="2360545" y="4767845"/>
            <a:ext cx="1737265" cy="2421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07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809.4</a:t>
            </a:r>
            <a:endParaRPr lang="en-US" sz="1350" dirty="0"/>
          </a:p>
        </p:txBody>
      </p:sp>
      <p:sp>
        <p:nvSpPr>
          <p:cNvPr id="61" name="Text 25"/>
          <p:cNvSpPr/>
          <p:nvPr/>
        </p:nvSpPr>
        <p:spPr>
          <a:xfrm>
            <a:off x="691854" y="5113772"/>
            <a:ext cx="1564914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spc="4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IQR</a:t>
            </a:r>
            <a:endParaRPr lang="en-US" sz="900" dirty="0"/>
          </a:p>
        </p:txBody>
      </p:sp>
      <p:sp>
        <p:nvSpPr>
          <p:cNvPr id="62" name="Text 26"/>
          <p:cNvSpPr/>
          <p:nvPr/>
        </p:nvSpPr>
        <p:spPr>
          <a:xfrm>
            <a:off x="691854" y="5285249"/>
            <a:ext cx="1737265" cy="2421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07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48.75</a:t>
            </a:r>
            <a:endParaRPr lang="en-US" sz="1350" dirty="0"/>
          </a:p>
        </p:txBody>
      </p:sp>
      <p:sp>
        <p:nvSpPr>
          <p:cNvPr id="63" name="Text 27"/>
          <p:cNvSpPr/>
          <p:nvPr/>
        </p:nvSpPr>
        <p:spPr>
          <a:xfrm>
            <a:off x="2360545" y="5113772"/>
            <a:ext cx="1565049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spc="4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 (%)</a:t>
            </a:r>
            <a:endParaRPr lang="en-US" sz="900" dirty="0"/>
          </a:p>
        </p:txBody>
      </p:sp>
      <p:sp>
        <p:nvSpPr>
          <p:cNvPr id="64" name="Text 28"/>
          <p:cNvSpPr/>
          <p:nvPr/>
        </p:nvSpPr>
        <p:spPr>
          <a:xfrm>
            <a:off x="2360545" y="5285249"/>
            <a:ext cx="1963865" cy="2421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07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58.36%</a:t>
            </a:r>
            <a:endParaRPr lang="en-US" sz="1350" dirty="0"/>
          </a:p>
        </p:txBody>
      </p:sp>
      <p:sp>
        <p:nvSpPr>
          <p:cNvPr id="65" name="Text 29"/>
          <p:cNvSpPr/>
          <p:nvPr/>
        </p:nvSpPr>
        <p:spPr>
          <a:xfrm>
            <a:off x="4712578" y="2350816"/>
            <a:ext cx="3233740" cy="2421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2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Distribution Shape</a:t>
            </a:r>
            <a:endParaRPr lang="en-US" sz="1050" dirty="0"/>
          </a:p>
        </p:txBody>
      </p:sp>
      <p:sp>
        <p:nvSpPr>
          <p:cNvPr id="66" name="Text 30"/>
          <p:cNvSpPr/>
          <p:nvPr/>
        </p:nvSpPr>
        <p:spPr>
          <a:xfrm>
            <a:off x="4479077" y="2731336"/>
            <a:ext cx="1564914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spc="4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SKEWNESS</a:t>
            </a:r>
            <a:endParaRPr lang="en-US" sz="900" dirty="0"/>
          </a:p>
        </p:txBody>
      </p:sp>
      <p:sp>
        <p:nvSpPr>
          <p:cNvPr id="67" name="Text 31"/>
          <p:cNvSpPr/>
          <p:nvPr/>
        </p:nvSpPr>
        <p:spPr>
          <a:xfrm>
            <a:off x="4479077" y="2902813"/>
            <a:ext cx="1737265" cy="2421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07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0.245</a:t>
            </a:r>
            <a:endParaRPr lang="en-US" sz="1350" dirty="0"/>
          </a:p>
        </p:txBody>
      </p:sp>
      <p:sp>
        <p:nvSpPr>
          <p:cNvPr id="68" name="Text 32"/>
          <p:cNvSpPr/>
          <p:nvPr/>
        </p:nvSpPr>
        <p:spPr>
          <a:xfrm>
            <a:off x="6147769" y="2731336"/>
            <a:ext cx="1565049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spc="4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KURTOSIS</a:t>
            </a:r>
            <a:endParaRPr lang="en-US" sz="900" dirty="0"/>
          </a:p>
        </p:txBody>
      </p:sp>
      <p:sp>
        <p:nvSpPr>
          <p:cNvPr id="69" name="Text 33"/>
          <p:cNvSpPr/>
          <p:nvPr/>
        </p:nvSpPr>
        <p:spPr>
          <a:xfrm>
            <a:off x="6147769" y="2902813"/>
            <a:ext cx="1963865" cy="2421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07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-1.321</a:t>
            </a:r>
            <a:endParaRPr lang="en-US" sz="1350" dirty="0"/>
          </a:p>
        </p:txBody>
      </p:sp>
      <p:sp>
        <p:nvSpPr>
          <p:cNvPr id="70" name="Text 34"/>
          <p:cNvSpPr/>
          <p:nvPr/>
        </p:nvSpPr>
        <p:spPr>
          <a:xfrm>
            <a:off x="4677985" y="3698445"/>
            <a:ext cx="3524875" cy="2421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2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Normality &amp; Outliers</a:t>
            </a:r>
            <a:endParaRPr lang="en-US" sz="1050" dirty="0"/>
          </a:p>
        </p:txBody>
      </p:sp>
      <p:sp>
        <p:nvSpPr>
          <p:cNvPr id="71" name="Text 35"/>
          <p:cNvSpPr/>
          <p:nvPr/>
        </p:nvSpPr>
        <p:spPr>
          <a:xfrm>
            <a:off x="4479077" y="4078964"/>
            <a:ext cx="2114936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spc="4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SHAPIRO-WILK P</a:t>
            </a:r>
            <a:endParaRPr lang="en-US" sz="900" dirty="0"/>
          </a:p>
        </p:txBody>
      </p:sp>
      <p:sp>
        <p:nvSpPr>
          <p:cNvPr id="72" name="Text 36"/>
          <p:cNvSpPr/>
          <p:nvPr/>
        </p:nvSpPr>
        <p:spPr>
          <a:xfrm>
            <a:off x="4479077" y="4250441"/>
            <a:ext cx="1737265" cy="2421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07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0.342</a:t>
            </a:r>
            <a:endParaRPr lang="en-US" sz="1350" dirty="0"/>
          </a:p>
        </p:txBody>
      </p:sp>
      <p:sp>
        <p:nvSpPr>
          <p:cNvPr id="73" name="Text 37"/>
          <p:cNvSpPr/>
          <p:nvPr/>
        </p:nvSpPr>
        <p:spPr>
          <a:xfrm>
            <a:off x="6147769" y="4078964"/>
            <a:ext cx="1565049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spc="4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OUTLIERS</a:t>
            </a:r>
            <a:endParaRPr lang="en-US" sz="900" dirty="0"/>
          </a:p>
        </p:txBody>
      </p:sp>
      <p:sp>
        <p:nvSpPr>
          <p:cNvPr id="74" name="Text 38"/>
          <p:cNvSpPr/>
          <p:nvPr/>
        </p:nvSpPr>
        <p:spPr>
          <a:xfrm>
            <a:off x="6147769" y="4250441"/>
            <a:ext cx="2265997" cy="2421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07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 Found</a:t>
            </a:r>
            <a:endParaRPr lang="en-US" sz="1350" dirty="0"/>
          </a:p>
        </p:txBody>
      </p:sp>
      <p:sp>
        <p:nvSpPr>
          <p:cNvPr id="75" name="Text 39"/>
          <p:cNvSpPr/>
          <p:nvPr/>
        </p:nvSpPr>
        <p:spPr>
          <a:xfrm>
            <a:off x="8482505" y="2350816"/>
            <a:ext cx="3233740" cy="2421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2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Deciles (D1 - D9)</a:t>
            </a:r>
            <a:endParaRPr lang="en-US" sz="1050" dirty="0"/>
          </a:p>
        </p:txBody>
      </p:sp>
      <p:sp>
        <p:nvSpPr>
          <p:cNvPr id="76" name="Text 40"/>
          <p:cNvSpPr/>
          <p:nvPr/>
        </p:nvSpPr>
        <p:spPr>
          <a:xfrm>
            <a:off x="8266301" y="2765929"/>
            <a:ext cx="1938681" cy="1729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2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D1 (10th)</a:t>
            </a:r>
            <a:endParaRPr lang="en-US" sz="1050" dirty="0"/>
          </a:p>
        </p:txBody>
      </p:sp>
      <p:sp>
        <p:nvSpPr>
          <p:cNvPr id="77" name="Text 41"/>
          <p:cNvSpPr/>
          <p:nvPr/>
        </p:nvSpPr>
        <p:spPr>
          <a:xfrm>
            <a:off x="11223300" y="2765929"/>
            <a:ext cx="968700" cy="1729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2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10.0</a:t>
            </a:r>
            <a:endParaRPr lang="en-US" sz="1050" dirty="0"/>
          </a:p>
        </p:txBody>
      </p:sp>
      <p:sp>
        <p:nvSpPr>
          <p:cNvPr id="78" name="Text 42"/>
          <p:cNvSpPr/>
          <p:nvPr/>
        </p:nvSpPr>
        <p:spPr>
          <a:xfrm>
            <a:off x="8266301" y="3077262"/>
            <a:ext cx="1938681" cy="17296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2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D2 (20th)</a:t>
            </a:r>
            <a:endParaRPr lang="en-US" sz="1050" dirty="0"/>
          </a:p>
        </p:txBody>
      </p:sp>
      <p:sp>
        <p:nvSpPr>
          <p:cNvPr id="79" name="Text 43"/>
          <p:cNvSpPr/>
          <p:nvPr/>
        </p:nvSpPr>
        <p:spPr>
          <a:xfrm>
            <a:off x="11223300" y="3077262"/>
            <a:ext cx="968700" cy="17296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2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18.0</a:t>
            </a:r>
            <a:endParaRPr lang="en-US" sz="1050" dirty="0"/>
          </a:p>
        </p:txBody>
      </p:sp>
      <p:sp>
        <p:nvSpPr>
          <p:cNvPr id="80" name="Text 44"/>
          <p:cNvSpPr/>
          <p:nvPr/>
        </p:nvSpPr>
        <p:spPr>
          <a:xfrm>
            <a:off x="8266301" y="3388597"/>
            <a:ext cx="1938681" cy="17296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2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D3 (30th)</a:t>
            </a:r>
            <a:endParaRPr lang="en-US" sz="1050" dirty="0"/>
          </a:p>
        </p:txBody>
      </p:sp>
      <p:sp>
        <p:nvSpPr>
          <p:cNvPr id="81" name="Text 45"/>
          <p:cNvSpPr/>
          <p:nvPr/>
        </p:nvSpPr>
        <p:spPr>
          <a:xfrm>
            <a:off x="11206003" y="3388597"/>
            <a:ext cx="985997" cy="17296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2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24.5</a:t>
            </a:r>
            <a:endParaRPr lang="en-US" sz="1050" dirty="0"/>
          </a:p>
        </p:txBody>
      </p:sp>
      <p:sp>
        <p:nvSpPr>
          <p:cNvPr id="82" name="Text 46"/>
          <p:cNvSpPr/>
          <p:nvPr/>
        </p:nvSpPr>
        <p:spPr>
          <a:xfrm>
            <a:off x="8266301" y="3699931"/>
            <a:ext cx="1938681" cy="17296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2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D4 (40th)</a:t>
            </a:r>
            <a:endParaRPr lang="en-US" sz="1050" dirty="0"/>
          </a:p>
        </p:txBody>
      </p:sp>
      <p:sp>
        <p:nvSpPr>
          <p:cNvPr id="83" name="Text 47"/>
          <p:cNvSpPr/>
          <p:nvPr/>
        </p:nvSpPr>
        <p:spPr>
          <a:xfrm>
            <a:off x="11206003" y="3699931"/>
            <a:ext cx="985997" cy="17296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2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34.0</a:t>
            </a:r>
            <a:endParaRPr lang="en-US" sz="1050" dirty="0"/>
          </a:p>
        </p:txBody>
      </p:sp>
      <p:sp>
        <p:nvSpPr>
          <p:cNvPr id="84" name="Text 48"/>
          <p:cNvSpPr/>
          <p:nvPr/>
        </p:nvSpPr>
        <p:spPr>
          <a:xfrm>
            <a:off x="8266301" y="4011265"/>
            <a:ext cx="1938681" cy="17296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2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D5 (50th)</a:t>
            </a:r>
            <a:endParaRPr lang="en-US" sz="1050" dirty="0"/>
          </a:p>
        </p:txBody>
      </p:sp>
      <p:sp>
        <p:nvSpPr>
          <p:cNvPr id="85" name="Text 49"/>
          <p:cNvSpPr/>
          <p:nvPr/>
        </p:nvSpPr>
        <p:spPr>
          <a:xfrm>
            <a:off x="11197355" y="4011265"/>
            <a:ext cx="994645" cy="17296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2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42.5</a:t>
            </a:r>
            <a:endParaRPr lang="en-US" sz="1050" dirty="0"/>
          </a:p>
        </p:txBody>
      </p:sp>
      <p:sp>
        <p:nvSpPr>
          <p:cNvPr id="86" name="Text 50"/>
          <p:cNvSpPr/>
          <p:nvPr/>
        </p:nvSpPr>
        <p:spPr>
          <a:xfrm>
            <a:off x="8266301" y="4322599"/>
            <a:ext cx="1938681" cy="17296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2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D6 (60th)</a:t>
            </a:r>
            <a:endParaRPr lang="en-US" sz="1050" dirty="0"/>
          </a:p>
        </p:txBody>
      </p:sp>
      <p:sp>
        <p:nvSpPr>
          <p:cNvPr id="87" name="Text 51"/>
          <p:cNvSpPr/>
          <p:nvPr/>
        </p:nvSpPr>
        <p:spPr>
          <a:xfrm>
            <a:off x="11197355" y="4322599"/>
            <a:ext cx="994645" cy="17296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2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52.0</a:t>
            </a:r>
            <a:endParaRPr lang="en-US" sz="1050" dirty="0"/>
          </a:p>
        </p:txBody>
      </p:sp>
      <p:sp>
        <p:nvSpPr>
          <p:cNvPr id="88" name="Text 52"/>
          <p:cNvSpPr/>
          <p:nvPr/>
        </p:nvSpPr>
        <p:spPr>
          <a:xfrm>
            <a:off x="8266301" y="4633933"/>
            <a:ext cx="1938681" cy="17296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2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D7 (70th)</a:t>
            </a:r>
            <a:endParaRPr lang="en-US" sz="1050" dirty="0"/>
          </a:p>
        </p:txBody>
      </p:sp>
      <p:sp>
        <p:nvSpPr>
          <p:cNvPr id="89" name="Text 53"/>
          <p:cNvSpPr/>
          <p:nvPr/>
        </p:nvSpPr>
        <p:spPr>
          <a:xfrm>
            <a:off x="11206003" y="4633933"/>
            <a:ext cx="985997" cy="17296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2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64.5</a:t>
            </a:r>
            <a:endParaRPr lang="en-US" sz="1050" dirty="0"/>
          </a:p>
        </p:txBody>
      </p:sp>
      <p:sp>
        <p:nvSpPr>
          <p:cNvPr id="90" name="Text 54"/>
          <p:cNvSpPr/>
          <p:nvPr/>
        </p:nvSpPr>
        <p:spPr>
          <a:xfrm>
            <a:off x="8266301" y="4945267"/>
            <a:ext cx="1938681" cy="17296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2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D8 (80th)</a:t>
            </a:r>
            <a:endParaRPr lang="en-US" sz="1050" dirty="0"/>
          </a:p>
        </p:txBody>
      </p:sp>
      <p:sp>
        <p:nvSpPr>
          <p:cNvPr id="91" name="Text 55"/>
          <p:cNvSpPr/>
          <p:nvPr/>
        </p:nvSpPr>
        <p:spPr>
          <a:xfrm>
            <a:off x="11231948" y="4945267"/>
            <a:ext cx="960052" cy="17296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2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77.0</a:t>
            </a:r>
            <a:endParaRPr lang="en-US" sz="1050" dirty="0"/>
          </a:p>
        </p:txBody>
      </p:sp>
      <p:sp>
        <p:nvSpPr>
          <p:cNvPr id="92" name="Text 56"/>
          <p:cNvSpPr/>
          <p:nvPr/>
        </p:nvSpPr>
        <p:spPr>
          <a:xfrm>
            <a:off x="8266301" y="5256602"/>
            <a:ext cx="1938681" cy="1729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2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D9 (90th)</a:t>
            </a:r>
            <a:endParaRPr lang="en-US" sz="1050" dirty="0"/>
          </a:p>
        </p:txBody>
      </p:sp>
      <p:sp>
        <p:nvSpPr>
          <p:cNvPr id="93" name="Text 57"/>
          <p:cNvSpPr/>
          <p:nvPr/>
        </p:nvSpPr>
        <p:spPr>
          <a:xfrm>
            <a:off x="11197355" y="5256602"/>
            <a:ext cx="994645" cy="1729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2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85.0</a:t>
            </a:r>
            <a:endParaRPr lang="en-US" sz="1050" dirty="0"/>
          </a:p>
        </p:txBody>
      </p:sp>
      <p:sp>
        <p:nvSpPr>
          <p:cNvPr id="94" name="Text 58"/>
          <p:cNvSpPr/>
          <p:nvPr/>
        </p:nvSpPr>
        <p:spPr>
          <a:xfrm>
            <a:off x="518890" y="6373702"/>
            <a:ext cx="8308678" cy="1383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90"/>
              </a:lnSpc>
              <a:buNone/>
            </a:pPr>
            <a:r>
              <a:rPr lang="en-US" sz="900" spc="79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STATISTICAL ANALYSIS SYSTEM • FULL SUMMARY REPORT</a:t>
            </a:r>
            <a:endParaRPr lang="en-US" sz="900" dirty="0"/>
          </a:p>
        </p:txBody>
      </p:sp>
      <p:sp>
        <p:nvSpPr>
          <p:cNvPr id="95" name="Text 59"/>
          <p:cNvSpPr/>
          <p:nvPr/>
        </p:nvSpPr>
        <p:spPr>
          <a:xfrm>
            <a:off x="9632036" y="6373702"/>
            <a:ext cx="2559964" cy="1383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9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Black Knight | Dr. Gamal Mousa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38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539" y="1366825"/>
            <a:ext cx="5385240" cy="401297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954" y="1594241"/>
            <a:ext cx="355337" cy="27849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954" y="2128579"/>
            <a:ext cx="284269" cy="284269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362" y="2203421"/>
            <a:ext cx="163455" cy="134584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954" y="2669801"/>
            <a:ext cx="284269" cy="28427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468" y="2742312"/>
            <a:ext cx="149241" cy="13924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954" y="3211023"/>
            <a:ext cx="284269" cy="28427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0575" y="3285644"/>
            <a:ext cx="135028" cy="135028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5954" y="3752246"/>
            <a:ext cx="284269" cy="284269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3468" y="3824756"/>
            <a:ext cx="149241" cy="139248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38048" y="1366825"/>
            <a:ext cx="5385352" cy="4012974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65464" y="1594241"/>
            <a:ext cx="284269" cy="284269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65464" y="2105926"/>
            <a:ext cx="4930521" cy="399088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50745" y="2230183"/>
            <a:ext cx="170562" cy="150463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65464" y="2618721"/>
            <a:ext cx="4930521" cy="399088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50745" y="2742978"/>
            <a:ext cx="170562" cy="150463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65464" y="3131517"/>
            <a:ext cx="4930521" cy="399088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50745" y="3255773"/>
            <a:ext cx="170562" cy="150463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65464" y="3644312"/>
            <a:ext cx="4930521" cy="399088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50745" y="3768569"/>
            <a:ext cx="170562" cy="150463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65464" y="4157107"/>
            <a:ext cx="4930521" cy="399088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50745" y="4281364"/>
            <a:ext cx="170562" cy="150463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65464" y="4669903"/>
            <a:ext cx="4930521" cy="399088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50745" y="4794160"/>
            <a:ext cx="170562" cy="150463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68539" y="5664069"/>
            <a:ext cx="11054861" cy="540112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568539" y="426404"/>
            <a:ext cx="11054861" cy="14213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19"/>
              </a:lnSpc>
              <a:buNone/>
            </a:pPr>
            <a:r>
              <a:rPr lang="en-US" sz="1050" b="1" spc="281" kern="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SUMMARY</a:t>
            </a:r>
            <a:endParaRPr lang="en-US" sz="1050" dirty="0"/>
          </a:p>
        </p:txBody>
      </p:sp>
      <p:sp>
        <p:nvSpPr>
          <p:cNvPr id="29" name="Text 1"/>
          <p:cNvSpPr/>
          <p:nvPr/>
        </p:nvSpPr>
        <p:spPr>
          <a:xfrm>
            <a:off x="568539" y="625393"/>
            <a:ext cx="11054861" cy="4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0" name="Text 2"/>
          <p:cNvSpPr/>
          <p:nvPr/>
        </p:nvSpPr>
        <p:spPr>
          <a:xfrm>
            <a:off x="1264999" y="1619781"/>
            <a:ext cx="4779650" cy="22741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91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Learnings</a:t>
            </a:r>
            <a:endParaRPr lang="en-US" sz="1800" dirty="0"/>
          </a:p>
        </p:txBody>
      </p:sp>
      <p:sp>
        <p:nvSpPr>
          <p:cNvPr id="31" name="Text 3"/>
          <p:cNvSpPr/>
          <p:nvPr/>
        </p:nvSpPr>
        <p:spPr>
          <a:xfrm>
            <a:off x="1193932" y="2100151"/>
            <a:ext cx="5882628" cy="22852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Full-Stack R Development</a:t>
            </a:r>
            <a:endParaRPr lang="en-US" sz="1200" dirty="0"/>
          </a:p>
        </p:txBody>
      </p:sp>
      <p:sp>
        <p:nvSpPr>
          <p:cNvPr id="32" name="Text 4"/>
          <p:cNvSpPr/>
          <p:nvPr/>
        </p:nvSpPr>
        <p:spPr>
          <a:xfrm>
            <a:off x="1193932" y="2328677"/>
            <a:ext cx="10998068" cy="17056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43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interactive web applications with Shiny framework.</a:t>
            </a:r>
            <a:endParaRPr lang="en-US" sz="1200" dirty="0"/>
          </a:p>
        </p:txBody>
      </p:sp>
      <p:sp>
        <p:nvSpPr>
          <p:cNvPr id="33" name="Text 5"/>
          <p:cNvSpPr/>
          <p:nvPr/>
        </p:nvSpPr>
        <p:spPr>
          <a:xfrm>
            <a:off x="1193932" y="2641374"/>
            <a:ext cx="4249828" cy="22852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Package Ecosystem</a:t>
            </a:r>
            <a:endParaRPr lang="en-US" sz="1200" dirty="0"/>
          </a:p>
        </p:txBody>
      </p:sp>
      <p:sp>
        <p:nvSpPr>
          <p:cNvPr id="34" name="Text 6"/>
          <p:cNvSpPr/>
          <p:nvPr/>
        </p:nvSpPr>
        <p:spPr>
          <a:xfrm>
            <a:off x="1193932" y="2869900"/>
            <a:ext cx="10998068" cy="17056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43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Integrating diverse packages for data I/O, analysis, and viz.</a:t>
            </a:r>
            <a:endParaRPr lang="en-US" sz="1200" dirty="0"/>
          </a:p>
        </p:txBody>
      </p:sp>
      <p:sp>
        <p:nvSpPr>
          <p:cNvPr id="35" name="Text 7"/>
          <p:cNvSpPr/>
          <p:nvPr/>
        </p:nvSpPr>
        <p:spPr>
          <a:xfrm>
            <a:off x="1193932" y="3182596"/>
            <a:ext cx="6372847" cy="22852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Logic Implementation</a:t>
            </a:r>
            <a:endParaRPr lang="en-US" sz="1200" dirty="0"/>
          </a:p>
        </p:txBody>
      </p:sp>
      <p:sp>
        <p:nvSpPr>
          <p:cNvPr id="36" name="Text 8"/>
          <p:cNvSpPr/>
          <p:nvPr/>
        </p:nvSpPr>
        <p:spPr>
          <a:xfrm>
            <a:off x="1193932" y="3411122"/>
            <a:ext cx="10998068" cy="17056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43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Encoding statistical decision theory into functional algorithms.</a:t>
            </a:r>
            <a:endParaRPr lang="en-US" sz="1200" dirty="0"/>
          </a:p>
        </p:txBody>
      </p:sp>
      <p:sp>
        <p:nvSpPr>
          <p:cNvPr id="37" name="Text 9"/>
          <p:cNvSpPr/>
          <p:nvPr/>
        </p:nvSpPr>
        <p:spPr>
          <a:xfrm>
            <a:off x="1193932" y="3723819"/>
            <a:ext cx="4411971" cy="22852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Data-Driven Design</a:t>
            </a:r>
            <a:endParaRPr lang="en-US" sz="1200" dirty="0"/>
          </a:p>
        </p:txBody>
      </p:sp>
      <p:sp>
        <p:nvSpPr>
          <p:cNvPr id="38" name="Text 10"/>
          <p:cNvSpPr/>
          <p:nvPr/>
        </p:nvSpPr>
        <p:spPr>
          <a:xfrm>
            <a:off x="1193932" y="3952345"/>
            <a:ext cx="10998068" cy="17056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43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Matching specific statistical measures to data properties.</a:t>
            </a:r>
            <a:endParaRPr lang="en-US" sz="1200" dirty="0"/>
          </a:p>
        </p:txBody>
      </p:sp>
      <p:sp>
        <p:nvSpPr>
          <p:cNvPr id="39" name="Text 11"/>
          <p:cNvSpPr/>
          <p:nvPr/>
        </p:nvSpPr>
        <p:spPr>
          <a:xfrm>
            <a:off x="6863442" y="1622668"/>
            <a:ext cx="5328558" cy="22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91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Benefits</a:t>
            </a:r>
            <a:endParaRPr lang="en-US" sz="1800" dirty="0"/>
          </a:p>
        </p:txBody>
      </p:sp>
      <p:sp>
        <p:nvSpPr>
          <p:cNvPr id="40" name="Text 12"/>
          <p:cNvSpPr/>
          <p:nvPr/>
        </p:nvSpPr>
        <p:spPr>
          <a:xfrm>
            <a:off x="6835014" y="2191207"/>
            <a:ext cx="5356986" cy="22852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workflows replace manual analysis</a:t>
            </a:r>
            <a:endParaRPr lang="en-US" sz="1200" dirty="0"/>
          </a:p>
        </p:txBody>
      </p:sp>
      <p:sp>
        <p:nvSpPr>
          <p:cNvPr id="41" name="Text 13"/>
          <p:cNvSpPr/>
          <p:nvPr/>
        </p:nvSpPr>
        <p:spPr>
          <a:xfrm>
            <a:off x="6835014" y="2704002"/>
            <a:ext cx="5356986" cy="22852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engine acts as a virtual statistician</a:t>
            </a:r>
            <a:endParaRPr lang="en-US" sz="1200" dirty="0"/>
          </a:p>
        </p:txBody>
      </p:sp>
      <p:sp>
        <p:nvSpPr>
          <p:cNvPr id="42" name="Text 14"/>
          <p:cNvSpPr/>
          <p:nvPr/>
        </p:nvSpPr>
        <p:spPr>
          <a:xfrm>
            <a:off x="6835014" y="3216798"/>
            <a:ext cx="5356986" cy="22852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statistical or coding expertise required</a:t>
            </a:r>
            <a:endParaRPr lang="en-US" sz="1200" dirty="0"/>
          </a:p>
        </p:txBody>
      </p:sp>
      <p:sp>
        <p:nvSpPr>
          <p:cNvPr id="43" name="Text 15"/>
          <p:cNvSpPr/>
          <p:nvPr/>
        </p:nvSpPr>
        <p:spPr>
          <a:xfrm>
            <a:off x="6835014" y="3729593"/>
            <a:ext cx="5356986" cy="22852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multi-format data handling (CSV, XLS, SAV)</a:t>
            </a:r>
            <a:endParaRPr lang="en-US" sz="1200" dirty="0"/>
          </a:p>
        </p:txBody>
      </p:sp>
      <p:sp>
        <p:nvSpPr>
          <p:cNvPr id="44" name="Text 16"/>
          <p:cNvSpPr/>
          <p:nvPr/>
        </p:nvSpPr>
        <p:spPr>
          <a:xfrm>
            <a:off x="6835014" y="4242388"/>
            <a:ext cx="5356986" cy="22852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output: 15+ stats, 9 plots, &amp; smart report</a:t>
            </a:r>
            <a:endParaRPr lang="en-US" sz="1200" dirty="0"/>
          </a:p>
        </p:txBody>
      </p:sp>
      <p:sp>
        <p:nvSpPr>
          <p:cNvPr id="45" name="Text 17"/>
          <p:cNvSpPr/>
          <p:nvPr/>
        </p:nvSpPr>
        <p:spPr>
          <a:xfrm>
            <a:off x="6835014" y="4755184"/>
            <a:ext cx="5356986" cy="22852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Educational value through detailed explanations</a:t>
            </a:r>
            <a:endParaRPr lang="en-US" sz="1200" dirty="0"/>
          </a:p>
        </p:txBody>
      </p:sp>
      <p:sp>
        <p:nvSpPr>
          <p:cNvPr id="46" name="Text 18"/>
          <p:cNvSpPr/>
          <p:nvPr/>
        </p:nvSpPr>
        <p:spPr>
          <a:xfrm>
            <a:off x="568539" y="5664069"/>
            <a:ext cx="11054861" cy="5401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67"/>
              </a:lnSpc>
              <a:buNone/>
            </a:pPr>
            <a:r>
              <a:rPr lang="en-US" sz="135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"Statistics is not about numbers — it is about understanding data."</a:t>
            </a:r>
            <a:endParaRPr lang="en-US" sz="1350" dirty="0"/>
          </a:p>
        </p:txBody>
      </p:sp>
      <p:sp>
        <p:nvSpPr>
          <p:cNvPr id="47" name="Text 19"/>
          <p:cNvSpPr/>
          <p:nvPr/>
        </p:nvSpPr>
        <p:spPr>
          <a:xfrm>
            <a:off x="568539" y="6317888"/>
            <a:ext cx="6066460" cy="11370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895"/>
              </a:lnSpc>
              <a:buNone/>
            </a:pPr>
            <a:r>
              <a:rPr lang="en-US" sz="900" b="1" spc="96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STATISTICAL ANALYSIS SYSTEM</a:t>
            </a:r>
            <a:endParaRPr lang="en-US" sz="900" dirty="0"/>
          </a:p>
        </p:txBody>
      </p:sp>
      <p:sp>
        <p:nvSpPr>
          <p:cNvPr id="48" name="Text 20"/>
          <p:cNvSpPr/>
          <p:nvPr/>
        </p:nvSpPr>
        <p:spPr>
          <a:xfrm>
            <a:off x="8293450" y="6317888"/>
            <a:ext cx="3898550" cy="11370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895"/>
              </a:lnSpc>
              <a:buNone/>
            </a:pPr>
            <a:r>
              <a:rPr lang="en-US" sz="900" b="1" spc="96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SCIENTIFIC COMPUTATION • TEAM BLACK KNIGHT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7429" y="3531961"/>
            <a:ext cx="7257143" cy="18288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9543" y="3880304"/>
            <a:ext cx="464457" cy="46445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0257" y="3995397"/>
            <a:ext cx="283028" cy="234156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0000" y="3880304"/>
            <a:ext cx="2032000" cy="1132114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3772" y="3880304"/>
            <a:ext cx="464457" cy="464457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4400" y="3996418"/>
            <a:ext cx="203200" cy="232229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8000" y="3880304"/>
            <a:ext cx="464457" cy="464457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8715" y="3995397"/>
            <a:ext cx="283029" cy="234156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21829" y="5825218"/>
            <a:ext cx="348343" cy="29029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3504066" y="742496"/>
            <a:ext cx="51838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7200" b="1" spc="-378" kern="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13" name="Text 1"/>
          <p:cNvSpPr/>
          <p:nvPr/>
        </p:nvSpPr>
        <p:spPr>
          <a:xfrm>
            <a:off x="3504066" y="1773011"/>
            <a:ext cx="518386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500" spc="63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&amp; DISCUSSION</a:t>
            </a:r>
            <a:endParaRPr lang="en-US" sz="1500" dirty="0"/>
          </a:p>
        </p:txBody>
      </p:sp>
      <p:sp>
        <p:nvSpPr>
          <p:cNvPr id="14" name="Text 2"/>
          <p:cNvSpPr/>
          <p:nvPr/>
        </p:nvSpPr>
        <p:spPr>
          <a:xfrm>
            <a:off x="3309257" y="2324554"/>
            <a:ext cx="5573486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925"/>
              </a:lnSpc>
              <a:buNone/>
            </a:pPr>
            <a:r>
              <a:rPr lang="en-US" sz="1800" i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"Statistics is not about numbers — it is about understanding data."</a:t>
            </a:r>
            <a:endParaRPr lang="en-US" sz="1800" dirty="0"/>
          </a:p>
        </p:txBody>
      </p:sp>
      <p:sp>
        <p:nvSpPr>
          <p:cNvPr id="15" name="Text 3"/>
          <p:cNvSpPr/>
          <p:nvPr/>
        </p:nvSpPr>
        <p:spPr>
          <a:xfrm>
            <a:off x="3324112" y="4460875"/>
            <a:ext cx="1015320" cy="11611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914"/>
              </a:lnSpc>
              <a:buNone/>
            </a:pPr>
            <a:r>
              <a:rPr lang="en-US" sz="900" b="1" spc="95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DEVELOPED BY</a:t>
            </a:r>
            <a:endParaRPr lang="en-US" sz="900" dirty="0"/>
          </a:p>
        </p:txBody>
      </p:sp>
      <p:sp>
        <p:nvSpPr>
          <p:cNvPr id="16" name="Text 4"/>
          <p:cNvSpPr/>
          <p:nvPr/>
        </p:nvSpPr>
        <p:spPr>
          <a:xfrm>
            <a:off x="2971800" y="4606018"/>
            <a:ext cx="171994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Black Knight</a:t>
            </a:r>
            <a:endParaRPr lang="en-US" sz="1500" dirty="0"/>
          </a:p>
        </p:txBody>
      </p:sp>
      <p:sp>
        <p:nvSpPr>
          <p:cNvPr id="17" name="Text 5"/>
          <p:cNvSpPr/>
          <p:nvPr/>
        </p:nvSpPr>
        <p:spPr>
          <a:xfrm>
            <a:off x="5568043" y="4460875"/>
            <a:ext cx="1055801" cy="11611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914"/>
              </a:lnSpc>
              <a:buNone/>
            </a:pPr>
            <a:r>
              <a:rPr lang="en-US" sz="900" b="1" spc="95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SUPERVISED BY</a:t>
            </a:r>
            <a:endParaRPr lang="en-US" sz="900" dirty="0"/>
          </a:p>
        </p:txBody>
      </p:sp>
      <p:sp>
        <p:nvSpPr>
          <p:cNvPr id="18" name="Text 6"/>
          <p:cNvSpPr/>
          <p:nvPr/>
        </p:nvSpPr>
        <p:spPr>
          <a:xfrm>
            <a:off x="5315858" y="4606018"/>
            <a:ext cx="156028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Dr. Gamal Mousa</a:t>
            </a:r>
            <a:endParaRPr lang="en-US" sz="1500" dirty="0"/>
          </a:p>
        </p:txBody>
      </p:sp>
      <p:sp>
        <p:nvSpPr>
          <p:cNvPr id="19" name="Text 7"/>
          <p:cNvSpPr/>
          <p:nvPr/>
        </p:nvSpPr>
        <p:spPr>
          <a:xfrm>
            <a:off x="8086385" y="4460875"/>
            <a:ext cx="547574" cy="11611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914"/>
              </a:lnSpc>
              <a:buNone/>
            </a:pPr>
            <a:r>
              <a:rPr lang="en-US" sz="900" b="1" spc="95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</a:t>
            </a:r>
            <a:endParaRPr lang="en-US" sz="900" dirty="0"/>
          </a:p>
        </p:txBody>
      </p:sp>
      <p:sp>
        <p:nvSpPr>
          <p:cNvPr id="20" name="Text 8"/>
          <p:cNvSpPr/>
          <p:nvPr/>
        </p:nvSpPr>
        <p:spPr>
          <a:xfrm>
            <a:off x="7344228" y="4606018"/>
            <a:ext cx="203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Scientific Computation</a:t>
            </a:r>
            <a:endParaRPr lang="en-US" sz="1500" dirty="0"/>
          </a:p>
        </p:txBody>
      </p:sp>
      <p:sp>
        <p:nvSpPr>
          <p:cNvPr id="21" name="Text 9"/>
          <p:cNvSpPr/>
          <p:nvPr/>
        </p:nvSpPr>
        <p:spPr>
          <a:xfrm>
            <a:off x="4279900" y="5970361"/>
            <a:ext cx="7912100" cy="14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43"/>
              </a:lnSpc>
              <a:buNone/>
            </a:pPr>
            <a:r>
              <a:rPr lang="en-US" sz="1050" spc="11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STATISTICAL ANALYSIS SYSTEM •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2026-04-19T14:53:14Z</dcterms:created>
  <dcterms:modified xsi:type="dcterms:W3CDTF">2026-04-19T14:53:14Z</dcterms:modified>
</cp:coreProperties>
</file>